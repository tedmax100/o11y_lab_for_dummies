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9144000" cx="16256000"/>
  <p:notesSz cx="6858000" cy="9144000"/>
  <p:embeddedFontLst>
    <p:embeddedFont>
      <p:font typeface="Noto Sans ExtraBold"/>
      <p:bold r:id="rId13"/>
      <p:boldItalic r:id="rId14"/>
    </p:embeddedFont>
    <p:embeddedFont>
      <p:font typeface="Noto Sans Medium"/>
      <p:regular r:id="rId15"/>
      <p:bold r:id="rId16"/>
      <p:italic r:id="rId17"/>
      <p:boldItalic r:id="rId18"/>
    </p:embeddedFont>
    <p:embeddedFont>
      <p:font typeface="Noto Sans"/>
      <p:bold r:id="rId19"/>
      <p:boldItalic r:id="rId20"/>
    </p:embeddedFont>
    <p:embeddedFont>
      <p:font typeface="Fira Code Medium"/>
      <p:regular r:id="rId21"/>
      <p:bold r:id="rId22"/>
    </p:embeddedFont>
    <p:embeddedFont>
      <p:font typeface="Fira Code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jPfoKq5/IrGo3rId+Nt28yLc/n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font" Target="fonts/NotoSansExtraBold-bold.fntdata"/><Relationship Id="rId14" Type="http://schemas.openxmlformats.org/officeDocument/2006/relationships/font" Target="fonts/NotoSansExtraBold-boldItalic.fntdata"/><Relationship Id="rId15" Type="http://schemas.openxmlformats.org/officeDocument/2006/relationships/font" Target="fonts/NotoSansMedium-regular.fntdata"/><Relationship Id="rId16" Type="http://schemas.openxmlformats.org/officeDocument/2006/relationships/font" Target="fonts/NotoSansMedium-bold.fntdata"/><Relationship Id="rId17" Type="http://schemas.openxmlformats.org/officeDocument/2006/relationships/font" Target="fonts/NotoSansMedium-italic.fntdata"/><Relationship Id="rId18" Type="http://schemas.openxmlformats.org/officeDocument/2006/relationships/font" Target="fonts/NotoSansMedium-boldItalic.fntdata"/><Relationship Id="rId19" Type="http://schemas.openxmlformats.org/officeDocument/2006/relationships/font" Target="fonts/NotoSans-bold.fntdata"/><Relationship Id="rId20" Type="http://schemas.openxmlformats.org/officeDocument/2006/relationships/font" Target="fonts/NotoSans-boldItalic.fntdata"/><Relationship Id="rId21" Type="http://schemas.openxmlformats.org/officeDocument/2006/relationships/font" Target="fonts/FiraCodeMedium-regular.fntdata"/><Relationship Id="rId22" Type="http://schemas.openxmlformats.org/officeDocument/2006/relationships/font" Target="fonts/FiraCodeMedium-bold.fntdata"/><Relationship Id="rId23" Type="http://schemas.openxmlformats.org/officeDocument/2006/relationships/font" Target="fonts/FiraCode-regular.fntdata"/><Relationship Id="rId24" Type="http://schemas.openxmlformats.org/officeDocument/2006/relationships/font" Target="fonts/FiraCode-bold.fntdata"/><Relationship Id="rId25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hyperlink" Target="https://tedmax100.github.io/o11y_lab_for_dummies/k6-performance-testing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hyperlink" Target="https://tedmax100.github.io/o11y_lab_for_dummies/k6-performance-testing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hyperlink" Target="https://tedmax100.github.io/o11y_lab_for_dummies/k6-performance-testing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tedmax100.github.io/o11y_lab_for_dummies/k6-performance-testing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hyperlink" Target="https://tedmax100.github.io/o11y_lab_for_dummies/k6-performance-testing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grafana/xk6-subcommand-agent" TargetMode="External"/><Relationship Id="rId4" Type="http://schemas.openxmlformats.org/officeDocument/2006/relationships/hyperlink" Target="https://grafana.com/docs/k6/latest/set-up/configure-ai-assistant/bootstrap-with-k6-x-agent/" TargetMode="External"/><Relationship Id="rId5" Type="http://schemas.openxmlformats.org/officeDocument/2006/relationships/image" Target="../media/image3.png"/><Relationship Id="rId6" Type="http://schemas.openxmlformats.org/officeDocument/2006/relationships/hyperlink" Target="https://tedmax100.github.io/o11y_lab_for_dummies/k6-performance-testing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hyperlink" Target="https://tedmax100.github.io/o11y_lab_for_dummies/k6-performance-testin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6256100" cy="91440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666750" y="381000"/>
            <a:ext cx="149256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Module 6: k6 x agent ── AI 驅動的效能測試新紀元</a:t>
            </a:r>
            <a:endParaRPr b="1" sz="2600">
              <a:solidFill>
                <a:srgbClr val="0F172A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666750" y="876300"/>
            <a:ext cx="149256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Grafana k6 原生 AI 子命令擴充套件 (xk6-subcommand-agent) · 一鍵配置 AI 編輯器與 Agent 壓測工作流</a:t>
            </a:r>
            <a:endParaRPr b="0" sz="1300">
              <a:solidFill>
                <a:srgbClr val="64748B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666750" y="1257300"/>
            <a:ext cx="14925600" cy="1047900"/>
          </a:xfrm>
          <a:prstGeom prst="roundRect">
            <a:avLst>
              <a:gd fmla="val 12727" name="adj"/>
            </a:avLst>
          </a:prstGeom>
          <a:solidFill>
            <a:srgbClr val="EEF2FF"/>
          </a:solidFill>
          <a:ln cap="flat" cmpd="sng" w="14300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904875" y="1371600"/>
            <a:ext cx="14449500" cy="59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4338CA"/>
                </a:solidFill>
                <a:latin typeface="Noto Sans"/>
                <a:ea typeface="Noto Sans"/>
                <a:cs typeface="Noto Sans"/>
                <a:sym typeface="Noto Sans"/>
              </a:rPr>
              <a:t>【核心變革】 </a:t>
            </a:r>
            <a:r>
              <a:rPr b="1" lang="en-US" sz="1250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從「手寫測試代碼 (Test as Code)」躍升至「AI Agent 自主效能工程」</a:t>
            </a:r>
            <a:endParaRPr b="1" sz="1150">
              <a:solidFill>
                <a:srgbClr val="4338CA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過去配置 AI 壓測需繁瑣手動設定 MCP JSON、編寫 Prompt 規則，且 AI 常缺乏專業上下文而產生過期語法。</a:t>
            </a:r>
            <a:endParaRPr b="0" sz="1050">
              <a:solidFill>
                <a:srgbClr val="475569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93B"/>
                </a:solidFill>
                <a:latin typeface="Noto Sans"/>
                <a:ea typeface="Noto Sans"/>
                <a:cs typeface="Noto Sans"/>
                <a:sym typeface="Noto Sans"/>
              </a:rPr>
              <a:t>k6 x agent 專為工程自動化而生：單一命令自動完成「安裝 5 大 AI 技能包」與「註冊 k6 MCP 伺服器」，秒級打通 AI 助手！</a:t>
            </a:r>
            <a:endParaRPr b="1" sz="1050">
              <a:solidFill>
                <a:srgbClr val="1E293B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666750" y="2438400"/>
            <a:ext cx="4781700" cy="4857900"/>
          </a:xfrm>
          <a:prstGeom prst="roundRect">
            <a:avLst>
              <a:gd fmla="val 3187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876300" y="2628900"/>
            <a:ext cx="4362600" cy="199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4F46E5"/>
                </a:solidFill>
                <a:highlight>
                  <a:srgbClr val="EEF2FF"/>
                </a:highlight>
                <a:latin typeface="Verdana"/>
                <a:ea typeface="Verdana"/>
                <a:cs typeface="Verdana"/>
                <a:sym typeface="Verdana"/>
              </a:rPr>
              <a:t>ENGINE 1</a:t>
            </a:r>
            <a:r>
              <a:rPr b="1" lang="en-US" sz="1000">
                <a:solidFill>
                  <a:srgbClr val="4F46E5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1" lang="en-US" sz="1350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5 大 Bundled Skills</a:t>
            </a:r>
            <a:endParaRPr b="1" sz="1000">
              <a:solidFill>
                <a:srgbClr val="4F46E5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4F46E5"/>
                </a:solidFill>
                <a:latin typeface="Noto Sans"/>
                <a:ea typeface="Noto Sans"/>
                <a:cs typeface="Noto Sans"/>
                <a:sym typeface="Noto Sans"/>
              </a:rPr>
              <a:t>• </a:t>
            </a:r>
            <a:r>
              <a:rPr b="1" lang="en-US" sz="1050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標準目錄注入：</a:t>
            </a:r>
            <a:r>
              <a:rPr b="0" lang="en-US" sz="95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自動將標準 SKILL.md 或 Cursor .mdc 規則寫入專屬目錄，即裝即用。</a:t>
            </a:r>
            <a:endParaRPr b="1" sz="1000">
              <a:solidFill>
                <a:srgbClr val="4F46E5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4F46E5"/>
                </a:solidFill>
                <a:latin typeface="Noto Sans"/>
                <a:ea typeface="Noto Sans"/>
                <a:cs typeface="Noto Sans"/>
                <a:sym typeface="Noto Sans"/>
              </a:rPr>
              <a:t>• </a:t>
            </a:r>
            <a:r>
              <a:rPr b="1" lang="en-US" sz="1050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自然語言意圖：</a:t>
            </a:r>
            <a:r>
              <a:rPr b="0" lang="en-US" sz="95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在 AI 視窗輸入 "write smoke test" 即刻自動調用專家級提示詞規範。</a:t>
            </a:r>
            <a:endParaRPr b="1" sz="1000">
              <a:solidFill>
                <a:srgbClr val="4F46E5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4F46E5"/>
                </a:solidFill>
                <a:latin typeface="Noto Sans"/>
                <a:ea typeface="Noto Sans"/>
                <a:cs typeface="Noto Sans"/>
                <a:sym typeface="Noto Sans"/>
              </a:rPr>
              <a:t>• </a:t>
            </a:r>
            <a:r>
              <a:rPr b="1" lang="en-US" sz="1050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官方最佳實踐：</a:t>
            </a:r>
            <a:r>
              <a:rPr b="0" lang="en-US" sz="95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預設注入動態 URL 標籤化防護，徹底杜絕記憶體洩漏與高基數 OOM 爆炸。</a:t>
            </a:r>
            <a:endParaRPr b="1" sz="1000">
              <a:solidFill>
                <a:srgbClr val="4F46E5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4F46E5"/>
                </a:solidFill>
                <a:latin typeface="Noto Sans"/>
                <a:ea typeface="Noto Sans"/>
                <a:cs typeface="Noto Sans"/>
                <a:sym typeface="Noto Sans"/>
              </a:rPr>
              <a:t>• </a:t>
            </a:r>
            <a:r>
              <a:rPr b="1" lang="en-US" sz="1050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全鏈路場景覆蓋：</a:t>
            </a:r>
            <a:r>
              <a:rPr b="0" lang="en-US" sz="95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涵蓋架構規劃、負載爬坡、冒煙檢驗、前端瀏覽器渲染到 Playwright 轉譯。</a:t>
            </a:r>
            <a:endParaRPr b="1" sz="1000">
              <a:solidFill>
                <a:srgbClr val="4F46E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5734050" y="2438400"/>
            <a:ext cx="4781700" cy="4857900"/>
          </a:xfrm>
          <a:prstGeom prst="roundRect">
            <a:avLst>
              <a:gd fmla="val 3187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5943600" y="2628900"/>
            <a:ext cx="4362600" cy="199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059669"/>
                </a:solidFill>
                <a:latin typeface="Verdana"/>
                <a:ea typeface="Verdana"/>
                <a:cs typeface="Verdana"/>
                <a:sym typeface="Verdana"/>
              </a:rPr>
              <a:t>ENGINE 2</a:t>
            </a:r>
            <a:r>
              <a:rPr b="1" lang="en-US" sz="1000">
                <a:solidFill>
                  <a:srgbClr val="059669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1" lang="en-US" sz="1350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原生 k6 MCP 伺服器</a:t>
            </a:r>
            <a:endParaRPr b="1" sz="1000">
              <a:solidFill>
                <a:srgbClr val="059669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59669"/>
                </a:solidFill>
                <a:latin typeface="Noto Sans"/>
                <a:ea typeface="Noto Sans"/>
                <a:cs typeface="Noto Sans"/>
                <a:sym typeface="Noto Sans"/>
              </a:rPr>
              <a:t>• </a:t>
            </a:r>
            <a:r>
              <a:rPr b="1" lang="en-US" sz="1050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零配置自動註冊：</a:t>
            </a:r>
            <a:r>
              <a:rPr b="0" lang="en-US" sz="95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自動將 k6 x mcp 寫入 .mcp.json 或 .cursor/mcp.json，免手動翻找設定。</a:t>
            </a:r>
            <a:endParaRPr b="1" sz="1000">
              <a:solidFill>
                <a:srgbClr val="059669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59669"/>
                </a:solidFill>
                <a:latin typeface="Noto Sans"/>
                <a:ea typeface="Noto Sans"/>
                <a:cs typeface="Noto Sans"/>
                <a:sym typeface="Noto Sans"/>
              </a:rPr>
              <a:t>• </a:t>
            </a:r>
            <a:r>
              <a:rPr b="1" lang="en-US" sz="1050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AST 靜態語法預檢：</a:t>
            </a:r>
            <a:r>
              <a:rPr b="0" lang="en-US" sz="95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提供 validate_script 工具，執行前預檢抓出語法瑕疵與未宣告變數。</a:t>
            </a:r>
            <a:endParaRPr b="1" sz="1000">
              <a:solidFill>
                <a:srgbClr val="059669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59669"/>
                </a:solidFill>
                <a:latin typeface="Noto Sans"/>
                <a:ea typeface="Noto Sans"/>
                <a:cs typeface="Noto Sans"/>
                <a:sym typeface="Noto Sans"/>
              </a:rPr>
              <a:t>• </a:t>
            </a:r>
            <a:r>
              <a:rPr b="1" lang="en-US" sz="1050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本地閉環自癒：</a:t>
            </a:r>
            <a:r>
              <a:rPr b="0" lang="en-US" sz="95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提供 run_script 工具，直接由本機跑通 1 VU 冒煙驗證與報錯自主修復。</a:t>
            </a:r>
            <a:endParaRPr b="1" sz="1000">
              <a:solidFill>
                <a:srgbClr val="059669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59669"/>
                </a:solidFill>
                <a:latin typeface="Noto Sans"/>
                <a:ea typeface="Noto Sans"/>
                <a:cs typeface="Noto Sans"/>
                <a:sym typeface="Noto Sans"/>
              </a:rPr>
              <a:t>• </a:t>
            </a:r>
            <a:r>
              <a:rPr b="1" lang="en-US" sz="1050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無外部環境依賴：</a:t>
            </a:r>
            <a:r>
              <a:rPr b="0" lang="en-US" sz="95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由 Go 原生二進位直接驅動，免預裝 Node.js、npm 或 Python 執行環境。</a:t>
            </a:r>
            <a:endParaRPr b="1" sz="1000">
              <a:solidFill>
                <a:srgbClr val="05966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0801350" y="2438400"/>
            <a:ext cx="4781700" cy="4857900"/>
          </a:xfrm>
          <a:prstGeom prst="roundRect">
            <a:avLst>
              <a:gd fmla="val 3187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11010900" y="2628900"/>
            <a:ext cx="4362600" cy="199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B45309"/>
                </a:solidFill>
                <a:highlight>
                  <a:srgbClr val="FEF3C7"/>
                </a:highlight>
                <a:latin typeface="Verdana"/>
                <a:ea typeface="Verdana"/>
                <a:cs typeface="Verdana"/>
                <a:sym typeface="Verdana"/>
              </a:rPr>
              <a:t>GOVERNANCE</a:t>
            </a:r>
            <a:r>
              <a:rPr b="1" lang="en-US" sz="1000">
                <a:solidFill>
                  <a:srgbClr val="B45309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1" lang="en-US" sz="1350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企業級安全與多環境適配</a:t>
            </a:r>
            <a:endParaRPr b="1" sz="1000">
              <a:solidFill>
                <a:srgbClr val="B45309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B45309"/>
                </a:solidFill>
                <a:latin typeface="Noto Sans"/>
                <a:ea typeface="Noto Sans"/>
                <a:cs typeface="Noto Sans"/>
                <a:sym typeface="Noto Sans"/>
              </a:rPr>
              <a:t>• </a:t>
            </a:r>
            <a:r>
              <a:rPr b="1" lang="en-US" sz="1050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擁有者標籤保護：</a:t>
            </a:r>
            <a:r>
              <a:rPr b="0" lang="en-US" sz="95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透過 Owner Tag 精確識別，重複執行 init 絕不覆蓋工程師自訂代碼。</a:t>
            </a:r>
            <a:endParaRPr b="1" sz="1000">
              <a:solidFill>
                <a:srgbClr val="B45309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B45309"/>
                </a:solidFill>
                <a:latin typeface="Noto Sans"/>
                <a:ea typeface="Noto Sans"/>
                <a:cs typeface="Noto Sans"/>
                <a:sym typeface="Noto Sans"/>
              </a:rPr>
              <a:t>• </a:t>
            </a:r>
            <a:r>
              <a:rPr b="1" lang="en-US" sz="1050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寫入前安全預覽：</a:t>
            </a:r>
            <a:r>
              <a:rPr b="0" lang="en-US" sz="95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支援 --dry-run 旗標，零副作用預覽所有將建立與更新的檔案路徑。</a:t>
            </a:r>
            <a:endParaRPr b="1" sz="1000">
              <a:solidFill>
                <a:srgbClr val="B45309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B45309"/>
                </a:solidFill>
                <a:latin typeface="Noto Sans"/>
                <a:ea typeface="Noto Sans"/>
                <a:cs typeface="Noto Sans"/>
                <a:sym typeface="Noto Sans"/>
              </a:rPr>
              <a:t>• </a:t>
            </a:r>
            <a:r>
              <a:rPr b="1" lang="en-US" sz="1050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6 大主流環境：</a:t>
            </a:r>
            <a:r>
              <a:rPr b="0" lang="en-US" sz="95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全面適配 Cursor、Claude Code、GitHub Copilot、Codex CLI、OpenCode 等。</a:t>
            </a:r>
            <a:endParaRPr b="1" sz="1000">
              <a:solidFill>
                <a:srgbClr val="B45309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B45309"/>
                </a:solidFill>
                <a:latin typeface="Noto Sans"/>
                <a:ea typeface="Noto Sans"/>
                <a:cs typeface="Noto Sans"/>
                <a:sym typeface="Noto Sans"/>
              </a:rPr>
              <a:t>• </a:t>
            </a:r>
            <a:r>
              <a:rPr b="1" lang="en-US" sz="1050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Git 友善協同：</a:t>
            </a:r>
            <a:r>
              <a:rPr b="0" lang="en-US" sz="95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所有產出收斂於專案本地工作區目錄內，變更乾淨透明，極便於 PR 審查。</a:t>
            </a:r>
            <a:endParaRPr b="1" sz="1000">
              <a:solidFill>
                <a:srgbClr val="B4530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666750" y="7477125"/>
            <a:ext cx="10801500" cy="952500"/>
          </a:xfrm>
          <a:prstGeom prst="roundRect">
            <a:avLst>
              <a:gd fmla="val 14000" name="adj"/>
            </a:avLst>
          </a:prstGeom>
          <a:solidFill>
            <a:srgbClr val="0F172A"/>
          </a:solidFill>
          <a:ln cap="flat" cmpd="sng" w="143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904875" y="7591425"/>
            <a:ext cx="10325100" cy="388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8BDF8"/>
                </a:solidFill>
                <a:latin typeface="Noto Sans"/>
                <a:ea typeface="Noto Sans"/>
                <a:cs typeface="Noto Sans"/>
                <a:sym typeface="Noto Sans"/>
              </a:rPr>
              <a:t>【一鍵起飛】 </a:t>
            </a:r>
            <a:r>
              <a:rPr b="1" lang="en-US" sz="1150">
                <a:solidFill>
                  <a:srgbClr val="F1F5F9"/>
                </a:solidFill>
                <a:latin typeface="Verdana"/>
                <a:ea typeface="Verdana"/>
                <a:cs typeface="Verdana"/>
                <a:sym typeface="Verdana"/>
              </a:rPr>
              <a:t>終端一行指令即刻完成全套配置：</a:t>
            </a:r>
            <a:r>
              <a:rPr b="1" lang="en-US" sz="1150">
                <a:solidFill>
                  <a:srgbClr val="38BDF8"/>
                </a:solidFill>
                <a:latin typeface="Verdana"/>
                <a:ea typeface="Verdana"/>
                <a:cs typeface="Verdana"/>
                <a:sym typeface="Verdana"/>
              </a:rPr>
              <a:t>$ k6 x agent init --all</a:t>
            </a:r>
            <a:endParaRPr b="1" sz="1050">
              <a:solidFill>
                <a:srgbClr val="38BDF8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94A3B8"/>
                </a:solidFill>
                <a:latin typeface="Noto Sans"/>
                <a:ea typeface="Noto Sans"/>
                <a:cs typeface="Noto Sans"/>
                <a:sym typeface="Noto Sans"/>
              </a:rPr>
              <a:t>接下來我們將依序深入架構雙引擎、安全冪等性、CLI 指令速查、5 大專業技能與企業導入實務！</a:t>
            </a:r>
            <a:endParaRPr b="0" sz="1000">
              <a:solidFill>
                <a:srgbClr val="94A3B8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3">
            <a:alphaModFix/>
          </a:blip>
          <a:srcRect b="1105" l="0" r="0" t="1095"/>
          <a:stretch/>
        </p:blipFill>
        <p:spPr>
          <a:xfrm>
            <a:off x="11696700" y="7477125"/>
            <a:ext cx="38958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">
            <a:hlinkClick r:id="rId4"/>
          </p:cNvPr>
          <p:cNvSpPr/>
          <p:nvPr/>
        </p:nvSpPr>
        <p:spPr>
          <a:xfrm>
            <a:off x="666750" y="8591550"/>
            <a:ext cx="6039000" cy="247800"/>
          </a:xfrm>
          <a:prstGeom prst="roundRect">
            <a:avLst>
              <a:gd fmla="val 23076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114300" spcFirstLastPara="1" rIns="1143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▶ 課程實戰 Codelabs：</a:t>
            </a:r>
            <a:r>
              <a:rPr b="0" lang="en-US" sz="900">
                <a:solidFill>
                  <a:srgbClr val="2563EB"/>
                </a:solidFill>
                <a:latin typeface="Noto Sans"/>
                <a:ea typeface="Noto Sans"/>
                <a:cs typeface="Noto Sans"/>
                <a:sym typeface="Noto Sans"/>
              </a:rPr>
              <a:t>tedmax100.github.io/o11y_lab_for_dummies/k6-performance-testing/</a:t>
            </a:r>
            <a:endParaRPr b="1" sz="900">
              <a:solidFill>
                <a:srgbClr val="0F172A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" name="Codelabs_Link_Badge">
            <a:hlinkClick r:id="rId4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/>
            <a:r>
              <a:rPr sz="850" b="1">
                <a:solidFill>
                  <a:srgbClr val="334155"/>
                </a:solidFill>
                <a:latin typeface="Noto Sans CJK TC"/>
              </a:rPr>
              <a:t>▶ 課程實戰 Codelabs：</a:t>
            </a:r>
            <a:r>
              <a:rPr sz="850" b="0">
                <a:solidFill>
                  <a:srgbClr val="4F46E5"/>
                </a:solidFill>
                <a:latin typeface="Noto Sans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/>
          <p:nvPr/>
        </p:nvSpPr>
        <p:spPr>
          <a:xfrm>
            <a:off x="0" y="0"/>
            <a:ext cx="16256100" cy="91440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661581" y="381000"/>
            <a:ext cx="1493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自動化雙引擎解密：技能包注入與原生 MCP 註冊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661581" y="904875"/>
            <a:ext cx="14932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告別手動繁瑣 JSON 配置與提示詞編寫，單一原生命令打通 AI Agent 與本地壓測工具鏈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666750" y="1381125"/>
            <a:ext cx="7286700" cy="6096000"/>
          </a:xfrm>
          <a:prstGeom prst="roundRect">
            <a:avLst>
              <a:gd fmla="val 3125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904875" y="1571625"/>
            <a:ext cx="6810300" cy="41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F46E5"/>
                </a:solidFill>
                <a:latin typeface="Noto Sans"/>
                <a:ea typeface="Noto Sans"/>
                <a:cs typeface="Noto Sans"/>
                <a:sym typeface="Noto Sans"/>
              </a:rPr>
              <a:t>【自動化引擎 1】 </a:t>
            </a:r>
            <a:r>
              <a:rPr b="1" lang="en-US" sz="1400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自動安裝內建 AI 技能 (Bundled Skills)</a:t>
            </a:r>
            <a:endParaRPr b="1" sz="1100">
              <a:solidFill>
                <a:srgbClr val="4F46E5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將 Grafana 官方壓測心智模型與最佳實踐注入 AI 編輯器</a:t>
            </a:r>
            <a:endParaRPr b="0" sz="1050">
              <a:solidFill>
                <a:srgbClr val="64748B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08" name="Google Shape;108;p2"/>
          <p:cNvGrpSpPr/>
          <p:nvPr/>
        </p:nvGrpSpPr>
        <p:grpSpPr>
          <a:xfrm>
            <a:off x="904875" y="2428875"/>
            <a:ext cx="6810300" cy="1028700"/>
            <a:chOff x="0" y="0"/>
            <a:chExt cx="6810300" cy="1028700"/>
          </a:xfrm>
        </p:grpSpPr>
        <p:sp>
          <p:nvSpPr>
            <p:cNvPr id="109" name="Google Shape;109;p2"/>
            <p:cNvSpPr/>
            <p:nvPr/>
          </p:nvSpPr>
          <p:spPr>
            <a:xfrm>
              <a:off x="0" y="0"/>
              <a:ext cx="6810300" cy="1028700"/>
            </a:xfrm>
            <a:prstGeom prst="roundRect">
              <a:avLst>
                <a:gd fmla="val 11111" name="adj"/>
              </a:avLst>
            </a:prstGeom>
            <a:solidFill>
              <a:srgbClr val="F8FAFC"/>
            </a:solidFill>
            <a:ln cap="flat" cmpd="sng" w="9525">
              <a:solidFill>
                <a:srgbClr val="E0E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0" y="0"/>
              <a:ext cx="57300" cy="1028700"/>
            </a:xfrm>
            <a:prstGeom prst="roundRect">
              <a:avLst>
                <a:gd fmla="val 50000" name="adj"/>
              </a:avLst>
            </a:prstGeom>
            <a:solidFill>
              <a:srgbClr val="4F46E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2"/>
            <p:cNvSpPr txBox="1"/>
            <p:nvPr/>
          </p:nvSpPr>
          <p:spPr>
            <a:xfrm>
              <a:off x="190500" y="114300"/>
              <a:ext cx="64770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E293B"/>
                  </a:solidFill>
                  <a:latin typeface="Noto Sans"/>
                  <a:ea typeface="Noto Sans"/>
                  <a:cs typeface="Noto Sans"/>
                  <a:sym typeface="Noto Sans"/>
                </a:rPr>
                <a:t>標準規格目錄寫入</a:t>
              </a:r>
              <a:endParaRPr b="1" sz="1100">
                <a:solidFill>
                  <a:srgbClr val="1E293B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自動將標準 SKILL.md 或 Cursor 的 .mdc Rules 寫入專屬目錄（如 .cursor/rules/），讓 AI 編輯器開箱即具備 k6 專業規範與模板。</a:t>
              </a:r>
              <a:endParaRPr b="0" sz="95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112" name="Google Shape;112;p2"/>
          <p:cNvGrpSpPr/>
          <p:nvPr/>
        </p:nvGrpSpPr>
        <p:grpSpPr>
          <a:xfrm>
            <a:off x="904875" y="3571875"/>
            <a:ext cx="6810300" cy="1028700"/>
            <a:chOff x="0" y="0"/>
            <a:chExt cx="6810300" cy="1028700"/>
          </a:xfrm>
        </p:grpSpPr>
        <p:sp>
          <p:nvSpPr>
            <p:cNvPr id="113" name="Google Shape;113;p2"/>
            <p:cNvSpPr/>
            <p:nvPr/>
          </p:nvSpPr>
          <p:spPr>
            <a:xfrm>
              <a:off x="0" y="0"/>
              <a:ext cx="6810300" cy="1028700"/>
            </a:xfrm>
            <a:prstGeom prst="roundRect">
              <a:avLst>
                <a:gd fmla="val 11111" name="adj"/>
              </a:avLst>
            </a:prstGeom>
            <a:solidFill>
              <a:srgbClr val="F8FAFC"/>
            </a:solidFill>
            <a:ln cap="flat" cmpd="sng" w="9525">
              <a:solidFill>
                <a:srgbClr val="E0E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0" y="0"/>
              <a:ext cx="57300" cy="1028700"/>
            </a:xfrm>
            <a:prstGeom prst="roundRect">
              <a:avLst>
                <a:gd fmla="val 50000" name="adj"/>
              </a:avLst>
            </a:prstGeom>
            <a:solidFill>
              <a:srgbClr val="4F46E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"/>
            <p:cNvSpPr txBox="1"/>
            <p:nvPr/>
          </p:nvSpPr>
          <p:spPr>
            <a:xfrm>
              <a:off x="190500" y="114300"/>
              <a:ext cx="64770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E293B"/>
                  </a:solidFill>
                  <a:latin typeface="Noto Sans"/>
                  <a:ea typeface="Noto Sans"/>
                  <a:cs typeface="Noto Sans"/>
                  <a:sym typeface="Noto Sans"/>
                </a:rPr>
                <a:t>自然語言意圖觸發</a:t>
              </a:r>
              <a:endParaRPr b="1" sz="1100">
                <a:solidFill>
                  <a:srgbClr val="1E293B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在 AI 視窗輸入 "write a smoke test" 或 "convert Playwright"，AI 助手即自動觸發對應技能，精準產出高質量代碼。</a:t>
              </a:r>
              <a:endParaRPr b="0" sz="95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sp>
        <p:nvSpPr>
          <p:cNvPr id="116" name="Google Shape;116;p2"/>
          <p:cNvSpPr/>
          <p:nvPr/>
        </p:nvSpPr>
        <p:spPr>
          <a:xfrm>
            <a:off x="661581" y="7643812"/>
            <a:ext cx="10797900" cy="9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7" name="Google Shape;117;p2"/>
          <p:cNvGrpSpPr/>
          <p:nvPr/>
        </p:nvGrpSpPr>
        <p:grpSpPr>
          <a:xfrm>
            <a:off x="904875" y="4714875"/>
            <a:ext cx="6810300" cy="1028700"/>
            <a:chOff x="0" y="0"/>
            <a:chExt cx="6810300" cy="1028700"/>
          </a:xfrm>
        </p:grpSpPr>
        <p:sp>
          <p:nvSpPr>
            <p:cNvPr id="118" name="Google Shape;118;p2"/>
            <p:cNvSpPr/>
            <p:nvPr/>
          </p:nvSpPr>
          <p:spPr>
            <a:xfrm>
              <a:off x="0" y="0"/>
              <a:ext cx="6810300" cy="1028700"/>
            </a:xfrm>
            <a:prstGeom prst="roundRect">
              <a:avLst>
                <a:gd fmla="val 11111" name="adj"/>
              </a:avLst>
            </a:prstGeom>
            <a:solidFill>
              <a:srgbClr val="F8FAFC"/>
            </a:solidFill>
            <a:ln cap="flat" cmpd="sng" w="9525">
              <a:solidFill>
                <a:srgbClr val="E0E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0" y="0"/>
              <a:ext cx="57300" cy="1028700"/>
            </a:xfrm>
            <a:prstGeom prst="roundRect">
              <a:avLst>
                <a:gd fmla="val 50000" name="adj"/>
              </a:avLst>
            </a:prstGeom>
            <a:solidFill>
              <a:srgbClr val="4F46E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190500" y="114300"/>
              <a:ext cx="64770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E293B"/>
                  </a:solidFill>
                  <a:latin typeface="Noto Sans"/>
                  <a:ea typeface="Noto Sans"/>
                  <a:cs typeface="Noto Sans"/>
                  <a:sym typeface="Noto Sans"/>
                </a:rPr>
                <a:t>最佳實踐標準注入</a:t>
              </a:r>
              <a:endParaRPr b="1" sz="1100">
                <a:solidFill>
                  <a:srgbClr val="1E293B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內建 Grafana 團隊嚴選的最佳實踐，防範動態字串拼接引發 High Cardinality 記憶體爆炸，並自動加入軍規資源釋放。</a:t>
              </a:r>
              <a:endParaRPr b="0" sz="95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sp>
        <p:nvSpPr>
          <p:cNvPr id="121" name="Google Shape;121;p2"/>
          <p:cNvSpPr txBox="1"/>
          <p:nvPr/>
        </p:nvSpPr>
        <p:spPr>
          <a:xfrm>
            <a:off x="874232" y="7762874"/>
            <a:ext cx="1037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F46E5"/>
                </a:solidFill>
                <a:latin typeface="Noto Sans"/>
                <a:ea typeface="Noto Sans"/>
                <a:cs typeface="Noto Sans"/>
                <a:sym typeface="Noto Sans"/>
              </a:rPr>
              <a:t>【雙引擎協同】 </a:t>
            </a:r>
            <a:r>
              <a:rPr b="1" i="0" lang="en-US" sz="1000" u="none" cap="none" strike="noStrike">
                <a:solidFill>
                  <a:srgbClr val="1E293B"/>
                </a:solidFill>
                <a:latin typeface="Noto Sans"/>
                <a:ea typeface="Noto Sans"/>
                <a:cs typeface="Noto Sans"/>
                <a:sym typeface="Noto Sans"/>
              </a:rPr>
              <a:t>技能包 (Skills) 負責「高品質代碼生成」，MCP 伺服器負責「執行與驗證自癒」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兩大引擎相互配合，讓 AI 助手具備從『產生腳本』到『本地驗證修復』的完整工程自癒閉環！</a:t>
            </a:r>
            <a:endParaRPr/>
          </a:p>
        </p:txBody>
      </p:sp>
      <p:grpSp>
        <p:nvGrpSpPr>
          <p:cNvPr id="122" name="Google Shape;122;p2"/>
          <p:cNvGrpSpPr/>
          <p:nvPr/>
        </p:nvGrpSpPr>
        <p:grpSpPr>
          <a:xfrm>
            <a:off x="904875" y="5857875"/>
            <a:ext cx="6810300" cy="1028700"/>
            <a:chOff x="0" y="0"/>
            <a:chExt cx="6810300" cy="1028700"/>
          </a:xfrm>
        </p:grpSpPr>
        <p:sp>
          <p:nvSpPr>
            <p:cNvPr id="123" name="Google Shape;123;p2"/>
            <p:cNvSpPr/>
            <p:nvPr/>
          </p:nvSpPr>
          <p:spPr>
            <a:xfrm>
              <a:off x="0" y="0"/>
              <a:ext cx="6810300" cy="1028700"/>
            </a:xfrm>
            <a:prstGeom prst="roundRect">
              <a:avLst>
                <a:gd fmla="val 11111" name="adj"/>
              </a:avLst>
            </a:prstGeom>
            <a:solidFill>
              <a:srgbClr val="F8FAFC"/>
            </a:solidFill>
            <a:ln cap="flat" cmpd="sng" w="9525">
              <a:solidFill>
                <a:srgbClr val="E0E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0" y="0"/>
              <a:ext cx="57300" cy="1028700"/>
            </a:xfrm>
            <a:prstGeom prst="roundRect">
              <a:avLst>
                <a:gd fmla="val 50000" name="adj"/>
              </a:avLst>
            </a:prstGeom>
            <a:solidFill>
              <a:srgbClr val="4F46E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"/>
            <p:cNvSpPr txBox="1"/>
            <p:nvPr/>
          </p:nvSpPr>
          <p:spPr>
            <a:xfrm>
              <a:off x="190500" y="114300"/>
              <a:ext cx="64770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E293B"/>
                  </a:solidFill>
                  <a:latin typeface="Noto Sans"/>
                  <a:ea typeface="Noto Sans"/>
                  <a:cs typeface="Noto Sans"/>
                  <a:sym typeface="Noto Sans"/>
                </a:rPr>
                <a:t>跨開發者團隊一致性</a:t>
              </a:r>
              <a:endParaRPr b="1" sz="1100">
                <a:solidFill>
                  <a:srgbClr val="1E293B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團隊成員只需執行一次 init 命令，即可在不同機台間維持完全統一的 AI 壓測提示詞與自動化腳本生成水準，杜絕風格斷層。</a:t>
              </a:r>
              <a:endParaRPr b="0" sz="95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pic>
        <p:nvPicPr>
          <p:cNvPr descr="k6_grafana_full_branding.png" id="126" name="Google Shape;12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95813" y="7643812"/>
            <a:ext cx="3898604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"/>
          <p:cNvSpPr/>
          <p:nvPr/>
        </p:nvSpPr>
        <p:spPr>
          <a:xfrm>
            <a:off x="8305800" y="1381125"/>
            <a:ext cx="7286700" cy="6096000"/>
          </a:xfrm>
          <a:prstGeom prst="roundRect">
            <a:avLst>
              <a:gd fmla="val 3125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">
            <a:hlinkClick r:id="rId4"/>
          </p:cNvPr>
          <p:cNvSpPr/>
          <p:nvPr/>
        </p:nvSpPr>
        <p:spPr>
          <a:xfrm>
            <a:off x="502920" y="8869680"/>
            <a:ext cx="6035100" cy="219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109725" spcFirstLastPara="1" rIns="1097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Noto Sans"/>
                <a:ea typeface="Noto Sans"/>
                <a:cs typeface="Noto Sans"/>
                <a:sym typeface="Noto Sans"/>
              </a:rPr>
              <a:t>▶ 課程實戰 Codelabs：</a:t>
            </a:r>
            <a:r>
              <a:rPr b="0" i="0" lang="en-US" sz="850" u="none" cap="none" strike="noStrike">
                <a:solidFill>
                  <a:srgbClr val="2563EB"/>
                </a:solidFill>
                <a:latin typeface="Noto Sans"/>
                <a:ea typeface="Noto Sans"/>
                <a:cs typeface="Noto Sans"/>
                <a:sym typeface="Noto Sans"/>
              </a:rPr>
              <a:t>tedmax100.github.io/o11y_lab_for_dummies/k6-performance-testing/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8543925" y="1571625"/>
            <a:ext cx="6810300" cy="41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59669"/>
                </a:solidFill>
                <a:latin typeface="Noto Sans"/>
                <a:ea typeface="Noto Sans"/>
                <a:cs typeface="Noto Sans"/>
                <a:sym typeface="Noto Sans"/>
              </a:rPr>
              <a:t>【自動化引擎 2】 </a:t>
            </a:r>
            <a:r>
              <a:rPr b="1" lang="en-US" sz="1400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自動註冊 k6 MCP 伺服器 (Auto-Register MCP)</a:t>
            </a:r>
            <a:endParaRPr b="1" sz="1100">
              <a:solidFill>
                <a:srgbClr val="059669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賦予 AI 助手即時語法靜態預檢與本機壓測自癒執行力</a:t>
            </a:r>
            <a:endParaRPr b="0" sz="1050">
              <a:solidFill>
                <a:srgbClr val="64748B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30" name="Google Shape;130;p2"/>
          <p:cNvGrpSpPr/>
          <p:nvPr/>
        </p:nvGrpSpPr>
        <p:grpSpPr>
          <a:xfrm>
            <a:off x="8543925" y="2428875"/>
            <a:ext cx="6810300" cy="1028700"/>
            <a:chOff x="0" y="0"/>
            <a:chExt cx="6810300" cy="1028700"/>
          </a:xfrm>
        </p:grpSpPr>
        <p:sp>
          <p:nvSpPr>
            <p:cNvPr id="131" name="Google Shape;131;p2"/>
            <p:cNvSpPr/>
            <p:nvPr/>
          </p:nvSpPr>
          <p:spPr>
            <a:xfrm>
              <a:off x="0" y="0"/>
              <a:ext cx="6810300" cy="1028700"/>
            </a:xfrm>
            <a:prstGeom prst="roundRect">
              <a:avLst>
                <a:gd fmla="val 11111" name="adj"/>
              </a:avLst>
            </a:prstGeom>
            <a:solidFill>
              <a:srgbClr val="F8FAFC"/>
            </a:solidFill>
            <a:ln cap="flat" cmpd="sng" w="9525">
              <a:solidFill>
                <a:srgbClr val="D1FA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0" y="0"/>
              <a:ext cx="57300" cy="1028700"/>
            </a:xfrm>
            <a:prstGeom prst="roundRect">
              <a:avLst>
                <a:gd fmla="val 500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"/>
            <p:cNvSpPr txBox="1"/>
            <p:nvPr/>
          </p:nvSpPr>
          <p:spPr>
            <a:xfrm>
              <a:off x="190500" y="114300"/>
              <a:ext cx="64770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E293B"/>
                  </a:solidFill>
                  <a:latin typeface="Noto Sans"/>
                  <a:ea typeface="Noto Sans"/>
                  <a:cs typeface="Noto Sans"/>
                  <a:sym typeface="Noto Sans"/>
                </a:rPr>
                <a:t>一鍵配置通訊協議</a:t>
              </a:r>
              <a:endParaRPr b="1" sz="1100">
                <a:solidFill>
                  <a:srgbClr val="1E293B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自動將 k6 x mcp 寫入編輯器設定檔（如 .mcp.json、.cursor/mcp.json 或 .vscode/mcp.json），免除手動翻找文檔設定。</a:t>
              </a:r>
              <a:endParaRPr b="0" sz="95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134" name="Google Shape;134;p2"/>
          <p:cNvGrpSpPr/>
          <p:nvPr/>
        </p:nvGrpSpPr>
        <p:grpSpPr>
          <a:xfrm>
            <a:off x="8543925" y="3571875"/>
            <a:ext cx="6810300" cy="1028700"/>
            <a:chOff x="0" y="0"/>
            <a:chExt cx="6810300" cy="1028700"/>
          </a:xfrm>
        </p:grpSpPr>
        <p:sp>
          <p:nvSpPr>
            <p:cNvPr id="135" name="Google Shape;135;p2"/>
            <p:cNvSpPr/>
            <p:nvPr/>
          </p:nvSpPr>
          <p:spPr>
            <a:xfrm>
              <a:off x="0" y="0"/>
              <a:ext cx="6810300" cy="1028700"/>
            </a:xfrm>
            <a:prstGeom prst="roundRect">
              <a:avLst>
                <a:gd fmla="val 11111" name="adj"/>
              </a:avLst>
            </a:prstGeom>
            <a:solidFill>
              <a:srgbClr val="F8FAFC"/>
            </a:solidFill>
            <a:ln cap="flat" cmpd="sng" w="9525">
              <a:solidFill>
                <a:srgbClr val="D1FA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0" y="0"/>
              <a:ext cx="57300" cy="1028700"/>
            </a:xfrm>
            <a:prstGeom prst="roundRect">
              <a:avLst>
                <a:gd fmla="val 500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"/>
            <p:cNvSpPr txBox="1"/>
            <p:nvPr/>
          </p:nvSpPr>
          <p:spPr>
            <a:xfrm>
              <a:off x="190500" y="114300"/>
              <a:ext cx="64770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E293B"/>
                  </a:solidFill>
                  <a:latin typeface="Noto Sans"/>
                  <a:ea typeface="Noto Sans"/>
                  <a:cs typeface="Noto Sans"/>
                  <a:sym typeface="Noto Sans"/>
                </a:rPr>
                <a:t>零外部環境依賴</a:t>
              </a:r>
              <a:endParaRPr b="1" sz="1100">
                <a:solidFill>
                  <a:srgbClr val="1E293B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直接呼叫 Go 原生二進位執行檔，完全無需預裝 Node.js、npm 或 Python 執行環境，環境極致乾淨且啟動效能極高。</a:t>
              </a:r>
              <a:endParaRPr b="0" sz="95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138" name="Google Shape;138;p2"/>
          <p:cNvGrpSpPr/>
          <p:nvPr/>
        </p:nvGrpSpPr>
        <p:grpSpPr>
          <a:xfrm>
            <a:off x="8543925" y="4714875"/>
            <a:ext cx="6810300" cy="1028700"/>
            <a:chOff x="0" y="0"/>
            <a:chExt cx="6810300" cy="1028700"/>
          </a:xfrm>
        </p:grpSpPr>
        <p:sp>
          <p:nvSpPr>
            <p:cNvPr id="139" name="Google Shape;139;p2"/>
            <p:cNvSpPr/>
            <p:nvPr/>
          </p:nvSpPr>
          <p:spPr>
            <a:xfrm>
              <a:off x="0" y="0"/>
              <a:ext cx="6810300" cy="1028700"/>
            </a:xfrm>
            <a:prstGeom prst="roundRect">
              <a:avLst>
                <a:gd fmla="val 11111" name="adj"/>
              </a:avLst>
            </a:prstGeom>
            <a:solidFill>
              <a:srgbClr val="F8FAFC"/>
            </a:solidFill>
            <a:ln cap="flat" cmpd="sng" w="9525">
              <a:solidFill>
                <a:srgbClr val="D1FA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0" y="0"/>
              <a:ext cx="57300" cy="1028700"/>
            </a:xfrm>
            <a:prstGeom prst="roundRect">
              <a:avLst>
                <a:gd fmla="val 500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2"/>
            <p:cNvSpPr txBox="1"/>
            <p:nvPr/>
          </p:nvSpPr>
          <p:spPr>
            <a:xfrm>
              <a:off x="190500" y="114300"/>
              <a:ext cx="64770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E293B"/>
                  </a:solidFill>
                  <a:latin typeface="Noto Sans"/>
                  <a:ea typeface="Noto Sans"/>
                  <a:cs typeface="Noto Sans"/>
                  <a:sym typeface="Noto Sans"/>
                </a:rPr>
                <a:t>validate_script 語法預檢</a:t>
              </a:r>
              <a:endParaRPr b="1" sz="1100">
                <a:solidFill>
                  <a:srgbClr val="1E293B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賦予 AI 靜態檢查能力：執行前由 AST 預檢語法結構、生命週期階段與 Thresholds 宣告合規性，杜絕低級語法錯誤。</a:t>
              </a:r>
              <a:endParaRPr b="0" sz="95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142" name="Google Shape;142;p2"/>
          <p:cNvGrpSpPr/>
          <p:nvPr/>
        </p:nvGrpSpPr>
        <p:grpSpPr>
          <a:xfrm>
            <a:off x="8543925" y="5857875"/>
            <a:ext cx="6810300" cy="1028700"/>
            <a:chOff x="0" y="0"/>
            <a:chExt cx="6810300" cy="1028700"/>
          </a:xfrm>
        </p:grpSpPr>
        <p:sp>
          <p:nvSpPr>
            <p:cNvPr id="143" name="Google Shape;143;p2"/>
            <p:cNvSpPr/>
            <p:nvPr/>
          </p:nvSpPr>
          <p:spPr>
            <a:xfrm>
              <a:off x="0" y="0"/>
              <a:ext cx="6810300" cy="1028700"/>
            </a:xfrm>
            <a:prstGeom prst="roundRect">
              <a:avLst>
                <a:gd fmla="val 11111" name="adj"/>
              </a:avLst>
            </a:prstGeom>
            <a:solidFill>
              <a:srgbClr val="F8FAFC"/>
            </a:solidFill>
            <a:ln cap="flat" cmpd="sng" w="9525">
              <a:solidFill>
                <a:srgbClr val="D1FA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0" y="0"/>
              <a:ext cx="57300" cy="1028700"/>
            </a:xfrm>
            <a:prstGeom prst="roundRect">
              <a:avLst>
                <a:gd fmla="val 500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"/>
            <p:cNvSpPr txBox="1"/>
            <p:nvPr/>
          </p:nvSpPr>
          <p:spPr>
            <a:xfrm>
              <a:off x="190500" y="114300"/>
              <a:ext cx="64770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E293B"/>
                  </a:solidFill>
                  <a:latin typeface="Noto Sans"/>
                  <a:ea typeface="Noto Sans"/>
                  <a:cs typeface="Noto Sans"/>
                  <a:sym typeface="Noto Sans"/>
                </a:rPr>
                <a:t>run_script 本地閉環自癒</a:t>
              </a:r>
              <a:endParaRPr b="1" sz="1100">
                <a:solidFill>
                  <a:srgbClr val="1E293B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rPr>
                <a:t>賦予 AI 執行能力：直接在聊天室驅動 1 VU 本地冒煙，即時結構化解析 RPS、P95 延遲與 HTTP 狀態碼進行自主迭代修正。</a:t>
              </a:r>
              <a:endParaRPr b="0" sz="95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sp>
        <p:nvSpPr>
          <p:cNvPr id="146" name="Codelabs_Link_Badge">
            <a:hlinkClick r:id="rId4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/>
            <a:r>
              <a:rPr sz="850" b="1">
                <a:solidFill>
                  <a:srgbClr val="334155"/>
                </a:solidFill>
                <a:latin typeface="Noto Sans CJK TC"/>
              </a:rPr>
              <a:t>▶ 課程實戰 Codelabs：</a:t>
            </a:r>
            <a:r>
              <a:rPr sz="850" b="0">
                <a:solidFill>
                  <a:srgbClr val="4F46E5"/>
                </a:solidFill>
                <a:latin typeface="Noto Sans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/>
          <p:nvPr/>
        </p:nvSpPr>
        <p:spPr>
          <a:xfrm>
            <a:off x="0" y="0"/>
            <a:ext cx="16256100" cy="91440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661581" y="381000"/>
            <a:ext cx="1493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安全防護與冪等性：企業級配置守門員</a:t>
            </a:r>
            <a:endParaRPr/>
          </a:p>
        </p:txBody>
      </p:sp>
      <p:sp>
        <p:nvSpPr>
          <p:cNvPr id="152" name="Google Shape;152;p3"/>
          <p:cNvSpPr txBox="1"/>
          <p:nvPr/>
        </p:nvSpPr>
        <p:spPr>
          <a:xfrm>
            <a:off x="661581" y="904875"/>
            <a:ext cx="14932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非破壞性寫入、智慧辨識自訂規則，確保多次重複執行絕不毀損既有專案代碼</a:t>
            </a:r>
            <a:endParaRPr/>
          </a:p>
        </p:txBody>
      </p:sp>
      <p:sp>
        <p:nvSpPr>
          <p:cNvPr id="153" name="Google Shape;153;p3"/>
          <p:cNvSpPr/>
          <p:nvPr/>
        </p:nvSpPr>
        <p:spPr>
          <a:xfrm>
            <a:off x="666750" y="1428750"/>
            <a:ext cx="6667500" cy="180960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"/>
          <p:cNvSpPr txBox="1"/>
          <p:nvPr/>
        </p:nvSpPr>
        <p:spPr>
          <a:xfrm>
            <a:off x="857250" y="1543050"/>
            <a:ext cx="6286500" cy="750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F46E5"/>
                </a:solidFill>
                <a:latin typeface="Noto Sans"/>
                <a:ea typeface="Noto Sans"/>
                <a:cs typeface="Noto Sans"/>
                <a:sym typeface="Noto Sans"/>
              </a:rPr>
              <a:t>【防護機制 1】 </a:t>
            </a:r>
            <a:r>
              <a:rPr b="1" lang="en-US" sz="1250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擁有者標籤保護 (Owner Tag)</a:t>
            </a:r>
            <a:endParaRPr b="1" sz="1100">
              <a:solidFill>
                <a:srgbClr val="4F46E5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4F46E5"/>
                </a:solidFill>
                <a:highlight>
                  <a:srgbClr val="EEF2FF"/>
                </a:highlight>
                <a:latin typeface="Verdana"/>
                <a:ea typeface="Verdana"/>
                <a:cs typeface="Verdana"/>
                <a:sym typeface="Verdana"/>
              </a:rPr>
              <a:t>&lt;!-- generated by k6 x agent - DO NOT EDIT THIS BLOCK --&gt;</a:t>
            </a:r>
            <a:endParaRPr b="1" sz="1100">
              <a:solidFill>
                <a:srgbClr val="4F46E5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所有產出的規則檔案均附帶系統專屬識別標記。重複執行 init 時，系統自動比對標籤，精確區隔系統自動產生與工程師客製內容，安全無虞。</a:t>
            </a:r>
            <a:endParaRPr b="0" sz="950">
              <a:solidFill>
                <a:srgbClr val="47556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666750" y="3429000"/>
            <a:ext cx="6667500" cy="180960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"/>
          <p:cNvSpPr txBox="1"/>
          <p:nvPr/>
        </p:nvSpPr>
        <p:spPr>
          <a:xfrm>
            <a:off x="857250" y="3543300"/>
            <a:ext cx="6286500" cy="750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563EB"/>
                </a:solidFill>
                <a:latin typeface="Noto Sans"/>
                <a:ea typeface="Noto Sans"/>
                <a:cs typeface="Noto Sans"/>
                <a:sym typeface="Noto Sans"/>
              </a:rPr>
              <a:t>【防護機制 2】 </a:t>
            </a:r>
            <a:r>
              <a:rPr b="1" lang="en-US" sz="1250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寫入前安全預覽 (--dry-run)</a:t>
            </a:r>
            <a:endParaRPr b="1" sz="1100">
              <a:solidFill>
                <a:srgbClr val="2563EB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2563EB"/>
                </a:solidFill>
                <a:highlight>
                  <a:srgbClr val="EFF6FF"/>
                </a:highlight>
                <a:latin typeface="Verdana"/>
                <a:ea typeface="Verdana"/>
                <a:cs typeface="Verdana"/>
                <a:sym typeface="Verdana"/>
              </a:rPr>
              <a:t>$ k6 x agent init cursor --dry-run</a:t>
            </a:r>
            <a:endParaRPr b="1" sz="1100">
              <a:solidFill>
                <a:srgbClr val="2563EB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支援在真正寫入磁碟前加上 --dry-run 旗標進行安全排查。終端會清晰預覽列印出所有將新增、修改或保留的檔案清單與完整路徑，完全零副作用。</a:t>
            </a:r>
            <a:endParaRPr b="0" sz="950">
              <a:solidFill>
                <a:srgbClr val="47556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666750" y="5429250"/>
            <a:ext cx="6667500" cy="180960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"/>
          <p:cNvSpPr txBox="1"/>
          <p:nvPr/>
        </p:nvSpPr>
        <p:spPr>
          <a:xfrm>
            <a:off x="857250" y="5543550"/>
            <a:ext cx="6286500" cy="750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7C3AED"/>
                </a:solidFill>
                <a:latin typeface="Noto Sans"/>
                <a:ea typeface="Noto Sans"/>
                <a:cs typeface="Noto Sans"/>
                <a:sym typeface="Noto Sans"/>
              </a:rPr>
              <a:t>【防護機制 3】 </a:t>
            </a:r>
            <a:r>
              <a:rPr b="1" lang="en-US" sz="1250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客製保護與智慧略過 (Custom Guard &amp; --force)</a:t>
            </a:r>
            <a:endParaRPr b="1" sz="1100">
              <a:solidFill>
                <a:srgbClr val="7C3AED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7C3AED"/>
                </a:solidFill>
                <a:highlight>
                  <a:srgbClr val="F5F3FF"/>
                </a:highlight>
                <a:latin typeface="Verdana"/>
                <a:ea typeface="Verdana"/>
                <a:cs typeface="Verdana"/>
                <a:sym typeface="Verdana"/>
              </a:rPr>
              <a:t>$ k6 x agent init cursor --force</a:t>
            </a:r>
            <a:endParaRPr b="1" sz="1100">
              <a:solidFill>
                <a:srgbClr val="7C3AED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偵測到使用者已手動修改過的檔案時，系統會自動跳過保護，絕不覆蓋你的客製規則；唯有在需要官方版本升級時，顯式加上 --force 才會覆蓋更新。</a:t>
            </a:r>
            <a:endParaRPr b="0" sz="950">
              <a:solidFill>
                <a:srgbClr val="47556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7667625" y="1428750"/>
            <a:ext cx="7905900" cy="5810400"/>
          </a:xfrm>
          <a:prstGeom prst="roundRect">
            <a:avLst>
              <a:gd fmla="val 3278" name="adj"/>
            </a:avLst>
          </a:prstGeom>
          <a:solidFill>
            <a:srgbClr val="0F172A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"/>
          <p:cNvSpPr txBox="1"/>
          <p:nvPr/>
        </p:nvSpPr>
        <p:spPr>
          <a:xfrm>
            <a:off x="7905750" y="1571625"/>
            <a:ext cx="7429500" cy="13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EF4444"/>
                </a:solidFill>
                <a:latin typeface="Verdana"/>
                <a:ea typeface="Verdana"/>
                <a:cs typeface="Verdana"/>
                <a:sym typeface="Verdana"/>
              </a:rPr>
              <a:t>●</a:t>
            </a:r>
            <a:r>
              <a:rPr b="0" lang="en-US" sz="900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lang="en-US" sz="900">
                <a:solidFill>
                  <a:srgbClr val="F59E0B"/>
                </a:solidFill>
                <a:latin typeface="Verdana"/>
                <a:ea typeface="Verdana"/>
                <a:cs typeface="Verdana"/>
                <a:sym typeface="Verdana"/>
              </a:rPr>
              <a:t>●</a:t>
            </a:r>
            <a:r>
              <a:rPr b="0" lang="en-US" sz="900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lang="en-US" sz="900">
                <a:solidFill>
                  <a:srgbClr val="10B981"/>
                </a:solidFill>
                <a:latin typeface="Verdana"/>
                <a:ea typeface="Verdana"/>
                <a:cs typeface="Verdana"/>
                <a:sym typeface="Verdana"/>
              </a:rPr>
              <a:t>●</a:t>
            </a:r>
            <a:r>
              <a:rPr b="0" lang="en-US" sz="900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  </a:t>
            </a:r>
            <a:r>
              <a:rPr b="1" lang="en-US" sz="900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衝突防護決策邏輯 (Conflict Resolution Logic)</a:t>
            </a:r>
            <a:endParaRPr b="0" sz="900">
              <a:solidFill>
                <a:srgbClr val="64748B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1" name="Google Shape;161;p3"/>
          <p:cNvSpPr txBox="1"/>
          <p:nvPr/>
        </p:nvSpPr>
        <p:spPr>
          <a:xfrm>
            <a:off x="7905750" y="1905000"/>
            <a:ext cx="7429500" cy="2670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# 1. 執行安全預覽 (零副作用確認磁碟變更)</a:t>
            </a:r>
            <a:endParaRPr b="0" sz="900">
              <a:solidFill>
                <a:srgbClr val="64748B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8BDF8"/>
                </a:solidFill>
                <a:latin typeface="Verdana"/>
                <a:ea typeface="Verdana"/>
                <a:cs typeface="Verdana"/>
                <a:sym typeface="Verdana"/>
              </a:rPr>
              <a:t>$ k6 x agent init cursor --dry-run</a:t>
            </a:r>
            <a:endParaRPr b="1" sz="900">
              <a:solidFill>
                <a:srgbClr val="38BDF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# 2. 檔案衝突判定決策流程 (Decision Tree)</a:t>
            </a:r>
            <a:endParaRPr b="0" sz="900">
              <a:solidFill>
                <a:srgbClr val="64748B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F1F5F9"/>
                </a:solidFill>
                <a:latin typeface="Verdana"/>
                <a:ea typeface="Verdana"/>
                <a:cs typeface="Verdana"/>
                <a:sym typeface="Verdana"/>
              </a:rPr>
              <a:t>掃描專案規則目錄 (.cursor/rules/*.mdc) ...</a:t>
            </a:r>
            <a:endParaRPr b="0" sz="900">
              <a:solidFill>
                <a:srgbClr val="F1F5F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4ADE80"/>
                </a:solidFill>
                <a:latin typeface="Verdana"/>
                <a:ea typeface="Verdana"/>
                <a:cs typeface="Verdana"/>
                <a:sym typeface="Verdana"/>
              </a:rPr>
              <a:t>  ├── 檔案不存在 ──&gt; [寫入新檔] 並標記 Owner Tag 註解</a:t>
            </a:r>
            <a:endParaRPr b="1" sz="900">
              <a:solidFill>
                <a:srgbClr val="4ADE8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BBF24"/>
                </a:solidFill>
                <a:latin typeface="Verdana"/>
                <a:ea typeface="Verdana"/>
                <a:cs typeface="Verdana"/>
                <a:sym typeface="Verdana"/>
              </a:rPr>
              <a:t>  └── 檔案已存在 ──&gt; 比對內容是否包含識別標籤：</a:t>
            </a:r>
            <a:endParaRPr b="1" sz="900">
              <a:solidFill>
                <a:srgbClr val="FBBF2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F1F5F9"/>
                </a:solidFill>
                <a:latin typeface="Verdana"/>
                <a:ea typeface="Verdana"/>
                <a:cs typeface="Verdana"/>
                <a:sym typeface="Verdana"/>
              </a:rPr>
              <a:t>        ├── 含標籤 (未修改) ──&gt; [安全同步更新] 升級至官方標準</a:t>
            </a:r>
            <a:endParaRPr b="0" sz="900">
              <a:solidFill>
                <a:srgbClr val="F1F5F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BBF24"/>
                </a:solidFill>
                <a:latin typeface="Verdana"/>
                <a:ea typeface="Verdana"/>
                <a:cs typeface="Verdana"/>
                <a:sym typeface="Verdana"/>
              </a:rPr>
              <a:t>        └── 不含標籤 (已修改) ──&gt; [智慧略過保護] 保留開發者客製！</a:t>
            </a:r>
            <a:endParaRPr b="1" sz="900">
              <a:solidFill>
                <a:srgbClr val="FBBF2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# 3. 若確定要同步官方最新版，才使用 --force 強制覆蓋</a:t>
            </a:r>
            <a:endParaRPr b="0" sz="900">
              <a:solidFill>
                <a:srgbClr val="64748B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8BDF8"/>
                </a:solidFill>
                <a:latin typeface="Verdana"/>
                <a:ea typeface="Verdana"/>
                <a:cs typeface="Verdana"/>
                <a:sym typeface="Verdana"/>
              </a:rPr>
              <a:t>$ k6 x agent init cursor --force</a:t>
            </a:r>
            <a:endParaRPr b="1" sz="900">
              <a:solidFill>
                <a:srgbClr val="38BDF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# 4. 規則標籤範例 (.cursor/rules/k6-load-test.mdc)</a:t>
            </a:r>
            <a:endParaRPr b="0" sz="900">
              <a:solidFill>
                <a:srgbClr val="64748B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4ADE80"/>
                </a:solidFill>
                <a:latin typeface="Verdana"/>
                <a:ea typeface="Verdana"/>
                <a:cs typeface="Verdana"/>
                <a:sym typeface="Verdana"/>
              </a:rPr>
              <a:t>&lt;!-- generated by k6 x agent - DO NOT EDIT THIS BLOCK --&gt;</a:t>
            </a:r>
            <a:endParaRPr b="1" sz="900">
              <a:solidFill>
                <a:srgbClr val="4ADE8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F1F5F9"/>
                </a:solidFill>
                <a:latin typeface="Verdana"/>
                <a:ea typeface="Verdana"/>
                <a:cs typeface="Verdana"/>
                <a:sym typeface="Verdana"/>
              </a:rPr>
              <a:t>description: "Execute standard production-grade load tests with k6"</a:t>
            </a:r>
            <a:endParaRPr b="0" sz="900">
              <a:solidFill>
                <a:srgbClr val="F1F5F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F1F5F9"/>
                </a:solidFill>
                <a:latin typeface="Verdana"/>
                <a:ea typeface="Verdana"/>
                <a:cs typeface="Verdana"/>
                <a:sym typeface="Verdana"/>
              </a:rPr>
              <a:t>globs: ["**/*.js", "**/*.ts"]</a:t>
            </a:r>
            <a:endParaRPr b="0" sz="900">
              <a:solidFill>
                <a:srgbClr val="F1F5F9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666750" y="7477125"/>
            <a:ext cx="10668000" cy="904800"/>
          </a:xfrm>
          <a:prstGeom prst="roundRect">
            <a:avLst>
              <a:gd fmla="val 1684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"/>
          <p:cNvSpPr txBox="1"/>
          <p:nvPr/>
        </p:nvSpPr>
        <p:spPr>
          <a:xfrm>
            <a:off x="857250" y="7591425"/>
            <a:ext cx="10287000" cy="346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4F46E5"/>
                </a:solidFill>
                <a:latin typeface="Noto Sans"/>
                <a:ea typeface="Noto Sans"/>
                <a:cs typeface="Noto Sans"/>
                <a:sym typeface="Noto Sans"/>
              </a:rPr>
              <a:t>【核心價值】 </a:t>
            </a:r>
            <a:r>
              <a:rPr b="1" lang="en-US" sz="1050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安全標籤機制讓你在敏捷迭代中享受 AI 自動化的便利，同時對現有專案保有 100% 絕對控制權！</a:t>
            </a:r>
            <a:endParaRPr b="1" sz="1050">
              <a:solidFill>
                <a:srgbClr val="4F46E5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支援所有產出檔案完全收斂於專案本地工作區目錄內，絕不污染全域環境，非常適合團隊納入 Git 版控審查。</a:t>
            </a:r>
            <a:endParaRPr b="0" sz="950">
              <a:solidFill>
                <a:srgbClr val="47556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64" name="Google Shape;164;p3"/>
          <p:cNvPicPr preferRelativeResize="0"/>
          <p:nvPr/>
        </p:nvPicPr>
        <p:blipFill rotWithShape="1">
          <a:blip r:embed="rId3">
            <a:alphaModFix/>
          </a:blip>
          <a:srcRect b="4768" l="0" r="0" t="4759"/>
          <a:stretch/>
        </p:blipFill>
        <p:spPr>
          <a:xfrm>
            <a:off x="11572875" y="7477125"/>
            <a:ext cx="4000500" cy="9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3">
            <a:hlinkClick r:id="rId4"/>
          </p:cNvPr>
          <p:cNvSpPr/>
          <p:nvPr/>
        </p:nvSpPr>
        <p:spPr>
          <a:xfrm>
            <a:off x="502920" y="8869680"/>
            <a:ext cx="6035100" cy="219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109725" spcFirstLastPara="1" rIns="1097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Noto Sans"/>
                <a:ea typeface="Noto Sans"/>
                <a:cs typeface="Noto Sans"/>
                <a:sym typeface="Noto Sans"/>
              </a:rPr>
              <a:t>▶ 課程實戰 Codelabs：</a:t>
            </a:r>
            <a:r>
              <a:rPr b="0" i="0" lang="en-US" sz="850" u="none" cap="none" strike="noStrike">
                <a:solidFill>
                  <a:srgbClr val="2563EB"/>
                </a:solidFill>
                <a:latin typeface="Noto Sans"/>
                <a:ea typeface="Noto Sans"/>
                <a:cs typeface="Noto Sans"/>
                <a:sym typeface="Noto Sans"/>
              </a:rPr>
              <a:t>tedmax100.github.io/o11y_lab_for_dummies/k6-performance-testing/</a:t>
            </a:r>
            <a:endParaRPr/>
          </a:p>
        </p:txBody>
      </p:sp>
      <p:sp>
        <p:nvSpPr>
          <p:cNvPr id="166" name="Codelabs_Link_Badge">
            <a:hlinkClick r:id="rId4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/>
            <a:r>
              <a:rPr sz="850" b="1">
                <a:solidFill>
                  <a:srgbClr val="334155"/>
                </a:solidFill>
                <a:latin typeface="Noto Sans CJK TC"/>
              </a:rPr>
              <a:t>▶ 課程實戰 Codelabs：</a:t>
            </a:r>
            <a:r>
              <a:rPr sz="850" b="0">
                <a:solidFill>
                  <a:srgbClr val="4F46E5"/>
                </a:solidFill>
                <a:latin typeface="Noto Sans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"/>
          <p:cNvSpPr/>
          <p:nvPr/>
        </p:nvSpPr>
        <p:spPr>
          <a:xfrm>
            <a:off x="0" y="0"/>
            <a:ext cx="16256100" cy="91440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 txBox="1"/>
          <p:nvPr/>
        </p:nvSpPr>
        <p:spPr>
          <a:xfrm>
            <a:off x="661581" y="400050"/>
            <a:ext cx="149328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>
                <a:solidFill>
                  <a:srgbClr val="0F172A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常用 CLI 指令速查與 6 大編輯器環境適配</a:t>
            </a:r>
            <a:endParaRPr b="0" sz="2600">
              <a:solidFill>
                <a:srgbClr val="0F172A"/>
              </a:solidFill>
              <a:latin typeface="Noto Sans ExtraBold"/>
              <a:ea typeface="Noto Sans ExtraBold"/>
              <a:cs typeface="Noto Sans ExtraBold"/>
              <a:sym typeface="Noto Sans ExtraBold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661581" y="876300"/>
            <a:ext cx="149328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在專案根目錄終端執行直覺的子命令，一鍵適配主流 AI 編輯器與自主 Agent 環境</a:t>
            </a:r>
            <a:endParaRPr b="0" sz="1200">
              <a:solidFill>
                <a:srgbClr val="64748B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661581" y="1381125"/>
            <a:ext cx="6762900" cy="6048300"/>
          </a:xfrm>
          <a:prstGeom prst="roundRect">
            <a:avLst>
              <a:gd fmla="val 2834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"/>
          <p:cNvSpPr txBox="1"/>
          <p:nvPr/>
        </p:nvSpPr>
        <p:spPr>
          <a:xfrm>
            <a:off x="852081" y="1495425"/>
            <a:ext cx="63819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EF4444"/>
                </a:solidFill>
                <a:latin typeface="Fira Code Medium"/>
                <a:ea typeface="Fira Code Medium"/>
                <a:cs typeface="Fira Code Medium"/>
                <a:sym typeface="Fira Code Medium"/>
              </a:rPr>
              <a:t>● </a:t>
            </a:r>
            <a:r>
              <a:rPr b="0" lang="en-US" sz="1000">
                <a:solidFill>
                  <a:srgbClr val="F59E0B"/>
                </a:solidFill>
                <a:latin typeface="Fira Code Medium"/>
                <a:ea typeface="Fira Code Medium"/>
                <a:cs typeface="Fira Code Medium"/>
                <a:sym typeface="Fira Code Medium"/>
              </a:rPr>
              <a:t>● </a:t>
            </a:r>
            <a:r>
              <a:rPr b="0" lang="en-US" sz="1000">
                <a:solidFill>
                  <a:srgbClr val="10B981"/>
                </a:solidFill>
                <a:latin typeface="Fira Code Medium"/>
                <a:ea typeface="Fira Code Medium"/>
                <a:cs typeface="Fira Code Medium"/>
                <a:sym typeface="Fira Code Medium"/>
              </a:rPr>
              <a:t>● </a:t>
            </a:r>
            <a:r>
              <a:rPr b="0" lang="en-US" sz="900">
                <a:solidFill>
                  <a:srgbClr val="64748B"/>
                </a:solidFill>
                <a:latin typeface="Fira Code Medium"/>
                <a:ea typeface="Fira Code Medium"/>
                <a:cs typeface="Fira Code Medium"/>
                <a:sym typeface="Fira Code Medium"/>
              </a:rPr>
              <a:t>bash ── 在 k6 專案根目錄執行</a:t>
            </a:r>
            <a:endParaRPr b="0" sz="1000">
              <a:solidFill>
                <a:srgbClr val="64748B"/>
              </a:solidFill>
              <a:latin typeface="Fira Code Medium"/>
              <a:ea typeface="Fira Code Medium"/>
              <a:cs typeface="Fira Code Medium"/>
              <a:sym typeface="Fira Code Medium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852081" y="1828800"/>
            <a:ext cx="6381900" cy="2566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# 1. 為指定編輯器進行初始化 (例如 Cursor 或 Claude Code)</a:t>
            </a:r>
            <a:endParaRPr b="0" sz="850">
              <a:solidFill>
                <a:srgbClr val="64748B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$ k6 x agent init cursor</a:t>
            </a:r>
            <a:endParaRPr b="0" sz="850">
              <a:solidFill>
                <a:srgbClr val="94A3B8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$ k6 x agent init claude-code</a:t>
            </a:r>
            <a:endParaRPr b="0" sz="850">
              <a:solidFill>
                <a:srgbClr val="94A3B8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# 2. 一鍵初始化所有支援的編輯器 (團隊協作最佳實踐)</a:t>
            </a:r>
            <a:endParaRPr b="0" sz="850">
              <a:solidFill>
                <a:srgbClr val="64748B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$ k6 x agent init --all</a:t>
            </a:r>
            <a:endParaRPr b="0" sz="850">
              <a:solidFill>
                <a:srgbClr val="94A3B8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# 3. 預覽將產生的檔案與路徑 (安全檢查，不寫入磁碟)</a:t>
            </a:r>
            <a:endParaRPr b="0" sz="850">
              <a:solidFill>
                <a:srgbClr val="64748B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$ k6 x agent init --dry-run cursor</a:t>
            </a:r>
            <a:endParaRPr b="0" sz="850">
              <a:solidFill>
                <a:srgbClr val="94A3B8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# 4. 強制覆蓋重置所有技能與 MCP 設定 (版本升級專用)</a:t>
            </a:r>
            <a:endParaRPr b="0" sz="850">
              <a:solidFill>
                <a:srgbClr val="64748B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$ k6 x agent init --force cursor</a:t>
            </a:r>
            <a:endParaRPr b="0" sz="850">
              <a:solidFill>
                <a:srgbClr val="94A3B8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# 5. 檢查當前專案的 AI 技能與 MCP 伺服器連線狀態</a:t>
            </a:r>
            <a:endParaRPr b="0" sz="850">
              <a:solidFill>
                <a:srgbClr val="64748B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$ k6 x agent status</a:t>
            </a:r>
            <a:endParaRPr b="0" sz="850">
              <a:solidFill>
                <a:srgbClr val="94A3B8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# 6. 查看內建的所有 AI 技能清單與詳細描述</a:t>
            </a:r>
            <a:endParaRPr b="0" sz="850">
              <a:solidFill>
                <a:srgbClr val="64748B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$ k6 x agent skills list</a:t>
            </a:r>
            <a:endParaRPr b="0" sz="850">
              <a:solidFill>
                <a:srgbClr val="94A3B8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7667625" y="1381125"/>
            <a:ext cx="57300" cy="1886100"/>
          </a:xfrm>
          <a:prstGeom prst="roundRect">
            <a:avLst>
              <a:gd fmla="val 50000" name="adj"/>
            </a:avLst>
          </a:prstGeom>
          <a:solidFill>
            <a:srgbClr val="6366F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7667625" y="1381125"/>
            <a:ext cx="3857700" cy="1886100"/>
          </a:xfrm>
          <a:prstGeom prst="roundRect">
            <a:avLst>
              <a:gd fmla="val 7070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4"/>
          <p:cNvSpPr txBox="1"/>
          <p:nvPr/>
        </p:nvSpPr>
        <p:spPr>
          <a:xfrm>
            <a:off x="7858125" y="1543050"/>
            <a:ext cx="3524400" cy="569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F46E5"/>
                </a:solidFill>
                <a:latin typeface="Noto Sans"/>
                <a:ea typeface="Noto Sans"/>
                <a:cs typeface="Noto Sans"/>
                <a:sym typeface="Noto Sans"/>
              </a:rPr>
              <a:t>Cursor </a:t>
            </a:r>
            <a:r>
              <a:rPr b="0" lang="en-US" sz="850">
                <a:solidFill>
                  <a:srgbClr val="64748B"/>
                </a:solidFill>
                <a:latin typeface="Fira Code Medium"/>
                <a:ea typeface="Fira Code Medium"/>
                <a:cs typeface="Fira Code Medium"/>
                <a:sym typeface="Fira Code Medium"/>
              </a:rPr>
              <a:t>cursor</a:t>
            </a:r>
            <a:endParaRPr b="1" sz="1300">
              <a:solidFill>
                <a:srgbClr val="4F46E5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支援 .cursor/rules/*.mdc 與 .cursor/mcp.json，自然語言無縫調度 k6 工具。</a:t>
            </a:r>
            <a:endParaRPr b="0" sz="950">
              <a:solidFill>
                <a:srgbClr val="47556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11734800" y="1381125"/>
            <a:ext cx="57300" cy="1886100"/>
          </a:xfrm>
          <a:prstGeom prst="roundRect">
            <a:avLst>
              <a:gd fmla="val 50000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11734800" y="1381125"/>
            <a:ext cx="3857700" cy="1886100"/>
          </a:xfrm>
          <a:prstGeom prst="roundRect">
            <a:avLst>
              <a:gd fmla="val 7070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4"/>
          <p:cNvSpPr txBox="1"/>
          <p:nvPr/>
        </p:nvSpPr>
        <p:spPr>
          <a:xfrm>
            <a:off x="11925300" y="1543050"/>
            <a:ext cx="3524400" cy="569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B45309"/>
                </a:solidFill>
                <a:latin typeface="Noto Sans"/>
                <a:ea typeface="Noto Sans"/>
                <a:cs typeface="Noto Sans"/>
                <a:sym typeface="Noto Sans"/>
              </a:rPr>
              <a:t>Claude Code </a:t>
            </a:r>
            <a:r>
              <a:rPr b="0" lang="en-US" sz="850">
                <a:solidFill>
                  <a:srgbClr val="64748B"/>
                </a:solidFill>
                <a:latin typeface="Fira Code Medium"/>
                <a:ea typeface="Fira Code Medium"/>
                <a:cs typeface="Fira Code Medium"/>
                <a:sym typeface="Fira Code Medium"/>
              </a:rPr>
              <a:t>claude-code</a:t>
            </a:r>
            <a:endParaRPr b="1" sz="1300">
              <a:solidFill>
                <a:srgbClr val="B45309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Anthropic 官方終端 Agent CLI，完美支援 skills 技能包與本地工具鏈。</a:t>
            </a:r>
            <a:endParaRPr b="0" sz="950">
              <a:solidFill>
                <a:srgbClr val="47556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7667625" y="3457575"/>
            <a:ext cx="57300" cy="18861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7667625" y="3457575"/>
            <a:ext cx="3857700" cy="1886100"/>
          </a:xfrm>
          <a:prstGeom prst="roundRect">
            <a:avLst>
              <a:gd fmla="val 7070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4"/>
          <p:cNvSpPr txBox="1"/>
          <p:nvPr/>
        </p:nvSpPr>
        <p:spPr>
          <a:xfrm>
            <a:off x="7858125" y="3619500"/>
            <a:ext cx="3524400" cy="569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563EB"/>
                </a:solidFill>
                <a:latin typeface="Noto Sans"/>
                <a:ea typeface="Noto Sans"/>
                <a:cs typeface="Noto Sans"/>
                <a:sym typeface="Noto Sans"/>
              </a:rPr>
              <a:t>GitHub Copilot </a:t>
            </a:r>
            <a:r>
              <a:rPr b="0" lang="en-US" sz="850">
                <a:solidFill>
                  <a:srgbClr val="64748B"/>
                </a:solidFill>
                <a:latin typeface="Fira Code Medium"/>
                <a:ea typeface="Fira Code Medium"/>
                <a:cs typeface="Fira Code Medium"/>
                <a:sym typeface="Fira Code Medium"/>
              </a:rPr>
              <a:t>vscode-copilot</a:t>
            </a:r>
            <a:endParaRPr b="1" sz="1300">
              <a:solidFill>
                <a:srgbClr val="2563EB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微軟 VS Code 原生工作區，自動配置 .vscode/mcp.json，IDE 體驗極致流暢。</a:t>
            </a:r>
            <a:endParaRPr b="0" sz="950">
              <a:solidFill>
                <a:srgbClr val="47556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11734800" y="3457575"/>
            <a:ext cx="57300" cy="1886100"/>
          </a:xfrm>
          <a:prstGeom prst="roundRect">
            <a:avLst>
              <a:gd fmla="val 50000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4"/>
          <p:cNvSpPr/>
          <p:nvPr/>
        </p:nvSpPr>
        <p:spPr>
          <a:xfrm>
            <a:off x="11734800" y="3457575"/>
            <a:ext cx="3857700" cy="1886100"/>
          </a:xfrm>
          <a:prstGeom prst="roundRect">
            <a:avLst>
              <a:gd fmla="val 7070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4"/>
          <p:cNvSpPr txBox="1"/>
          <p:nvPr/>
        </p:nvSpPr>
        <p:spPr>
          <a:xfrm>
            <a:off x="11925300" y="3619500"/>
            <a:ext cx="3524400" cy="569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59669"/>
                </a:solidFill>
                <a:latin typeface="Noto Sans"/>
                <a:ea typeface="Noto Sans"/>
                <a:cs typeface="Noto Sans"/>
                <a:sym typeface="Noto Sans"/>
              </a:rPr>
              <a:t>OpenAI Codex CLI </a:t>
            </a:r>
            <a:r>
              <a:rPr b="0" lang="en-US" sz="850">
                <a:solidFill>
                  <a:srgbClr val="64748B"/>
                </a:solidFill>
                <a:latin typeface="Fira Code Medium"/>
                <a:ea typeface="Fira Code Medium"/>
                <a:cs typeface="Fira Code Medium"/>
                <a:sym typeface="Fira Code Medium"/>
              </a:rPr>
              <a:t>codex-cli</a:t>
            </a:r>
            <a:endParaRPr b="1" sz="1300">
              <a:solidFill>
                <a:srgbClr val="059669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OpenAI 原生終端工作流，支援命令行環境下的全自動逆向生成與壓測驗證。</a:t>
            </a:r>
            <a:endParaRPr b="0" sz="950">
              <a:solidFill>
                <a:srgbClr val="47556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7667625" y="5543550"/>
            <a:ext cx="57300" cy="1886100"/>
          </a:xfrm>
          <a:prstGeom prst="roundRect">
            <a:avLst>
              <a:gd fmla="val 50000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"/>
          <p:cNvSpPr/>
          <p:nvPr/>
        </p:nvSpPr>
        <p:spPr>
          <a:xfrm>
            <a:off x="7667625" y="5543550"/>
            <a:ext cx="3857700" cy="1886100"/>
          </a:xfrm>
          <a:prstGeom prst="roundRect">
            <a:avLst>
              <a:gd fmla="val 7070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"/>
          <p:cNvSpPr txBox="1"/>
          <p:nvPr/>
        </p:nvSpPr>
        <p:spPr>
          <a:xfrm>
            <a:off x="7858125" y="5705475"/>
            <a:ext cx="3524400" cy="569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7C3AED"/>
                </a:solidFill>
                <a:latin typeface="Noto Sans"/>
                <a:ea typeface="Noto Sans"/>
                <a:cs typeface="Noto Sans"/>
                <a:sym typeface="Noto Sans"/>
              </a:rPr>
              <a:t>OpenCode </a:t>
            </a:r>
            <a:r>
              <a:rPr b="0" lang="en-US" sz="850">
                <a:solidFill>
                  <a:srgbClr val="64748B"/>
                </a:solidFill>
                <a:latin typeface="Fira Code Medium"/>
                <a:ea typeface="Fira Code Medium"/>
                <a:cs typeface="Fira Code Medium"/>
                <a:sym typeface="Fira Code Medium"/>
              </a:rPr>
              <a:t>opencode</a:t>
            </a:r>
            <a:endParaRPr b="1" sz="1300">
              <a:solidFill>
                <a:srgbClr val="7C3AED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開源終端 AI 助手環境，提供完全開源自主可控的 Agent 壓測配置方案。</a:t>
            </a:r>
            <a:endParaRPr b="0" sz="950">
              <a:solidFill>
                <a:srgbClr val="47556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11734800" y="5543550"/>
            <a:ext cx="57300" cy="1886100"/>
          </a:xfrm>
          <a:prstGeom prst="roundRect">
            <a:avLst>
              <a:gd fmla="val 50000" name="adj"/>
            </a:avLst>
          </a:prstGeom>
          <a:solidFill>
            <a:srgbClr val="E11D4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4"/>
          <p:cNvSpPr/>
          <p:nvPr/>
        </p:nvSpPr>
        <p:spPr>
          <a:xfrm>
            <a:off x="11734800" y="5543550"/>
            <a:ext cx="3857700" cy="1886100"/>
          </a:xfrm>
          <a:prstGeom prst="roundRect">
            <a:avLst>
              <a:gd fmla="val 7070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4"/>
          <p:cNvSpPr txBox="1"/>
          <p:nvPr/>
        </p:nvSpPr>
        <p:spPr>
          <a:xfrm>
            <a:off x="11925300" y="5705475"/>
            <a:ext cx="3524400" cy="569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11D48"/>
                </a:solidFill>
                <a:latin typeface="Noto Sans"/>
                <a:ea typeface="Noto Sans"/>
                <a:cs typeface="Noto Sans"/>
                <a:sym typeface="Noto Sans"/>
              </a:rPr>
              <a:t>Cline </a:t>
            </a:r>
            <a:r>
              <a:rPr b="0" lang="en-US" sz="850">
                <a:solidFill>
                  <a:srgbClr val="64748B"/>
                </a:solidFill>
                <a:latin typeface="Fira Code Medium"/>
                <a:ea typeface="Fira Code Medium"/>
                <a:cs typeface="Fira Code Medium"/>
                <a:sym typeface="Fira Code Medium"/>
              </a:rPr>
              <a:t>cline</a:t>
            </a:r>
            <a:endParaRPr b="1" sz="1300">
              <a:solidFill>
                <a:srgbClr val="E11D48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VS Code 開源自主 Agent 插件，支援檔案讀寫、終端執行與 MCP 閉環反饋。</a:t>
            </a:r>
            <a:endParaRPr b="0" sz="950">
              <a:solidFill>
                <a:srgbClr val="47556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661581" y="7639050"/>
            <a:ext cx="10668000" cy="876300"/>
          </a:xfrm>
          <a:prstGeom prst="roundRect">
            <a:avLst>
              <a:gd fmla="val 1521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4"/>
          <p:cNvSpPr txBox="1"/>
          <p:nvPr/>
        </p:nvSpPr>
        <p:spPr>
          <a:xfrm>
            <a:off x="857250" y="7753350"/>
            <a:ext cx="10287000" cy="346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4F46E5"/>
                </a:solidFill>
                <a:latin typeface="Noto Sans"/>
                <a:ea typeface="Noto Sans"/>
                <a:cs typeface="Noto Sans"/>
                <a:sym typeface="Noto Sans"/>
              </a:rPr>
              <a:t>【協同優勢】 </a:t>
            </a:r>
            <a:r>
              <a:rPr b="1" lang="en-US" sz="1050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無論團隊成員偏好 VS Code、Cursor 還是終端 Agent，執行 init --all 即可完全抹平環境差異！</a:t>
            </a:r>
            <a:endParaRPr b="1" sz="1050">
              <a:solidFill>
                <a:srgbClr val="4F46E5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多編輯器設定共享同一份核心壓測規範，讓每位工程師在自己熟悉的工具中享有完全一致的 AI 賦能體驗。</a:t>
            </a:r>
            <a:endParaRPr b="0" sz="950">
              <a:solidFill>
                <a:srgbClr val="47556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96" name="Google Shape;196;p4"/>
          <p:cNvPicPr preferRelativeResize="0"/>
          <p:nvPr/>
        </p:nvPicPr>
        <p:blipFill rotWithShape="1">
          <a:blip r:embed="rId4">
            <a:alphaModFix/>
          </a:blip>
          <a:srcRect b="5986" l="0" r="0" t="5978"/>
          <a:stretch/>
        </p:blipFill>
        <p:spPr>
          <a:xfrm>
            <a:off x="11620500" y="7639050"/>
            <a:ext cx="3981600" cy="8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4">
            <a:hlinkClick r:id="rId5"/>
          </p:cNvPr>
          <p:cNvSpPr/>
          <p:nvPr/>
        </p:nvSpPr>
        <p:spPr>
          <a:xfrm>
            <a:off x="502920" y="8839200"/>
            <a:ext cx="6035100" cy="219600"/>
          </a:xfrm>
          <a:prstGeom prst="roundRect">
            <a:avLst>
              <a:gd fmla="val 16666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114300" spcFirstLastPara="1" rIns="1143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1E293B"/>
                </a:solidFill>
                <a:latin typeface="Noto Sans"/>
                <a:ea typeface="Noto Sans"/>
                <a:cs typeface="Noto Sans"/>
                <a:sym typeface="Noto Sans"/>
              </a:rPr>
              <a:t>▶ 課程實戰 Codelabs：</a:t>
            </a:r>
            <a:r>
              <a:rPr b="0" lang="en-US" sz="850">
                <a:solidFill>
                  <a:srgbClr val="2563EB"/>
                </a:solidFill>
                <a:latin typeface="Noto Sans"/>
                <a:ea typeface="Noto Sans"/>
                <a:cs typeface="Noto Sans"/>
                <a:sym typeface="Noto Sans"/>
              </a:rPr>
              <a:t>tedmax100.github.io/o11y_lab_for_dummies/k6-performance-testing/</a:t>
            </a:r>
            <a:endParaRPr b="1" sz="850">
              <a:solidFill>
                <a:srgbClr val="1E293B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8" name="Codelabs_Link_Badge">
            <a:hlinkClick r:id="rId5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/>
            <a:r>
              <a:rPr sz="850" b="1">
                <a:solidFill>
                  <a:srgbClr val="334155"/>
                </a:solidFill>
                <a:latin typeface="Noto Sans CJK TC"/>
              </a:rPr>
              <a:t>▶ 課程實戰 Codelabs：</a:t>
            </a:r>
            <a:r>
              <a:rPr sz="850" b="0">
                <a:solidFill>
                  <a:srgbClr val="4F46E5"/>
                </a:solidFill>
                <a:latin typeface="Noto Sans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 txBox="1"/>
          <p:nvPr/>
        </p:nvSpPr>
        <p:spPr>
          <a:xfrm>
            <a:off x="661581" y="381000"/>
            <a:ext cx="1493283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內建 5 大 AI 技能深度剖析：專家級壓測工作流</a:t>
            </a:r>
            <a:endParaRPr/>
          </a:p>
        </p:txBody>
      </p:sp>
      <p:sp>
        <p:nvSpPr>
          <p:cNvPr id="204" name="Google Shape;204;p5"/>
          <p:cNvSpPr txBox="1"/>
          <p:nvPr/>
        </p:nvSpPr>
        <p:spPr>
          <a:xfrm>
            <a:off x="661581" y="904875"/>
            <a:ext cx="1493283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從測試策略、負載爬坡、冒煙檢驗、前端真實渲染到 E2E 腳本轉譯的全鏈路覆蓋</a:t>
            </a: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661581" y="1428750"/>
            <a:ext cx="7277395" cy="1857375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 txBox="1"/>
          <p:nvPr/>
        </p:nvSpPr>
        <p:spPr>
          <a:xfrm>
            <a:off x="897860" y="1595437"/>
            <a:ext cx="6804837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F46E5"/>
                </a:solidFill>
                <a:latin typeface="Verdana"/>
                <a:ea typeface="Verdana"/>
                <a:cs typeface="Verdana"/>
                <a:sym typeface="Verdana"/>
              </a:rPr>
              <a:t>k6-test-planner</a:t>
            </a:r>
            <a:r>
              <a:rPr b="1" i="0" lang="en-US" sz="1100" u="none" cap="none" strike="noStrike">
                <a:solidFill>
                  <a:srgbClr val="1E293B"/>
                </a:solidFill>
                <a:latin typeface="Noto Sans"/>
                <a:ea typeface="Noto Sans"/>
                <a:cs typeface="Noto Sans"/>
                <a:sym typeface="Noto Sans"/>
              </a:rPr>
              <a:t>  【壓測策略規劃】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分析 API 架構、端點特徵與預期吞吐量，自動規劃流量模型、計算並發 VU 與爬坡階段，並設計合理的 P95 延遲門檻與 SLO 門禁規範。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F46E5"/>
                </a:solidFill>
                <a:latin typeface="Noto Sans"/>
                <a:ea typeface="Noto Sans"/>
                <a:cs typeface="Noto Sans"/>
                <a:sym typeface="Noto Sans"/>
              </a:rPr>
              <a:t>💬 觸發詞： </a:t>
            </a:r>
            <a:r>
              <a:rPr b="0" i="0" lang="en-US" sz="850" u="none" cap="none" strike="noStrike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"plan tests for order service", "design a test strategy", "recommend VU and RPS"</a:t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661581" y="3500437"/>
            <a:ext cx="7277395" cy="1857375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 txBox="1"/>
          <p:nvPr/>
        </p:nvSpPr>
        <p:spPr>
          <a:xfrm>
            <a:off x="897860" y="3667125"/>
            <a:ext cx="6804837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Verdana"/>
                <a:ea typeface="Verdana"/>
                <a:cs typeface="Verdana"/>
                <a:sym typeface="Verdana"/>
              </a:rPr>
              <a:t>k6-load-test</a:t>
            </a:r>
            <a:r>
              <a:rPr b="1" i="0" lang="en-US" sz="1100" u="none" cap="none" strike="noStrike">
                <a:solidFill>
                  <a:srgbClr val="1E293B"/>
                </a:solidFill>
                <a:latin typeface="Noto Sans"/>
                <a:ea typeface="Noto Sans"/>
                <a:cs typeface="Noto Sans"/>
                <a:sym typeface="Noto Sans"/>
              </a:rPr>
              <a:t>  【生產級負載壓測】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生成具備 stages 階梯爬坡、arrival-rate 開放模型與動態 Token 關聯的生產級標準腳本，嚴格遵循 SharedArray 跨 VU 記憶體共享最佳實踐。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7C3AED"/>
                </a:solidFill>
                <a:latin typeface="Noto Sans"/>
                <a:ea typeface="Noto Sans"/>
                <a:cs typeface="Noto Sans"/>
                <a:sym typeface="Noto Sans"/>
              </a:rPr>
              <a:t>💬 觸發詞： </a:t>
            </a:r>
            <a:r>
              <a:rPr b="0" i="0" lang="en-US" sz="850" u="none" cap="none" strike="noStrike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"write a load test", "stress test this endpoint", "soak test with 500 RPS"</a:t>
            </a: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661581" y="5572125"/>
            <a:ext cx="7277395" cy="1857375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897860" y="5738812"/>
            <a:ext cx="6804837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59669"/>
                </a:solidFill>
                <a:latin typeface="Verdana"/>
                <a:ea typeface="Verdana"/>
                <a:cs typeface="Verdana"/>
                <a:sym typeface="Verdana"/>
              </a:rPr>
              <a:t>k6-smoke-test</a:t>
            </a:r>
            <a:r>
              <a:rPr b="1" i="0" lang="en-US" sz="1100" u="none" cap="none" strike="noStrike">
                <a:solidFill>
                  <a:srgbClr val="1E293B"/>
                </a:solidFill>
                <a:latin typeface="Noto Sans"/>
                <a:ea typeface="Noto Sans"/>
                <a:cs typeface="Noto Sans"/>
                <a:sym typeface="Noto Sans"/>
              </a:rPr>
              <a:t>  【極速冒煙檢驗】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以極低資源開銷（1 到 2 個 VU）在 5 秒內快速驗證 API 基礎可用性、HTTP 200/201 與 Check 軟斷言，適合作為 CI/CD 門禁的第一道快速防線。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59669"/>
                </a:solidFill>
                <a:latin typeface="Noto Sans"/>
                <a:ea typeface="Noto Sans"/>
                <a:cs typeface="Noto Sans"/>
                <a:sym typeface="Noto Sans"/>
              </a:rPr>
              <a:t>💬 觸發詞： </a:t>
            </a:r>
            <a:r>
              <a:rPr b="0" i="0" lang="en-US" sz="850" u="none" cap="none" strike="noStrike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"write a smoke test", "quick sanity check", "verify health check endpoint"</a:t>
            </a:r>
            <a:endParaRPr/>
          </a:p>
        </p:txBody>
      </p:sp>
      <p:sp>
        <p:nvSpPr>
          <p:cNvPr id="211" name="Google Shape;211;p5"/>
          <p:cNvSpPr/>
          <p:nvPr/>
        </p:nvSpPr>
        <p:spPr>
          <a:xfrm>
            <a:off x="8317023" y="1428750"/>
            <a:ext cx="7277395" cy="1857375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 txBox="1"/>
          <p:nvPr/>
        </p:nvSpPr>
        <p:spPr>
          <a:xfrm>
            <a:off x="8553302" y="1595437"/>
            <a:ext cx="6804837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B45309"/>
                </a:solidFill>
                <a:latin typeface="Verdana"/>
                <a:ea typeface="Verdana"/>
                <a:cs typeface="Verdana"/>
                <a:sym typeface="Verdana"/>
              </a:rPr>
              <a:t>k6-browser-test</a:t>
            </a:r>
            <a:r>
              <a:rPr b="1" i="0" lang="en-US" sz="1100" u="none" cap="none" strike="noStrike">
                <a:solidFill>
                  <a:srgbClr val="1E293B"/>
                </a:solidFill>
                <a:latin typeface="Noto Sans"/>
                <a:ea typeface="Noto Sans"/>
                <a:cs typeface="Noto Sans"/>
                <a:sym typeface="Noto Sans"/>
              </a:rPr>
              <a:t>  【前端真實渲染】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透過 k6/browser 驅動真實無頭 Chromium，量測 LCP、CLS、INP 等 Core Web Vitals 前端性能指標，並自動注入 finally page.close() 軍規防護。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45309"/>
                </a:solidFill>
                <a:latin typeface="Noto Sans"/>
                <a:ea typeface="Noto Sans"/>
                <a:cs typeface="Noto Sans"/>
                <a:sym typeface="Noto Sans"/>
              </a:rPr>
              <a:t>💬 觸發詞： </a:t>
            </a:r>
            <a:r>
              <a:rPr b="0" i="0" lang="en-US" sz="850" u="none" cap="none" strike="noStrike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"browser test for login UI", "measure Web Vitals", "hybrid 99:1 test"</a:t>
            </a:r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8317023" y="3500437"/>
            <a:ext cx="7277395" cy="1857375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8553302" y="3667125"/>
            <a:ext cx="6804837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11D48"/>
                </a:solidFill>
                <a:latin typeface="Verdana"/>
                <a:ea typeface="Verdana"/>
                <a:cs typeface="Verdana"/>
                <a:sym typeface="Verdana"/>
              </a:rPr>
              <a:t>k6-playwright-converter</a:t>
            </a:r>
            <a:r>
              <a:rPr b="1" i="0" lang="en-US" sz="1100" u="none" cap="none" strike="noStrike">
                <a:solidFill>
                  <a:srgbClr val="1E293B"/>
                </a:solidFill>
                <a:latin typeface="Noto Sans"/>
                <a:ea typeface="Noto Sans"/>
                <a:cs typeface="Noto Sans"/>
                <a:sym typeface="Noto Sans"/>
              </a:rPr>
              <a:t>  【Playwright 轉譯】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讀取現有的 Playwright 或 Puppeteer E2E 功能測試代碼，自動提取選擇器與業務流程，無痛轉譯為相容 k6 高併發架構的混合壓測腳本。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11D48"/>
                </a:solidFill>
                <a:latin typeface="Noto Sans"/>
                <a:ea typeface="Noto Sans"/>
                <a:cs typeface="Noto Sans"/>
                <a:sym typeface="Noto Sans"/>
              </a:rPr>
              <a:t>💬 觸發詞： </a:t>
            </a:r>
            <a:r>
              <a:rPr b="0" i="0" lang="en-US" sz="850" u="none" cap="none" strike="noStrike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"convert Playwright script", "migrate E2E test to k6", "transform ui test"</a:t>
            </a:r>
            <a:endParaRPr/>
          </a:p>
        </p:txBody>
      </p:sp>
      <p:sp>
        <p:nvSpPr>
          <p:cNvPr id="215" name="Google Shape;215;p5"/>
          <p:cNvSpPr/>
          <p:nvPr/>
        </p:nvSpPr>
        <p:spPr>
          <a:xfrm>
            <a:off x="8317023" y="5572125"/>
            <a:ext cx="7277395" cy="1857375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 txBox="1"/>
          <p:nvPr/>
        </p:nvSpPr>
        <p:spPr>
          <a:xfrm>
            <a:off x="8553302" y="5738812"/>
            <a:ext cx="6804837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Noto Sans"/>
                <a:ea typeface="Noto Sans"/>
                <a:cs typeface="Noto Sans"/>
                <a:sym typeface="Noto Sans"/>
              </a:rPr>
              <a:t>【五大技能協同矩陣】 Full-Lifecycle Synergy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5 大技能無縫銜接：由 planner 制定階梯目標 ➔ smoke 驗證端點存活 ➔ load 執行大並發壓測 ➔ browser 捕捉 Web Vitals 體驗，並透過 converter 無痛搬遷現有 E2E 資產！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E293B"/>
                </a:solidFill>
                <a:latin typeface="Noto Sans"/>
                <a:ea typeface="Noto Sans"/>
                <a:cs typeface="Noto Sans"/>
                <a:sym typeface="Noto Sans"/>
              </a:rPr>
              <a:t>🎯 工程綜效：從 API 到前端全視角覆蓋，建構標準化、可複製的 AI 效能工程工作流。</a:t>
            </a:r>
            <a:endParaRPr/>
          </a:p>
        </p:txBody>
      </p:sp>
      <p:sp>
        <p:nvSpPr>
          <p:cNvPr id="217" name="Google Shape;217;p5"/>
          <p:cNvSpPr/>
          <p:nvPr/>
        </p:nvSpPr>
        <p:spPr>
          <a:xfrm>
            <a:off x="661581" y="7643812"/>
            <a:ext cx="10797953" cy="928687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 txBox="1"/>
          <p:nvPr/>
        </p:nvSpPr>
        <p:spPr>
          <a:xfrm>
            <a:off x="874232" y="7762874"/>
            <a:ext cx="10372651" cy="690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F46E5"/>
                </a:solidFill>
                <a:latin typeface="Noto Sans"/>
                <a:ea typeface="Noto Sans"/>
                <a:cs typeface="Noto Sans"/>
                <a:sym typeface="Noto Sans"/>
              </a:rPr>
              <a:t>【技能協同】 </a:t>
            </a:r>
            <a:r>
              <a:rPr b="1" i="0" lang="en-US" sz="1000" u="none" cap="none" strike="noStrike">
                <a:solidFill>
                  <a:srgbClr val="1E293B"/>
                </a:solidFill>
                <a:latin typeface="Noto Sans"/>
                <a:ea typeface="Noto Sans"/>
                <a:cs typeface="Noto Sans"/>
                <a:sym typeface="Noto Sans"/>
              </a:rPr>
              <a:t>5 大技能相輔相成：先規劃策略、再產出冒煙、擴展至高負載與前端渲染，建構全視角壓測工程！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無論面對單純 REST API 還是複雜前後端混合流程，均有專門預設最佳實踐的技能包即刻就緒支援。</a:t>
            </a:r>
            <a:endParaRPr/>
          </a:p>
        </p:txBody>
      </p:sp>
      <p:pic>
        <p:nvPicPr>
          <p:cNvPr descr="k6_grafana_full_branding.png" id="219" name="Google Shape;21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95813" y="7643812"/>
            <a:ext cx="3898604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5">
            <a:hlinkClick r:id="rId4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109725" spcFirstLastPara="1" rIns="1097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Noto Sans"/>
                <a:ea typeface="Noto Sans"/>
                <a:cs typeface="Noto Sans"/>
                <a:sym typeface="Noto Sans"/>
              </a:rPr>
              <a:t>▶ 課程實戰 Codelabs：</a:t>
            </a:r>
            <a:r>
              <a:rPr b="0" i="0" lang="en-US" sz="850" u="none" cap="none" strike="noStrike">
                <a:solidFill>
                  <a:srgbClr val="2563EB"/>
                </a:solidFill>
                <a:latin typeface="Noto Sans"/>
                <a:ea typeface="Noto Sans"/>
                <a:cs typeface="Noto Sans"/>
                <a:sym typeface="Noto Sans"/>
              </a:rPr>
              <a:t>tedmax100.github.io/o11y_lab_for_dummies/k6-performance-testing/</a:t>
            </a:r>
            <a:endParaRPr/>
          </a:p>
        </p:txBody>
      </p:sp>
      <p:sp>
        <p:nvSpPr>
          <p:cNvPr id="221" name="Codelabs_Link_Badge">
            <a:hlinkClick r:id="rId4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/>
            <a:r>
              <a:rPr sz="850" b="1">
                <a:solidFill>
                  <a:srgbClr val="334155"/>
                </a:solidFill>
                <a:latin typeface="Noto Sans CJK TC"/>
              </a:rPr>
              <a:t>▶ 課程實戰 Codelabs：</a:t>
            </a:r>
            <a:r>
              <a:rPr sz="850" b="0">
                <a:solidFill>
                  <a:srgbClr val="4F46E5"/>
                </a:solidFill>
                <a:latin typeface="Noto Sans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"/>
          <p:cNvSpPr/>
          <p:nvPr/>
        </p:nvSpPr>
        <p:spPr>
          <a:xfrm>
            <a:off x="0" y="0"/>
            <a:ext cx="16256100" cy="91440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 txBox="1"/>
          <p:nvPr/>
        </p:nvSpPr>
        <p:spPr>
          <a:xfrm>
            <a:off x="666750" y="400050"/>
            <a:ext cx="149256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>
                <a:solidFill>
                  <a:srgbClr val="0F172A"/>
                </a:solidFill>
                <a:latin typeface="Noto Sans ExtraBold"/>
                <a:ea typeface="Noto Sans ExtraBold"/>
                <a:cs typeface="Noto Sans ExtraBold"/>
                <a:sym typeface="Noto Sans ExtraBold"/>
              </a:rPr>
              <a:t>企業導入實作 Checklist：AI 壓測工程化最佳實踐</a:t>
            </a:r>
            <a:endParaRPr b="0" sz="2600">
              <a:solidFill>
                <a:srgbClr val="0F172A"/>
              </a:solidFill>
              <a:latin typeface="Noto Sans ExtraBold"/>
              <a:ea typeface="Noto Sans ExtraBold"/>
              <a:cs typeface="Noto Sans ExtraBold"/>
              <a:sym typeface="Noto Sans ExtraBold"/>
            </a:endParaRPr>
          </a:p>
        </p:txBody>
      </p:sp>
      <p:sp>
        <p:nvSpPr>
          <p:cNvPr id="227" name="Google Shape;227;p6"/>
          <p:cNvSpPr txBox="1"/>
          <p:nvPr/>
        </p:nvSpPr>
        <p:spPr>
          <a:xfrm>
            <a:off x="666750" y="876300"/>
            <a:ext cx="149256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將 AI Agent 融入團隊研發管線、建立腳本審計、記憶體防護與閉環自癒機制</a:t>
            </a:r>
            <a:endParaRPr b="0" sz="1200">
              <a:solidFill>
                <a:srgbClr val="64748B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666750" y="1352550"/>
            <a:ext cx="7286700" cy="57300"/>
          </a:xfrm>
          <a:prstGeom prst="roundRect">
            <a:avLst>
              <a:gd fmla="val 5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666750" y="1352550"/>
            <a:ext cx="7286700" cy="3000300"/>
          </a:xfrm>
          <a:prstGeom prst="roundRect">
            <a:avLst>
              <a:gd fmla="val 634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6"/>
          <p:cNvSpPr txBox="1"/>
          <p:nvPr/>
        </p:nvSpPr>
        <p:spPr>
          <a:xfrm>
            <a:off x="904875" y="1543050"/>
            <a:ext cx="6810300" cy="1169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4F46E5"/>
                </a:solidFill>
                <a:latin typeface="Noto Sans"/>
                <a:ea typeface="Noto Sans"/>
                <a:cs typeface="Noto Sans"/>
                <a:sym typeface="Noto Sans"/>
              </a:rPr>
              <a:t>配置治理與團隊協作 </a:t>
            </a:r>
            <a:r>
              <a:rPr b="0" lang="en-US" sz="1050">
                <a:solidFill>
                  <a:srgbClr val="64748B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(Configuration Governance)</a:t>
            </a:r>
            <a:endParaRPr sz="1000">
              <a:solidFill>
                <a:srgbClr val="1E293B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4F46E5"/>
                </a:solidFill>
                <a:latin typeface="Noto Sans"/>
                <a:ea typeface="Noto Sans"/>
                <a:cs typeface="Noto Sans"/>
                <a:sym typeface="Noto Sans"/>
              </a:rPr>
              <a:t>• Git 版本控管審計：</a:t>
            </a:r>
            <a:r>
              <a:rPr lang="en-US" sz="100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將 .cursor/rules 或 CLAUDE.md 納入 Git 版控，全團隊共享統一壓測標準。</a:t>
            </a:r>
            <a:endParaRPr sz="1000">
              <a:solidFill>
                <a:srgbClr val="1E293B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4F46E5"/>
                </a:solidFill>
                <a:latin typeface="Noto Sans"/>
                <a:ea typeface="Noto Sans"/>
                <a:cs typeface="Noto Sans"/>
                <a:sym typeface="Noto Sans"/>
              </a:rPr>
              <a:t>• 環境敏感資訊分離：</a:t>
            </a:r>
            <a:r>
              <a:rPr lang="en-US" sz="100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Token 與私有 API 網址透過環境變數注入，嚴禁寫入 AI 規則或公開設定。</a:t>
            </a:r>
            <a:endParaRPr sz="1000">
              <a:solidFill>
                <a:srgbClr val="1E293B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4F46E5"/>
                </a:solidFill>
                <a:latin typeface="Noto Sans"/>
                <a:ea typeface="Noto Sans"/>
                <a:cs typeface="Noto Sans"/>
                <a:sym typeface="Noto Sans"/>
              </a:rPr>
              <a:t>• 跨編輯器配置同步：</a:t>
            </a:r>
            <a:r>
              <a:rPr lang="en-US" sz="100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定期執行 k6 x agent init --all，確保跨職能開發者在不同工具間體驗對齊。</a:t>
            </a:r>
            <a:endParaRPr sz="1000">
              <a:solidFill>
                <a:srgbClr val="1E293B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4F46E5"/>
                </a:solidFill>
                <a:latin typeface="Noto Sans"/>
                <a:ea typeface="Noto Sans"/>
                <a:cs typeface="Noto Sans"/>
                <a:sym typeface="Noto Sans"/>
              </a:rPr>
              <a:t>• CI/CD 狀態檢核：</a:t>
            </a:r>
            <a:r>
              <a:rPr lang="en-US" sz="100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在 CI Pipeline 整合 k6 x agent status，確保 Runner 環境與本地配置一致。</a:t>
            </a:r>
            <a:endParaRPr sz="1000">
              <a:solidFill>
                <a:srgbClr val="1E293B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8305800" y="1352550"/>
            <a:ext cx="7286700" cy="57300"/>
          </a:xfrm>
          <a:prstGeom prst="roundRect">
            <a:avLst>
              <a:gd fmla="val 50000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8305800" y="1352550"/>
            <a:ext cx="7286700" cy="3000300"/>
          </a:xfrm>
          <a:prstGeom prst="roundRect">
            <a:avLst>
              <a:gd fmla="val 634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6"/>
          <p:cNvSpPr txBox="1"/>
          <p:nvPr/>
        </p:nvSpPr>
        <p:spPr>
          <a:xfrm>
            <a:off x="8543925" y="1543050"/>
            <a:ext cx="6810300" cy="1169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59669"/>
                </a:solidFill>
                <a:latin typeface="Noto Sans"/>
                <a:ea typeface="Noto Sans"/>
                <a:cs typeface="Noto Sans"/>
                <a:sym typeface="Noto Sans"/>
              </a:rPr>
              <a:t>AI 閉環自癒工程 </a:t>
            </a:r>
            <a:r>
              <a:rPr b="0" lang="en-US" sz="1050">
                <a:solidFill>
                  <a:srgbClr val="64748B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(Agentic Self-Healing Loop)</a:t>
            </a:r>
            <a:endParaRPr sz="1000">
              <a:solidFill>
                <a:srgbClr val="1E293B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59669"/>
                </a:solidFill>
                <a:latin typeface="Noto Sans"/>
                <a:ea typeface="Noto Sans"/>
                <a:cs typeface="Noto Sans"/>
                <a:sym typeface="Noto Sans"/>
              </a:rPr>
              <a:t>• AST 靜態語法預檢：</a:t>
            </a:r>
            <a:r>
              <a:rPr lang="en-US" sz="100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生成腳本後，AI 必須自動調用 validate_script 抓出未定義變數與生命週期錯誤。</a:t>
            </a:r>
            <a:endParaRPr sz="1000">
              <a:solidFill>
                <a:srgbClr val="1E293B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59669"/>
                </a:solidFill>
                <a:latin typeface="Noto Sans"/>
                <a:ea typeface="Noto Sans"/>
                <a:cs typeface="Noto Sans"/>
                <a:sym typeface="Noto Sans"/>
              </a:rPr>
              <a:t>• 1 VU 冒煙閉環先驗：</a:t>
            </a:r>
            <a:r>
              <a:rPr lang="en-US" sz="100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嚴格落實「大併發前先跑 1 VU 冒煙」，確認 HTTP 200 與 check 通過再壓測。</a:t>
            </a:r>
            <a:endParaRPr sz="1000">
              <a:solidFill>
                <a:srgbClr val="1E293B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59669"/>
                </a:solidFill>
                <a:latin typeface="Noto Sans"/>
                <a:ea typeface="Noto Sans"/>
                <a:cs typeface="Noto Sans"/>
                <a:sym typeface="Noto Sans"/>
              </a:rPr>
              <a:t>• 日誌結構化解析：</a:t>
            </a:r>
            <a:r>
              <a:rPr lang="en-US" sz="100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AI 讀取 k6 終端報錯（如 401 Unauthorized、Thresholds 破功），自主迭代修正。</a:t>
            </a:r>
            <a:endParaRPr sz="1000">
              <a:solidFill>
                <a:srgbClr val="1E293B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59669"/>
                </a:solidFill>
                <a:latin typeface="Noto Sans"/>
                <a:ea typeface="Noto Sans"/>
                <a:cs typeface="Noto Sans"/>
                <a:sym typeface="Noto Sans"/>
              </a:rPr>
              <a:t>• 減少手動排錯成本：</a:t>
            </a:r>
            <a:r>
              <a:rPr lang="en-US" sz="100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將傳統手動除錯 30 分鐘流程縮短為秒級 AI 閉環自癒，大幅加速交付。</a:t>
            </a:r>
            <a:endParaRPr sz="1000">
              <a:solidFill>
                <a:srgbClr val="1E293B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666750" y="4495800"/>
            <a:ext cx="7286700" cy="57300"/>
          </a:xfrm>
          <a:prstGeom prst="roundRect">
            <a:avLst>
              <a:gd fmla="val 50000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"/>
          <p:cNvSpPr/>
          <p:nvPr/>
        </p:nvSpPr>
        <p:spPr>
          <a:xfrm>
            <a:off x="666750" y="4495800"/>
            <a:ext cx="7286700" cy="3000300"/>
          </a:xfrm>
          <a:prstGeom prst="roundRect">
            <a:avLst>
              <a:gd fmla="val 634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"/>
          <p:cNvSpPr txBox="1"/>
          <p:nvPr/>
        </p:nvSpPr>
        <p:spPr>
          <a:xfrm>
            <a:off x="904875" y="4686300"/>
            <a:ext cx="6810300" cy="1169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D97706"/>
                </a:solidFill>
                <a:latin typeface="Noto Sans"/>
                <a:ea typeface="Noto Sans"/>
                <a:cs typeface="Noto Sans"/>
                <a:sym typeface="Noto Sans"/>
              </a:rPr>
              <a:t>高基數記憶體爆炸防護 </a:t>
            </a:r>
            <a:r>
              <a:rPr b="0" lang="en-US" sz="1050">
                <a:solidFill>
                  <a:srgbClr val="64748B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(Memory Leak Prevention)</a:t>
            </a:r>
            <a:endParaRPr sz="1000">
              <a:solidFill>
                <a:srgbClr val="1E293B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D97706"/>
                </a:solidFill>
                <a:latin typeface="Noto Sans"/>
                <a:ea typeface="Noto Sans"/>
                <a:cs typeface="Noto Sans"/>
                <a:sym typeface="Noto Sans"/>
              </a:rPr>
              <a:t>• 強制 http.url 標籤：</a:t>
            </a:r>
            <a:r>
              <a:rPr lang="en-US" sz="100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AI 技能規則嚴格禁止以模板字串拼接動態 ID（如 /users/${id}）。</a:t>
            </a:r>
            <a:endParaRPr sz="1000">
              <a:solidFill>
                <a:srgbClr val="1E293B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D97706"/>
                </a:solidFill>
                <a:latin typeface="Noto Sans"/>
                <a:ea typeface="Noto Sans"/>
                <a:cs typeface="Noto Sans"/>
                <a:sym typeface="Noto Sans"/>
              </a:rPr>
              <a:t>• 防範維度爆炸 (OOM)：</a:t>
            </a:r>
            <a:r>
              <a:rPr lang="en-US" sz="100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動態端點強制經由 http.url 標籤函數聚合，阻斷 Prometheus 時間序列爆炸。</a:t>
            </a:r>
            <a:endParaRPr sz="1000">
              <a:solidFill>
                <a:srgbClr val="1E293B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D97706"/>
                </a:solidFill>
                <a:latin typeface="Noto Sans"/>
                <a:ea typeface="Noto Sans"/>
                <a:cs typeface="Noto Sans"/>
                <a:sym typeface="Noto Sans"/>
              </a:rPr>
              <a:t>• SharedArray 記憶體優化：</a:t>
            </a:r>
            <a:r>
              <a:rPr lang="en-US" sz="100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大量測試帳號與參數強制使用 SharedArray 載入，跨 VU 共享不膨脹。</a:t>
            </a:r>
            <a:endParaRPr sz="1000">
              <a:solidFill>
                <a:srgbClr val="1E293B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D97706"/>
                </a:solidFill>
                <a:latin typeface="Noto Sans"/>
                <a:ea typeface="Noto Sans"/>
                <a:cs typeface="Noto Sans"/>
                <a:sym typeface="Noto Sans"/>
              </a:rPr>
              <a:t>• 資源洩漏軍規防護：</a:t>
            </a:r>
            <a:r>
              <a:rPr lang="en-US" sz="100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前端瀏覽器測試強制包含 finally { await page.close() }，避免殭屍行程。</a:t>
            </a:r>
            <a:endParaRPr sz="1000">
              <a:solidFill>
                <a:srgbClr val="1E293B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8305800" y="4495800"/>
            <a:ext cx="7286700" cy="573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8305800" y="4495800"/>
            <a:ext cx="7286700" cy="3000300"/>
          </a:xfrm>
          <a:prstGeom prst="roundRect">
            <a:avLst>
              <a:gd fmla="val 634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"/>
          <p:cNvSpPr txBox="1"/>
          <p:nvPr/>
        </p:nvSpPr>
        <p:spPr>
          <a:xfrm>
            <a:off x="8543925" y="4686300"/>
            <a:ext cx="6810300" cy="1169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2563EB"/>
                </a:solidFill>
                <a:latin typeface="Noto Sans"/>
                <a:ea typeface="Noto Sans"/>
                <a:cs typeface="Noto Sans"/>
                <a:sym typeface="Noto Sans"/>
              </a:rPr>
              <a:t>官方生態系資源與持續演進 </a:t>
            </a:r>
            <a:r>
              <a:rPr b="0" lang="en-US" sz="1050">
                <a:solidFill>
                  <a:srgbClr val="64748B"/>
                </a:solidFill>
                <a:latin typeface="Noto Sans Medium"/>
                <a:ea typeface="Noto Sans Medium"/>
                <a:cs typeface="Noto Sans Medium"/>
                <a:sym typeface="Noto Sans Medium"/>
              </a:rPr>
              <a:t>(Official Ecosystem)</a:t>
            </a:r>
            <a:endParaRPr sz="1000">
              <a:solidFill>
                <a:srgbClr val="1E293B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563EB"/>
                </a:solidFill>
                <a:latin typeface="Noto Sans"/>
                <a:ea typeface="Noto Sans"/>
                <a:cs typeface="Noto Sans"/>
                <a:sym typeface="Noto Sans"/>
              </a:rPr>
              <a:t>• GitHub 官方開源專案：</a:t>
            </a:r>
            <a:r>
              <a:rPr lang="en-US" sz="1000" u="sng">
                <a:solidFill>
                  <a:srgbClr val="2563EB"/>
                </a:solidFill>
                <a:latin typeface="Noto Sans"/>
                <a:ea typeface="Noto Sans"/>
                <a:cs typeface="Noto Sans"/>
                <a:sym typeface="Noto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xk6-subcommand-agent</a:t>
            </a:r>
            <a:r>
              <a:rPr lang="en-US" sz="100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 (開源倉庫與社群支援)</a:t>
            </a:r>
            <a:endParaRPr sz="1000">
              <a:solidFill>
                <a:srgbClr val="1E293B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563EB"/>
                </a:solidFill>
                <a:latin typeface="Noto Sans"/>
                <a:ea typeface="Noto Sans"/>
                <a:cs typeface="Noto Sans"/>
                <a:sym typeface="Noto Sans"/>
              </a:rPr>
              <a:t>• Grafana 官方配置指南：</a:t>
            </a:r>
            <a:r>
              <a:rPr lang="en-US" sz="1000" u="sng">
                <a:solidFill>
                  <a:srgbClr val="2563EB"/>
                </a:solidFill>
                <a:latin typeface="Noto Sans"/>
                <a:ea typeface="Noto Sans"/>
                <a:cs typeface="Noto Sans"/>
                <a:sym typeface="Noto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bootstrap-with-k6-x-agent</a:t>
            </a:r>
            <a:endParaRPr sz="1000">
              <a:solidFill>
                <a:srgbClr val="1E293B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563EB"/>
                </a:solidFill>
                <a:latin typeface="Noto Sans"/>
                <a:ea typeface="Noto Sans"/>
                <a:cs typeface="Noto Sans"/>
                <a:sym typeface="Noto Sans"/>
              </a:rPr>
              <a:t>• 定期顯式更新升級：</a:t>
            </a:r>
            <a:r>
              <a:rPr lang="en-US" sz="100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每季執行 k6 x agent init --force，同步 Grafana 官方最新進化技能包。</a:t>
            </a:r>
            <a:endParaRPr sz="1000">
              <a:solidFill>
                <a:srgbClr val="1E293B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563EB"/>
                </a:solidFill>
                <a:latin typeface="Noto Sans"/>
                <a:ea typeface="Noto Sans"/>
                <a:cs typeface="Noto Sans"/>
                <a:sym typeface="Noto Sans"/>
              </a:rPr>
              <a:t>• 無縫銜接可觀測性：</a:t>
            </a:r>
            <a:r>
              <a:rPr lang="en-US" sz="100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搭配 Chapter 5 的 Prometheus Remote Write 與 Grafana Dashboard 達成全鏈路監控。</a:t>
            </a:r>
            <a:endParaRPr sz="1000">
              <a:solidFill>
                <a:srgbClr val="1E293B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666750" y="7667625"/>
            <a:ext cx="10810800" cy="904800"/>
          </a:xfrm>
          <a:prstGeom prst="roundRect">
            <a:avLst>
              <a:gd fmla="val 1684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6"/>
          <p:cNvSpPr txBox="1"/>
          <p:nvPr/>
        </p:nvSpPr>
        <p:spPr>
          <a:xfrm>
            <a:off x="857250" y="7781925"/>
            <a:ext cx="10429800" cy="3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4F46E5"/>
                </a:solidFill>
                <a:latin typeface="Noto Sans"/>
                <a:ea typeface="Noto Sans"/>
                <a:cs typeface="Noto Sans"/>
                <a:sym typeface="Noto Sans"/>
              </a:rPr>
              <a:t>【最佳實踐】 </a:t>
            </a:r>
            <a:r>
              <a:rPr b="1" lang="en-US" sz="1000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遵循上述 Checklist，讓 AI Agent 成為團隊中可靠、安全且高效的效能測試工程夥伴！</a:t>
            </a:r>
            <a:endParaRPr b="1" sz="1000">
              <a:solidFill>
                <a:srgbClr val="4F46E5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結合版本控管、高基數防護、閉環預檢與官方生態演進，建構可持續長久運行的工程化壓測體系。</a:t>
            </a:r>
            <a:endParaRPr sz="950">
              <a:solidFill>
                <a:srgbClr val="475569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242" name="Google Shape;242;p6"/>
          <p:cNvPicPr preferRelativeResize="0"/>
          <p:nvPr/>
        </p:nvPicPr>
        <p:blipFill rotWithShape="1">
          <a:blip r:embed="rId5">
            <a:alphaModFix/>
          </a:blip>
          <a:srcRect b="3652" l="0" r="0" t="3661"/>
          <a:stretch/>
        </p:blipFill>
        <p:spPr>
          <a:xfrm>
            <a:off x="11668125" y="7667625"/>
            <a:ext cx="3905400" cy="9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6">
            <a:hlinkClick r:id="rId6"/>
          </p:cNvPr>
          <p:cNvSpPr/>
          <p:nvPr/>
        </p:nvSpPr>
        <p:spPr>
          <a:xfrm>
            <a:off x="666750" y="8743950"/>
            <a:ext cx="60960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13335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▶ 課程實戰 Codelabs：</a:t>
            </a:r>
            <a:r>
              <a:rPr b="0" lang="en-US" sz="850">
                <a:solidFill>
                  <a:srgbClr val="2563EB"/>
                </a:solidFill>
                <a:latin typeface="Noto Sans"/>
                <a:ea typeface="Noto Sans"/>
                <a:cs typeface="Noto Sans"/>
                <a:sym typeface="Noto Sans"/>
              </a:rPr>
              <a:t>tedmax100.github.io/o11y_lab_for_dummies/k6-performance-testing/</a:t>
            </a:r>
            <a:endParaRPr b="1" sz="850">
              <a:solidFill>
                <a:srgbClr val="0F172A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4" name="Codelabs_Link_Badge">
            <a:hlinkClick r:id="rId6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/>
            <a:r>
              <a:rPr sz="850" b="1">
                <a:solidFill>
                  <a:srgbClr val="334155"/>
                </a:solidFill>
                <a:latin typeface="Noto Sans CJK TC"/>
              </a:rPr>
              <a:t>▶ 課程實戰 Codelabs：</a:t>
            </a:r>
            <a:r>
              <a:rPr sz="850" b="0">
                <a:solidFill>
                  <a:srgbClr val="4F46E5"/>
                </a:solidFill>
                <a:latin typeface="Noto Sans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"/>
          <p:cNvSpPr/>
          <p:nvPr/>
        </p:nvSpPr>
        <p:spPr>
          <a:xfrm>
            <a:off x="0" y="0"/>
            <a:ext cx="16256100" cy="91440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 txBox="1"/>
          <p:nvPr/>
        </p:nvSpPr>
        <p:spPr>
          <a:xfrm>
            <a:off x="661581" y="381000"/>
            <a:ext cx="1493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F172A"/>
                </a:solidFill>
                <a:latin typeface="Noto Sans"/>
                <a:ea typeface="Noto Sans"/>
                <a:cs typeface="Noto Sans"/>
                <a:sym typeface="Noto Sans"/>
              </a:rPr>
              <a:t>隨堂實作練習指引：AI 輔助壓測三部曲</a:t>
            </a:r>
            <a:endParaRPr/>
          </a:p>
        </p:txBody>
      </p:sp>
      <p:sp>
        <p:nvSpPr>
          <p:cNvPr id="250" name="Google Shape;250;p7"/>
          <p:cNvSpPr txBox="1"/>
          <p:nvPr/>
        </p:nvSpPr>
        <p:spPr>
          <a:xfrm>
            <a:off x="661581" y="904875"/>
            <a:ext cx="14932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Noto Sans"/>
                <a:ea typeface="Noto Sans"/>
                <a:cs typeface="Noto Sans"/>
                <a:sym typeface="Noto Sans"/>
              </a:rPr>
              <a:t>請依序完成三大實戰任務，親身體驗 k6 x agent 的一鍵配置與 AI 輔助壓測閉環</a:t>
            </a:r>
            <a:endParaRPr/>
          </a:p>
        </p:txBody>
      </p:sp>
      <p:grpSp>
        <p:nvGrpSpPr>
          <p:cNvPr id="251" name="Google Shape;251;p7"/>
          <p:cNvGrpSpPr/>
          <p:nvPr/>
        </p:nvGrpSpPr>
        <p:grpSpPr>
          <a:xfrm>
            <a:off x="666750" y="1381125"/>
            <a:ext cx="14382750" cy="6048300"/>
            <a:chOff x="666750" y="1381125"/>
            <a:chExt cx="14382750" cy="6048300"/>
          </a:xfrm>
        </p:grpSpPr>
        <p:grpSp>
          <p:nvGrpSpPr>
            <p:cNvPr id="252" name="Google Shape;252;p7"/>
            <p:cNvGrpSpPr/>
            <p:nvPr/>
          </p:nvGrpSpPr>
          <p:grpSpPr>
            <a:xfrm>
              <a:off x="666750" y="1381125"/>
              <a:ext cx="4572000" cy="6048300"/>
              <a:chOff x="0" y="0"/>
              <a:chExt cx="4572000" cy="6048300"/>
            </a:xfrm>
          </p:grpSpPr>
          <p:sp>
            <p:nvSpPr>
              <p:cNvPr id="253" name="Google Shape;253;p7"/>
              <p:cNvSpPr/>
              <p:nvPr/>
            </p:nvSpPr>
            <p:spPr>
              <a:xfrm>
                <a:off x="0" y="0"/>
                <a:ext cx="4572000" cy="6048300"/>
              </a:xfrm>
              <a:prstGeom prst="roundRect">
                <a:avLst>
                  <a:gd fmla="val 4166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7"/>
              <p:cNvSpPr/>
              <p:nvPr/>
            </p:nvSpPr>
            <p:spPr>
              <a:xfrm>
                <a:off x="0" y="0"/>
                <a:ext cx="45720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4F46E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55" name="Google Shape;255;p7"/>
              <p:cNvGrpSpPr/>
              <p:nvPr/>
            </p:nvGrpSpPr>
            <p:grpSpPr>
              <a:xfrm>
                <a:off x="238125" y="228600"/>
                <a:ext cx="723900" cy="228600"/>
                <a:chOff x="0" y="0"/>
                <a:chExt cx="723900" cy="228600"/>
              </a:xfrm>
            </p:grpSpPr>
            <p:sp>
              <p:nvSpPr>
                <p:cNvPr id="256" name="Google Shape;256;p7"/>
                <p:cNvSpPr/>
                <p:nvPr/>
              </p:nvSpPr>
              <p:spPr>
                <a:xfrm>
                  <a:off x="0" y="0"/>
                  <a:ext cx="723900" cy="2286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EEF2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7" name="Google Shape;257;p7"/>
                <p:cNvSpPr txBox="1"/>
                <p:nvPr/>
              </p:nvSpPr>
              <p:spPr>
                <a:xfrm>
                  <a:off x="0" y="0"/>
                  <a:ext cx="723900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850">
                      <a:solidFill>
                        <a:srgbClr val="4F46E5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STEP 01</a:t>
                  </a:r>
                  <a:endParaRPr b="1" sz="850">
                    <a:solidFill>
                      <a:srgbClr val="4F46E5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  <p:sp>
            <p:nvSpPr>
              <p:cNvPr id="258" name="Google Shape;258;p7"/>
              <p:cNvSpPr txBox="1"/>
              <p:nvPr/>
            </p:nvSpPr>
            <p:spPr>
              <a:xfrm>
                <a:off x="238125" y="571500"/>
                <a:ext cx="4095900" cy="10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F172A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任務一：一鍵初始化本地 AI 編輯器與狀態檢核</a:t>
                </a:r>
                <a:endParaRPr b="1" sz="1300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目標：為你的主力編輯器（例如 Cursor 或 Claude Code）配置 k6 技能與 MCP 伺服器，並驗證連線健康度。</a:t>
                </a:r>
                <a:endParaRPr b="0" sz="95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  <p:grpSp>
            <p:nvGrpSpPr>
              <p:cNvPr id="259" name="Google Shape;259;p7"/>
              <p:cNvGrpSpPr/>
              <p:nvPr/>
            </p:nvGrpSpPr>
            <p:grpSpPr>
              <a:xfrm>
                <a:off x="238125" y="1762125"/>
                <a:ext cx="4095900" cy="2476500"/>
                <a:chOff x="0" y="0"/>
                <a:chExt cx="4095900" cy="2476500"/>
              </a:xfrm>
            </p:grpSpPr>
            <p:sp>
              <p:nvSpPr>
                <p:cNvPr id="260" name="Google Shape;260;p7"/>
                <p:cNvSpPr/>
                <p:nvPr/>
              </p:nvSpPr>
              <p:spPr>
                <a:xfrm>
                  <a:off x="0" y="0"/>
                  <a:ext cx="4095900" cy="2476500"/>
                </a:xfrm>
                <a:prstGeom prst="roundRect">
                  <a:avLst>
                    <a:gd fmla="val 4615" name="adj"/>
                  </a:avLst>
                </a:prstGeom>
                <a:solidFill>
                  <a:srgbClr val="0F172A"/>
                </a:solidFill>
                <a:ln cap="flat" cmpd="sng" w="9525">
                  <a:solidFill>
                    <a:srgbClr val="33415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1" name="Google Shape;261;p7"/>
                <p:cNvSpPr txBox="1"/>
                <p:nvPr/>
              </p:nvSpPr>
              <p:spPr>
                <a:xfrm>
                  <a:off x="152400" y="133350"/>
                  <a:ext cx="3791100" cy="2209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50">
                      <a:solidFill>
                        <a:srgbClr val="64748B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● ● ●  </a:t>
                  </a:r>
                  <a:r>
                    <a:rPr lang="en-US" sz="850">
                      <a:solidFill>
                        <a:srgbClr val="94A3B8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實戰指令</a:t>
                  </a:r>
                  <a:endParaRPr sz="850">
                    <a:solidFill>
                      <a:srgbClr val="64748B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  <a:p>
                  <a:pPr indent="0" lvl="0" marL="0" rtl="0" algn="l">
                    <a:spcBef>
                      <a:spcPts val="900"/>
                    </a:spcBef>
                    <a:spcAft>
                      <a:spcPts val="0"/>
                    </a:spcAft>
                    <a:buNone/>
                  </a:pPr>
                  <a:r>
                    <a:rPr b="1" lang="en-US" sz="850">
                      <a:solidFill>
                        <a:srgbClr val="38BDF8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$ k6 x agent init cursor</a:t>
                  </a:r>
                  <a:endParaRPr b="1" sz="850">
                    <a:solidFill>
                      <a:srgbClr val="38BDF8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lang="en-US" sz="800">
                      <a:solidFill>
                        <a:srgbClr val="64748B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# 初始化 Cursor (或改用 claude-code)</a:t>
                  </a:r>
                  <a:endParaRPr sz="800">
                    <a:solidFill>
                      <a:srgbClr val="64748B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  <a:p>
                  <a:pPr indent="0" lvl="0" marL="0" rtl="0" algn="l">
                    <a:spcBef>
                      <a:spcPts val="1050"/>
                    </a:spcBef>
                    <a:spcAft>
                      <a:spcPts val="0"/>
                    </a:spcAft>
                    <a:buNone/>
                  </a:pPr>
                  <a:r>
                    <a:rPr b="1" lang="en-US" sz="850">
                      <a:solidFill>
                        <a:srgbClr val="38BDF8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$ k6 x agent status</a:t>
                  </a:r>
                  <a:endParaRPr b="1" sz="850">
                    <a:solidFill>
                      <a:srgbClr val="38BDF8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lang="en-US" sz="800">
                      <a:solidFill>
                        <a:srgbClr val="64748B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# 檢查 MCP 伺服器連線狀態與 5 大技能清單</a:t>
                  </a:r>
                  <a:endParaRPr sz="800">
                    <a:solidFill>
                      <a:srgbClr val="64748B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</p:grpSp>
          <p:grpSp>
            <p:nvGrpSpPr>
              <p:cNvPr id="262" name="Google Shape;262;p7"/>
              <p:cNvGrpSpPr/>
              <p:nvPr/>
            </p:nvGrpSpPr>
            <p:grpSpPr>
              <a:xfrm>
                <a:off x="238125" y="4381500"/>
                <a:ext cx="4095900" cy="1428900"/>
                <a:chOff x="0" y="0"/>
                <a:chExt cx="4095900" cy="1428900"/>
              </a:xfrm>
            </p:grpSpPr>
            <p:sp>
              <p:nvSpPr>
                <p:cNvPr id="263" name="Google Shape;263;p7"/>
                <p:cNvSpPr/>
                <p:nvPr/>
              </p:nvSpPr>
              <p:spPr>
                <a:xfrm>
                  <a:off x="0" y="0"/>
                  <a:ext cx="4095900" cy="1428900"/>
                </a:xfrm>
                <a:prstGeom prst="roundRect">
                  <a:avLst>
                    <a:gd fmla="val 6666" name="adj"/>
                  </a:avLst>
                </a:prstGeom>
                <a:solidFill>
                  <a:srgbClr val="F8FAFC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" name="Google Shape;264;p7"/>
                <p:cNvSpPr txBox="1"/>
                <p:nvPr/>
              </p:nvSpPr>
              <p:spPr>
                <a:xfrm>
                  <a:off x="152400" y="133350"/>
                  <a:ext cx="3791100" cy="1162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950">
                      <a:solidFill>
                        <a:srgbClr val="166534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✅ 驗證標準</a:t>
                  </a:r>
                  <a:endParaRPr b="1" sz="950">
                    <a:solidFill>
                      <a:srgbClr val="166534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45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rgbClr val="334155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.cursor/rules/ 下成功產生 5 個 .mdc 規則檔，且 .cursor/mcp.json 正確註冊 k6 x mcp。</a:t>
                  </a:r>
                  <a:endParaRPr sz="900">
                    <a:solidFill>
                      <a:srgbClr val="334155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</p:grpSp>
        <p:grpSp>
          <p:nvGrpSpPr>
            <p:cNvPr id="265" name="Google Shape;265;p7"/>
            <p:cNvGrpSpPr/>
            <p:nvPr/>
          </p:nvGrpSpPr>
          <p:grpSpPr>
            <a:xfrm>
              <a:off x="5572125" y="1381125"/>
              <a:ext cx="4572000" cy="6048300"/>
              <a:chOff x="0" y="0"/>
              <a:chExt cx="4572000" cy="6048300"/>
            </a:xfrm>
          </p:grpSpPr>
          <p:sp>
            <p:nvSpPr>
              <p:cNvPr id="266" name="Google Shape;266;p7"/>
              <p:cNvSpPr/>
              <p:nvPr/>
            </p:nvSpPr>
            <p:spPr>
              <a:xfrm>
                <a:off x="0" y="0"/>
                <a:ext cx="4572000" cy="6048300"/>
              </a:xfrm>
              <a:prstGeom prst="roundRect">
                <a:avLst>
                  <a:gd fmla="val 4166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7"/>
              <p:cNvSpPr/>
              <p:nvPr/>
            </p:nvSpPr>
            <p:spPr>
              <a:xfrm>
                <a:off x="0" y="0"/>
                <a:ext cx="45720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05966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68" name="Google Shape;268;p7"/>
              <p:cNvGrpSpPr/>
              <p:nvPr/>
            </p:nvGrpSpPr>
            <p:grpSpPr>
              <a:xfrm>
                <a:off x="238125" y="228600"/>
                <a:ext cx="723900" cy="228600"/>
                <a:chOff x="0" y="0"/>
                <a:chExt cx="723900" cy="228600"/>
              </a:xfrm>
            </p:grpSpPr>
            <p:sp>
              <p:nvSpPr>
                <p:cNvPr id="269" name="Google Shape;269;p7"/>
                <p:cNvSpPr/>
                <p:nvPr/>
              </p:nvSpPr>
              <p:spPr>
                <a:xfrm>
                  <a:off x="0" y="0"/>
                  <a:ext cx="723900" cy="2286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ECFDF5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0" name="Google Shape;270;p7"/>
                <p:cNvSpPr txBox="1"/>
                <p:nvPr/>
              </p:nvSpPr>
              <p:spPr>
                <a:xfrm>
                  <a:off x="0" y="0"/>
                  <a:ext cx="723900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850">
                      <a:solidFill>
                        <a:srgbClr val="059669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STEP 02</a:t>
                  </a:r>
                  <a:endParaRPr b="1" sz="850">
                    <a:solidFill>
                      <a:srgbClr val="059669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  <p:sp>
            <p:nvSpPr>
              <p:cNvPr id="271" name="Google Shape;271;p7"/>
              <p:cNvSpPr txBox="1"/>
              <p:nvPr/>
            </p:nvSpPr>
            <p:spPr>
              <a:xfrm>
                <a:off x="238125" y="571500"/>
                <a:ext cx="4095900" cy="10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F172A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任務二：AI 逆向生成 QuickPizza 冒煙測試並閉環自癒</a:t>
                </a:r>
                <a:endParaRPr b="1" sz="1300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目標：利用內建 k6-smoke-test 技能與 MCP 工具，逆向生成冒煙測試並由 AI 本機跑通 1 VU 冒煙。</a:t>
                </a:r>
                <a:endParaRPr b="0" sz="95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  <p:grpSp>
            <p:nvGrpSpPr>
              <p:cNvPr id="272" name="Google Shape;272;p7"/>
              <p:cNvGrpSpPr/>
              <p:nvPr/>
            </p:nvGrpSpPr>
            <p:grpSpPr>
              <a:xfrm>
                <a:off x="238125" y="1762125"/>
                <a:ext cx="4095900" cy="2476500"/>
                <a:chOff x="0" y="0"/>
                <a:chExt cx="4095900" cy="2476500"/>
              </a:xfrm>
            </p:grpSpPr>
            <p:sp>
              <p:nvSpPr>
                <p:cNvPr id="273" name="Google Shape;273;p7"/>
                <p:cNvSpPr/>
                <p:nvPr/>
              </p:nvSpPr>
              <p:spPr>
                <a:xfrm>
                  <a:off x="0" y="0"/>
                  <a:ext cx="4095900" cy="2476500"/>
                </a:xfrm>
                <a:prstGeom prst="roundRect">
                  <a:avLst>
                    <a:gd fmla="val 4615" name="adj"/>
                  </a:avLst>
                </a:prstGeom>
                <a:solidFill>
                  <a:srgbClr val="0F172A"/>
                </a:solidFill>
                <a:ln cap="flat" cmpd="sng" w="9525">
                  <a:solidFill>
                    <a:srgbClr val="33415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4" name="Google Shape;274;p7"/>
                <p:cNvSpPr txBox="1"/>
                <p:nvPr/>
              </p:nvSpPr>
              <p:spPr>
                <a:xfrm>
                  <a:off x="152400" y="133350"/>
                  <a:ext cx="3791100" cy="2209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50">
                      <a:solidFill>
                        <a:srgbClr val="64748B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● ● ●  </a:t>
                  </a:r>
                  <a:r>
                    <a:rPr lang="en-US" sz="850">
                      <a:solidFill>
                        <a:srgbClr val="94A3B8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Prompt 指引</a:t>
                  </a:r>
                  <a:endParaRPr sz="850">
                    <a:solidFill>
                      <a:srgbClr val="64748B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  <a:p>
                  <a:pPr indent="0" lvl="0" marL="0" rtl="0" algn="l">
                    <a:spcBef>
                      <a:spcPts val="900"/>
                    </a:spcBef>
                    <a:spcAft>
                      <a:spcPts val="0"/>
                    </a:spcAft>
                    <a:buNone/>
                  </a:pPr>
                  <a:r>
                    <a:rPr lang="en-US" sz="850">
                      <a:solidFill>
                        <a:srgbClr val="F1F5F9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Prompt: "針對 QuickPizza 的 /api/pizza 端點撰寫 1 VU 冒煙測試腳本，包含 check 軟斷言與</a:t>
                  </a:r>
                  <a:endParaRPr sz="850">
                    <a:solidFill>
                      <a:srgbClr val="F1F5F9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  <a:p>
                  <a:pPr indent="0" lvl="0" marL="0" rtl="0" algn="l">
                    <a:spcBef>
                      <a:spcPts val="450"/>
                    </a:spcBef>
                    <a:spcAft>
                      <a:spcPts val="0"/>
                    </a:spcAft>
                    <a:buNone/>
                  </a:pPr>
                  <a:r>
                    <a:rPr b="1" lang="en-US" sz="850">
                      <a:solidFill>
                        <a:srgbClr val="FBBF24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http.url 標籤，並請使用 validate_script 工具預檢腳本合法性。"</a:t>
                  </a:r>
                  <a:endParaRPr b="1" sz="850">
                    <a:solidFill>
                      <a:srgbClr val="FBBF24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</p:grpSp>
          <p:grpSp>
            <p:nvGrpSpPr>
              <p:cNvPr id="275" name="Google Shape;275;p7"/>
              <p:cNvGrpSpPr/>
              <p:nvPr/>
            </p:nvGrpSpPr>
            <p:grpSpPr>
              <a:xfrm>
                <a:off x="238125" y="4381500"/>
                <a:ext cx="4095900" cy="1428900"/>
                <a:chOff x="0" y="0"/>
                <a:chExt cx="4095900" cy="1428900"/>
              </a:xfrm>
            </p:grpSpPr>
            <p:sp>
              <p:nvSpPr>
                <p:cNvPr id="276" name="Google Shape;276;p7"/>
                <p:cNvSpPr/>
                <p:nvPr/>
              </p:nvSpPr>
              <p:spPr>
                <a:xfrm>
                  <a:off x="0" y="0"/>
                  <a:ext cx="4095900" cy="1428900"/>
                </a:xfrm>
                <a:prstGeom prst="roundRect">
                  <a:avLst>
                    <a:gd fmla="val 6666" name="adj"/>
                  </a:avLst>
                </a:prstGeom>
                <a:solidFill>
                  <a:srgbClr val="F8FAFC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7" name="Google Shape;277;p7"/>
                <p:cNvSpPr txBox="1"/>
                <p:nvPr/>
              </p:nvSpPr>
              <p:spPr>
                <a:xfrm>
                  <a:off x="152400" y="133350"/>
                  <a:ext cx="3791100" cy="1162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950">
                      <a:solidFill>
                        <a:srgbClr val="166534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✅ 驗證標準</a:t>
                  </a:r>
                  <a:endParaRPr b="1" sz="950">
                    <a:solidFill>
                      <a:srgbClr val="166534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45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rgbClr val="334155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AI 產生合規腳本並主動調用 validate_script 驗證通過，無語法錯誤且無動態 URL 拼接。</a:t>
                  </a:r>
                  <a:endParaRPr sz="900">
                    <a:solidFill>
                      <a:srgbClr val="334155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</p:grpSp>
        <p:grpSp>
          <p:nvGrpSpPr>
            <p:cNvPr id="278" name="Google Shape;278;p7"/>
            <p:cNvGrpSpPr/>
            <p:nvPr/>
          </p:nvGrpSpPr>
          <p:grpSpPr>
            <a:xfrm>
              <a:off x="10477500" y="1381125"/>
              <a:ext cx="4572000" cy="6048300"/>
              <a:chOff x="0" y="0"/>
              <a:chExt cx="4572000" cy="6048300"/>
            </a:xfrm>
          </p:grpSpPr>
          <p:sp>
            <p:nvSpPr>
              <p:cNvPr id="279" name="Google Shape;279;p7"/>
              <p:cNvSpPr/>
              <p:nvPr/>
            </p:nvSpPr>
            <p:spPr>
              <a:xfrm>
                <a:off x="0" y="0"/>
                <a:ext cx="4572000" cy="6048300"/>
              </a:xfrm>
              <a:prstGeom prst="roundRect">
                <a:avLst>
                  <a:gd fmla="val 4166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7"/>
              <p:cNvSpPr/>
              <p:nvPr/>
            </p:nvSpPr>
            <p:spPr>
              <a:xfrm>
                <a:off x="0" y="0"/>
                <a:ext cx="45720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D9770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81" name="Google Shape;281;p7"/>
              <p:cNvGrpSpPr/>
              <p:nvPr/>
            </p:nvGrpSpPr>
            <p:grpSpPr>
              <a:xfrm>
                <a:off x="238125" y="228600"/>
                <a:ext cx="723900" cy="228600"/>
                <a:chOff x="0" y="0"/>
                <a:chExt cx="723900" cy="228600"/>
              </a:xfrm>
            </p:grpSpPr>
            <p:sp>
              <p:nvSpPr>
                <p:cNvPr id="282" name="Google Shape;282;p7"/>
                <p:cNvSpPr/>
                <p:nvPr/>
              </p:nvSpPr>
              <p:spPr>
                <a:xfrm>
                  <a:off x="0" y="0"/>
                  <a:ext cx="723900" cy="2286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EF3C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3" name="Google Shape;283;p7"/>
                <p:cNvSpPr txBox="1"/>
                <p:nvPr/>
              </p:nvSpPr>
              <p:spPr>
                <a:xfrm>
                  <a:off x="0" y="0"/>
                  <a:ext cx="723900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850">
                      <a:solidFill>
                        <a:srgbClr val="D97706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STEP 03</a:t>
                  </a:r>
                  <a:endParaRPr b="1" sz="850">
                    <a:solidFill>
                      <a:srgbClr val="D97706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  <p:sp>
            <p:nvSpPr>
              <p:cNvPr id="284" name="Google Shape;284;p7"/>
              <p:cNvSpPr txBox="1"/>
              <p:nvPr/>
            </p:nvSpPr>
            <p:spPr>
              <a:xfrm>
                <a:off x="238125" y="571500"/>
                <a:ext cx="4095900" cy="10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F172A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任務三：Playwright 登入測試無痛轉譯為 k6 混合壓測</a:t>
                </a:r>
                <a:endParaRPr b="1" sz="1300">
                  <a:solidFill>
                    <a:srgbClr val="0F172A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950">
                    <a:solidFill>
                      <a:srgbClr val="475569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目標：利用 k6-playwright-converter 技能將 E2E 測試升級為具備真實瀏覽器性能測量的混合壓測腳本。</a:t>
                </a:r>
                <a:endParaRPr b="0" sz="950">
                  <a:solidFill>
                    <a:srgbClr val="475569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</p:txBody>
          </p:sp>
          <p:grpSp>
            <p:nvGrpSpPr>
              <p:cNvPr id="285" name="Google Shape;285;p7"/>
              <p:cNvGrpSpPr/>
              <p:nvPr/>
            </p:nvGrpSpPr>
            <p:grpSpPr>
              <a:xfrm>
                <a:off x="238125" y="1762125"/>
                <a:ext cx="4095900" cy="2476500"/>
                <a:chOff x="0" y="0"/>
                <a:chExt cx="4095900" cy="2476500"/>
              </a:xfrm>
            </p:grpSpPr>
            <p:sp>
              <p:nvSpPr>
                <p:cNvPr id="286" name="Google Shape;286;p7"/>
                <p:cNvSpPr/>
                <p:nvPr/>
              </p:nvSpPr>
              <p:spPr>
                <a:xfrm>
                  <a:off x="0" y="0"/>
                  <a:ext cx="4095900" cy="2476500"/>
                </a:xfrm>
                <a:prstGeom prst="roundRect">
                  <a:avLst>
                    <a:gd fmla="val 4615" name="adj"/>
                  </a:avLst>
                </a:prstGeom>
                <a:solidFill>
                  <a:srgbClr val="0F172A"/>
                </a:solidFill>
                <a:ln cap="flat" cmpd="sng" w="9525">
                  <a:solidFill>
                    <a:srgbClr val="33415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7" name="Google Shape;287;p7"/>
                <p:cNvSpPr txBox="1"/>
                <p:nvPr/>
              </p:nvSpPr>
              <p:spPr>
                <a:xfrm>
                  <a:off x="152400" y="133350"/>
                  <a:ext cx="3791100" cy="2209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50">
                      <a:solidFill>
                        <a:srgbClr val="64748B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● ● ●  </a:t>
                  </a:r>
                  <a:r>
                    <a:rPr lang="en-US" sz="850">
                      <a:solidFill>
                        <a:srgbClr val="94A3B8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Prompt 指引</a:t>
                  </a:r>
                  <a:endParaRPr sz="850">
                    <a:solidFill>
                      <a:srgbClr val="64748B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  <a:p>
                  <a:pPr indent="0" lvl="0" marL="0" rtl="0" algn="l">
                    <a:spcBef>
                      <a:spcPts val="900"/>
                    </a:spcBef>
                    <a:spcAft>
                      <a:spcPts val="0"/>
                    </a:spcAft>
                    <a:buNone/>
                  </a:pPr>
                  <a:r>
                    <a:rPr lang="en-US" sz="850">
                      <a:solidFill>
                        <a:srgbClr val="F1F5F9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Prompt: "請將這段 Playwright 登入測試轉譯為 k6 browser 腳本，加入 finally page.close()</a:t>
                  </a:r>
                  <a:endParaRPr sz="850">
                    <a:solidFill>
                      <a:srgbClr val="F1F5F9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  <a:p>
                  <a:pPr indent="0" lvl="0" marL="0" rtl="0" algn="l">
                    <a:spcBef>
                      <a:spcPts val="450"/>
                    </a:spcBef>
                    <a:spcAft>
                      <a:spcPts val="0"/>
                    </a:spcAft>
                    <a:buNone/>
                  </a:pPr>
                  <a:r>
                    <a:rPr b="1" lang="en-US" sz="850">
                      <a:solidFill>
                        <a:srgbClr val="FBBF24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軍規保護，並設定 99:1 混合流量模型。"</a:t>
                  </a:r>
                  <a:endParaRPr b="1" sz="850">
                    <a:solidFill>
                      <a:srgbClr val="FBBF24"/>
                    </a:solidFill>
                    <a:latin typeface="Verdana"/>
                    <a:ea typeface="Verdana"/>
                    <a:cs typeface="Verdana"/>
                    <a:sym typeface="Verdana"/>
                  </a:endParaRPr>
                </a:p>
              </p:txBody>
            </p:sp>
          </p:grpSp>
          <p:grpSp>
            <p:nvGrpSpPr>
              <p:cNvPr id="288" name="Google Shape;288;p7"/>
              <p:cNvGrpSpPr/>
              <p:nvPr/>
            </p:nvGrpSpPr>
            <p:grpSpPr>
              <a:xfrm>
                <a:off x="238125" y="4381500"/>
                <a:ext cx="4095900" cy="1428900"/>
                <a:chOff x="0" y="0"/>
                <a:chExt cx="4095900" cy="1428900"/>
              </a:xfrm>
            </p:grpSpPr>
            <p:sp>
              <p:nvSpPr>
                <p:cNvPr id="289" name="Google Shape;289;p7"/>
                <p:cNvSpPr/>
                <p:nvPr/>
              </p:nvSpPr>
              <p:spPr>
                <a:xfrm>
                  <a:off x="0" y="0"/>
                  <a:ext cx="4095900" cy="1428900"/>
                </a:xfrm>
                <a:prstGeom prst="roundRect">
                  <a:avLst>
                    <a:gd fmla="val 6666" name="adj"/>
                  </a:avLst>
                </a:prstGeom>
                <a:solidFill>
                  <a:srgbClr val="F8FAFC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0" name="Google Shape;290;p7"/>
                <p:cNvSpPr txBox="1"/>
                <p:nvPr/>
              </p:nvSpPr>
              <p:spPr>
                <a:xfrm>
                  <a:off x="152400" y="133350"/>
                  <a:ext cx="3791100" cy="1162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950">
                      <a:solidFill>
                        <a:srgbClr val="166534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✅ 驗證標準</a:t>
                  </a:r>
                  <a:endParaRPr b="1" sz="950">
                    <a:solidFill>
                      <a:srgbClr val="166534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  <a:p>
                  <a:pPr indent="0" lvl="0" marL="0" rtl="0" algn="l">
                    <a:spcBef>
                      <a:spcPts val="45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rgbClr val="334155"/>
                      </a:solidFill>
                      <a:latin typeface="Noto Sans"/>
                      <a:ea typeface="Noto Sans"/>
                      <a:cs typeface="Noto Sans"/>
                      <a:sym typeface="Noto Sans"/>
                    </a:rPr>
                    <a:t>產出標準 k6/browser 語法，加入 try...finally 關閉瀏覽器，並具備 Web Vitals 採樣。</a:t>
                  </a:r>
                  <a:endParaRPr sz="900">
                    <a:solidFill>
                      <a:srgbClr val="334155"/>
                    </a:solidFill>
                    <a:latin typeface="Noto Sans"/>
                    <a:ea typeface="Noto Sans"/>
                    <a:cs typeface="Noto Sans"/>
                    <a:sym typeface="Noto Sans"/>
                  </a:endParaRPr>
                </a:p>
              </p:txBody>
            </p:sp>
          </p:grpSp>
        </p:grpSp>
      </p:grpSp>
      <p:sp>
        <p:nvSpPr>
          <p:cNvPr id="291" name="Google Shape;291;p7"/>
          <p:cNvSpPr/>
          <p:nvPr/>
        </p:nvSpPr>
        <p:spPr>
          <a:xfrm>
            <a:off x="661581" y="7643812"/>
            <a:ext cx="10797900" cy="9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 txBox="1"/>
          <p:nvPr/>
        </p:nvSpPr>
        <p:spPr>
          <a:xfrm>
            <a:off x="874232" y="7762874"/>
            <a:ext cx="1037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F46E5"/>
                </a:solidFill>
                <a:latin typeface="Noto Sans"/>
                <a:ea typeface="Noto Sans"/>
                <a:cs typeface="Noto Sans"/>
                <a:sym typeface="Noto Sans"/>
              </a:rPr>
              <a:t>【課程通關】 </a:t>
            </a:r>
            <a:r>
              <a:rPr b="1" i="0" lang="en-US" sz="1000" u="none" cap="none" strike="noStrike">
                <a:solidFill>
                  <a:srgbClr val="1E293B"/>
                </a:solidFill>
                <a:latin typeface="Noto Sans"/>
                <a:ea typeface="Noto Sans"/>
                <a:cs typeface="Noto Sans"/>
                <a:sym typeface="Noto Sans"/>
              </a:rPr>
              <a:t>恭喜完成 Chapter 6 全章節！你已掌握了現代化 AI Agent 壓測工程的核心心智模型與實戰技能！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Noto Sans"/>
                <a:ea typeface="Noto Sans"/>
                <a:cs typeface="Noto Sans"/>
                <a:sym typeface="Noto Sans"/>
              </a:rPr>
              <a:t>立即打開你的終端機，執行 $ k6 x agent init，開始你的 AI 效能工程新體驗吧！</a:t>
            </a:r>
            <a:endParaRPr/>
          </a:p>
        </p:txBody>
      </p:sp>
      <p:pic>
        <p:nvPicPr>
          <p:cNvPr descr="k6_grafana_full_branding.png" id="293" name="Google Shape;29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95813" y="7643812"/>
            <a:ext cx="3898604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7">
            <a:hlinkClick r:id="rId4"/>
          </p:cNvPr>
          <p:cNvSpPr/>
          <p:nvPr/>
        </p:nvSpPr>
        <p:spPr>
          <a:xfrm>
            <a:off x="502920" y="8869680"/>
            <a:ext cx="6035100" cy="219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109725" spcFirstLastPara="1" rIns="1097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E293B"/>
                </a:solidFill>
                <a:latin typeface="Noto Sans"/>
                <a:ea typeface="Noto Sans"/>
                <a:cs typeface="Noto Sans"/>
                <a:sym typeface="Noto Sans"/>
              </a:rPr>
              <a:t>▶ 課程實戰 Codelabs：</a:t>
            </a:r>
            <a:r>
              <a:rPr b="0" i="0" lang="en-US" sz="850" u="none" cap="none" strike="noStrike">
                <a:solidFill>
                  <a:srgbClr val="2563EB"/>
                </a:solidFill>
                <a:latin typeface="Noto Sans"/>
                <a:ea typeface="Noto Sans"/>
                <a:cs typeface="Noto Sans"/>
                <a:sym typeface="Noto Sans"/>
              </a:rPr>
              <a:t>tedmax100.github.io/o11y_lab_for_dummies/k6-performance-testing/</a:t>
            </a:r>
            <a:endParaRPr/>
          </a:p>
        </p:txBody>
      </p:sp>
      <p:sp>
        <p:nvSpPr>
          <p:cNvPr id="295" name="Codelabs_Link_Badge">
            <a:hlinkClick r:id="rId4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/>
            <a:r>
              <a:rPr sz="850" b="1">
                <a:solidFill>
                  <a:srgbClr val="334155"/>
                </a:solidFill>
                <a:latin typeface="Noto Sans CJK TC"/>
              </a:rPr>
              <a:t>▶ 課程實戰 Codelabs：</a:t>
            </a:r>
            <a:r>
              <a:rPr sz="850" b="0">
                <a:solidFill>
                  <a:srgbClr val="4F46E5"/>
                </a:solidFill>
                <a:latin typeface="Noto Sans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