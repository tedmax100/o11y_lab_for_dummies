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embeddedFontLst>
    <p:embeddedFont>
      <p:font typeface="Noto Sans Mono"/>
      <p:regular r:id="rId16"/>
      <p:bold r:id="rId17"/>
    </p:embeddedFont>
    <p:embeddedFont>
      <p:font typeface="No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xUToRK/RO3npMkJV1ZPIrGzcF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No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Mono-bold.fntdata"/><Relationship Id="rId16" Type="http://schemas.openxmlformats.org/officeDocument/2006/relationships/font" Target="fonts/NotoSans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bold.fntdata"/><Relationship Id="rId6" Type="http://schemas.openxmlformats.org/officeDocument/2006/relationships/slide" Target="slides/slide1.xml"/><Relationship Id="rId18" Type="http://schemas.openxmlformats.org/officeDocument/2006/relationships/font" Target="fonts/No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edmax100.github.io/o11y_lab_for_dummies/k6-performance-testing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edmax100.github.io/o11y_lab_for_dummies/k6-performance-testing/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edmax100.github.io/o11y_lab_for_dummies/k6-performance-testing/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hyperlink" Target="https://tedmax100.github.io/o11y_lab_for_dummies/k6-performance-test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i="0" lang="en-US" sz="850" u="none" cap="none" strike="noStrike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  <p:pic>
        <p:nvPicPr>
          <p:cNvPr descr="s2_logo.png"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13953" y="8191500"/>
            <a:ext cx="4442046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614325" y="1428750"/>
            <a:ext cx="15027348" cy="6786562"/>
          </a:xfrm>
          <a:prstGeom prst="roundRect">
            <a:avLst>
              <a:gd fmla="val 2000" name="adj"/>
            </a:avLst>
          </a:prstGeom>
          <a:solidFill>
            <a:srgbClr val="F8F7F2"/>
          </a:solidFill>
          <a:ln cap="flat" cmpd="sng" w="15875">
            <a:solidFill>
              <a:srgbClr val="A8A8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2"/>
          <p:cNvCxnSpPr/>
          <p:nvPr/>
        </p:nvCxnSpPr>
        <p:spPr>
          <a:xfrm>
            <a:off x="8128000" y="1428750"/>
            <a:ext cx="0" cy="6786562"/>
          </a:xfrm>
          <a:prstGeom prst="straightConnector1">
            <a:avLst/>
          </a:prstGeom>
          <a:noFill/>
          <a:ln cap="flat" cmpd="sng" w="12700">
            <a:solidFill>
              <a:srgbClr val="C9C9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" name="Google Shape;95;p2"/>
          <p:cNvCxnSpPr/>
          <p:nvPr/>
        </p:nvCxnSpPr>
        <p:spPr>
          <a:xfrm>
            <a:off x="614325" y="4881562"/>
            <a:ext cx="15027349" cy="0"/>
          </a:xfrm>
          <a:prstGeom prst="straightConnector1">
            <a:avLst/>
          </a:prstGeom>
          <a:noFill/>
          <a:ln cap="flat" cmpd="sng" w="12700">
            <a:solidFill>
              <a:srgbClr val="C9C9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s2_threads.png"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116" y="2095500"/>
            <a:ext cx="699386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2_goroutines.png" id="97" name="Google Shape;9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860" y="5572125"/>
            <a:ext cx="6946604" cy="245268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614325" y="452437"/>
            <a:ext cx="150273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極致資源利用率：為什麼 k6 單機就能榨出數萬併發？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826976" y="1571625"/>
            <a:ext cx="708837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JMeter (JVM Thread-based 模型)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26976" y="5024437"/>
            <a:ext cx="708837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k6 (Goroutine 模型)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8624186" y="1905000"/>
            <a:ext cx="6733953" cy="2797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3534" lvl="0" marL="28353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Noto Sans"/>
              <a:buChar char="•"/>
            </a:pPr>
            <a:r>
              <a:rPr b="0" lang="en-US" sz="2000">
                <a:solidFill>
                  <a:srgbClr val="1F1F1F"/>
                </a:solidFill>
                <a:latin typeface="Noto Sans"/>
                <a:ea typeface="Noto Sans"/>
                <a:cs typeface="Noto Sans"/>
                <a:sym typeface="Noto Sans"/>
              </a:rPr>
              <a:t>每個虛擬使用者 (VU) 綁定一條作業系統執行緒，記憶體與排程開銷龐大。</a:t>
            </a:r>
            <a:endParaRPr/>
          </a:p>
          <a:p>
            <a:pPr indent="-283534" lvl="0" marL="283534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Noto Sans"/>
              <a:buChar char="•"/>
            </a:pPr>
            <a:r>
              <a:rPr b="0" lang="en-US" sz="2000">
                <a:solidFill>
                  <a:srgbClr val="1F1F1F"/>
                </a:solidFill>
                <a:latin typeface="Noto Sans"/>
                <a:ea typeface="Noto Sans"/>
                <a:cs typeface="Noto Sans"/>
                <a:sym typeface="Noto Sans"/>
              </a:rPr>
              <a:t>消耗基準：</a:t>
            </a:r>
            <a:r>
              <a:rPr b="0" lang="en-US" sz="1800">
                <a:solidFill>
                  <a:srgbClr val="1F4E6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1MB+ stack per thread</a:t>
            </a:r>
            <a:endParaRPr/>
          </a:p>
          <a:p>
            <a:pPr indent="-283534" lvl="0" marL="283534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Noto Sans"/>
              <a:buChar char="•"/>
            </a:pPr>
            <a:r>
              <a:rPr b="0" lang="en-US" sz="2000">
                <a:solidFill>
                  <a:srgbClr val="1F1F1F"/>
                </a:solidFill>
                <a:latin typeface="Noto Sans"/>
                <a:ea typeface="Noto Sans"/>
                <a:cs typeface="Noto Sans"/>
                <a:sym typeface="Noto Sans"/>
              </a:rPr>
              <a:t>高併發下大量 Context Switch 與 GC 停頓，導致資源吃滿、數據失真。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8624186" y="5238750"/>
            <a:ext cx="6733953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3534" lvl="0" marL="28353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Noto Sans"/>
              <a:buChar char="•"/>
            </a:pPr>
            <a:r>
              <a:rPr b="0" lang="en-US" sz="2000">
                <a:solidFill>
                  <a:srgbClr val="1F1F1F"/>
                </a:solidFill>
                <a:latin typeface="Noto Sans"/>
                <a:ea typeface="Noto Sans"/>
                <a:cs typeface="Noto Sans"/>
                <a:sym typeface="Noto Sans"/>
              </a:rPr>
              <a:t>底層採用 Go 輕量協程與非同步 I/O，排程成本遠低於 OS 執行緒。</a:t>
            </a:r>
            <a:endParaRPr/>
          </a:p>
          <a:p>
            <a:pPr indent="-283534" lvl="0" marL="283534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Noto Sans"/>
              <a:buChar char="•"/>
            </a:pPr>
            <a:r>
              <a:rPr b="0" lang="en-US" sz="2000">
                <a:solidFill>
                  <a:srgbClr val="1F1F1F"/>
                </a:solidFill>
                <a:latin typeface="Noto Sans"/>
                <a:ea typeface="Noto Sans"/>
                <a:cs typeface="Noto Sans"/>
                <a:sym typeface="Noto Sans"/>
              </a:rPr>
              <a:t>消耗基準：</a:t>
            </a:r>
            <a:r>
              <a:rPr b="1" lang="en-US" sz="1800">
                <a:solidFill>
                  <a:srgbClr val="1B5E57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~1–5MB per VU</a:t>
            </a:r>
            <a:r>
              <a:rPr b="0" lang="en-US" sz="1500">
                <a:solidFill>
                  <a:srgbClr val="5A5A55"/>
                </a:solidFill>
                <a:latin typeface="Noto Sans"/>
                <a:ea typeface="Noto Sans"/>
                <a:cs typeface="Noto Sans"/>
                <a:sym typeface="Noto Sans"/>
              </a:rPr>
              <a:t>（每個 VU 含獨立 JS Runtime；goroutine 本身僅 ~2KB）</a:t>
            </a:r>
            <a:endParaRPr/>
          </a:p>
          <a:p>
            <a:pPr indent="-283534" lvl="0" marL="283534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Noto Sans"/>
              <a:buChar char="•"/>
            </a:pPr>
            <a:r>
              <a:rPr b="0" lang="en-US" sz="2000">
                <a:solidFill>
                  <a:srgbClr val="1F1F1F"/>
                </a:solidFill>
                <a:latin typeface="Noto Sans"/>
                <a:ea typeface="Noto Sans"/>
                <a:cs typeface="Noto Sans"/>
                <a:sym typeface="Noto Sans"/>
              </a:rPr>
              <a:t>官方數據：高規格單機可達 3–4 萬 VUs；規劃前先用 100 VUs 實測記憶體再等比例推估。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3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  <p:pic>
        <p:nvPicPr>
          <p:cNvPr descr="s4_logo.png"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6976" y="8072437"/>
            <a:ext cx="5032744" cy="8810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/>
        </p:nvSpPr>
        <p:spPr>
          <a:xfrm>
            <a:off x="567069" y="476250"/>
            <a:ext cx="15121860" cy="690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壓測進入 AI 時代：k6 CLI x AI 現代化工作流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567069" y="1143000"/>
            <a:ext cx="15121860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基於 Model Context Protocol (MCP) 與 AI Agent 打造全自動、智慧化的效能工程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67069" y="1726406"/>
            <a:ext cx="7419162" cy="6215062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62418" y="2024062"/>
            <a:ext cx="1346790" cy="309562"/>
          </a:xfrm>
          <a:prstGeom prst="roundRect">
            <a:avLst>
              <a:gd fmla="val 3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62418" y="2024062"/>
            <a:ext cx="1346790" cy="309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D28D9"/>
                </a:solidFill>
                <a:latin typeface="Noto Sans"/>
                <a:ea typeface="Noto Sans"/>
                <a:cs typeface="Noto Sans"/>
                <a:sym typeface="Noto Sans"/>
              </a:rPr>
              <a:t>k6 MCP Server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2327348" y="1964531"/>
            <a:ext cx="543441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Model Context Protocol 官方串接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862425" y="2512226"/>
            <a:ext cx="6840300" cy="1190700"/>
          </a:xfrm>
          <a:prstGeom prst="roundRect">
            <a:avLst>
              <a:gd fmla="val 8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039627" y="2595562"/>
            <a:ext cx="65568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// k6 x agent init 會自動寫入；也可手動註冊 (Claude Code / Cursor / Copilot)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E2E8F0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"mcpServers": {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E2E8F0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"k6": { "command": "k6", "args": ["x", "mcp"] }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E2E8F0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}</a:t>
            </a:r>
            <a:endParaRPr sz="1600"/>
          </a:p>
        </p:txBody>
      </p:sp>
      <p:sp>
        <p:nvSpPr>
          <p:cNvPr id="124" name="Google Shape;124;p4"/>
          <p:cNvSpPr/>
          <p:nvPr/>
        </p:nvSpPr>
        <p:spPr>
          <a:xfrm>
            <a:off x="862418" y="3786187"/>
            <a:ext cx="6840279" cy="738187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27813" y="3905250"/>
            <a:ext cx="1795720" cy="261937"/>
          </a:xfrm>
          <a:prstGeom prst="roundRect">
            <a:avLst>
              <a:gd fmla="val 25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27813" y="3905250"/>
            <a:ext cx="1795720" cy="261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E22CE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validate_script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2941674" y="3881437"/>
            <a:ext cx="4725581" cy="309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1 VU 冒煙預檢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027813" y="4214812"/>
            <a:ext cx="655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以 1 VU、1 次迭代實際執行腳本，回報語法、執行期與連線錯誤。</a:t>
            </a:r>
            <a:endParaRPr sz="1600"/>
          </a:p>
        </p:txBody>
      </p:sp>
      <p:sp>
        <p:nvSpPr>
          <p:cNvPr id="129" name="Google Shape;129;p4"/>
          <p:cNvSpPr/>
          <p:nvPr/>
        </p:nvSpPr>
        <p:spPr>
          <a:xfrm>
            <a:off x="862418" y="4667250"/>
            <a:ext cx="6840279" cy="738187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027813" y="4786312"/>
            <a:ext cx="1252279" cy="261937"/>
          </a:xfrm>
          <a:prstGeom prst="roundRect">
            <a:avLst>
              <a:gd fmla="val 25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027813" y="4786312"/>
            <a:ext cx="1252279" cy="261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E22CE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run_script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2398232" y="4762500"/>
            <a:ext cx="4725581" cy="309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對話內直接執行測試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027813" y="5095875"/>
            <a:ext cx="655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AI 助手驅動本機 k6 壓測，回傳 RPS、P95 延遲與錯誤率（上限 50 VUs / 5 分鐘）。</a:t>
            </a:r>
            <a:endParaRPr sz="1600"/>
          </a:p>
        </p:txBody>
      </p:sp>
      <p:sp>
        <p:nvSpPr>
          <p:cNvPr id="134" name="Google Shape;134;p4"/>
          <p:cNvSpPr/>
          <p:nvPr/>
        </p:nvSpPr>
        <p:spPr>
          <a:xfrm>
            <a:off x="862418" y="5548312"/>
            <a:ext cx="6840279" cy="738187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027813" y="5667375"/>
            <a:ext cx="2013097" cy="261937"/>
          </a:xfrm>
          <a:prstGeom prst="roundRect">
            <a:avLst>
              <a:gd fmla="val 25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027813" y="5667375"/>
            <a:ext cx="2013097" cy="261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E22CE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get_documentation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3159051" y="5643562"/>
            <a:ext cx="4725581" cy="309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官方最新文檔知識庫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027813" y="5976937"/>
            <a:ext cx="655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動態檢索 Grafana k6 最新模組規格、Executor 設定與最佳實踐範例。</a:t>
            </a:r>
            <a:endParaRPr sz="1600"/>
          </a:p>
        </p:txBody>
      </p:sp>
      <p:sp>
        <p:nvSpPr>
          <p:cNvPr id="139" name="Google Shape;139;p4"/>
          <p:cNvSpPr txBox="1"/>
          <p:nvPr/>
        </p:nvSpPr>
        <p:spPr>
          <a:xfrm>
            <a:off x="862418" y="6477000"/>
            <a:ext cx="6840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k6 MCP 共提供 6 個工具：</a:t>
            </a:r>
            <a:r>
              <a:rPr b="0" lang="en-US">
                <a:solidFill>
                  <a:srgbClr val="475569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validate_script、run_script、get_documentation、list_sections、info、search_terraform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新版 k6 以 </a:t>
            </a:r>
            <a:r>
              <a:rPr b="1" lang="en-US">
                <a:solidFill>
                  <a:srgbClr val="6D28D9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k6 x mcp</a:t>
            </a:r>
            <a:r>
              <a:rPr b="0" lang="en-US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 子命令內建，無須 Node.js / npx（Chapter 6 詳解）。</a:t>
            </a:r>
            <a:endParaRPr sz="1600"/>
          </a:p>
        </p:txBody>
      </p:sp>
      <p:sp>
        <p:nvSpPr>
          <p:cNvPr id="140" name="Google Shape;140;p4"/>
          <p:cNvSpPr/>
          <p:nvPr/>
        </p:nvSpPr>
        <p:spPr>
          <a:xfrm>
            <a:off x="8269767" y="1726406"/>
            <a:ext cx="7419162" cy="6215062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8553302" y="2024062"/>
            <a:ext cx="1346790" cy="309562"/>
          </a:xfrm>
          <a:prstGeom prst="roundRect">
            <a:avLst>
              <a:gd fmla="val 3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553302" y="2024062"/>
            <a:ext cx="1346790" cy="309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AI Agent 工作流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0041860" y="1964531"/>
            <a:ext cx="543441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Bootstrap with k6 x Agent 自主生成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8553302" y="2512218"/>
            <a:ext cx="6840279" cy="7620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765953" y="2607468"/>
            <a:ext cx="64976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🔍 1. 專案規格與流量掃描 (Scan Assets)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8765953" y="2905125"/>
            <a:ext cx="649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Agent 讀取專案代碼庫中的 OpenAPI / Swagger 規格或 HAR 網路錄製檔。</a:t>
            </a:r>
            <a:endParaRPr sz="1600"/>
          </a:p>
        </p:txBody>
      </p:sp>
      <p:sp>
        <p:nvSpPr>
          <p:cNvPr id="147" name="Google Shape;147;p4"/>
          <p:cNvSpPr/>
          <p:nvPr/>
        </p:nvSpPr>
        <p:spPr>
          <a:xfrm>
            <a:off x="8553302" y="3417093"/>
            <a:ext cx="6840279" cy="7620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8765953" y="3512343"/>
            <a:ext cx="64976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⚡ 2. 智慧逆向生成情境 (Synthesize Scenarios)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8765953" y="3810000"/>
            <a:ext cx="649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自動產出包含 Smoke、Load、Stress 的完整情境，精準注入 Token 與 Check 斷言。</a:t>
            </a:r>
            <a:endParaRPr sz="1600"/>
          </a:p>
        </p:txBody>
      </p:sp>
      <p:sp>
        <p:nvSpPr>
          <p:cNvPr id="150" name="Google Shape;150;p4"/>
          <p:cNvSpPr/>
          <p:nvPr/>
        </p:nvSpPr>
        <p:spPr>
          <a:xfrm>
            <a:off x="8553300" y="4321976"/>
            <a:ext cx="6840300" cy="881100"/>
          </a:xfrm>
          <a:prstGeom prst="roundRect">
            <a:avLst>
              <a:gd fmla="val 8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8765953" y="4417218"/>
            <a:ext cx="64976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🔄 3. 閉環自癒與冒煙驗證 (Self-Healing Loop)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8765953" y="4714875"/>
            <a:ext cx="649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Agent 調用 validate_script 執行 1 VU 冒煙驗證，自主修復 4xx/5xx 與語法問題，再以 run_script 加壓。</a:t>
            </a:r>
            <a:endParaRPr sz="1600"/>
          </a:p>
        </p:txBody>
      </p:sp>
      <p:sp>
        <p:nvSpPr>
          <p:cNvPr id="153" name="Google Shape;153;p4"/>
          <p:cNvSpPr/>
          <p:nvPr/>
        </p:nvSpPr>
        <p:spPr>
          <a:xfrm>
            <a:off x="8553302" y="5395340"/>
            <a:ext cx="6840300" cy="738300"/>
          </a:xfrm>
          <a:prstGeom prst="roundRect">
            <a:avLst>
              <a:gd fmla="val 8000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8765953" y="5490590"/>
            <a:ext cx="6497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6D28D9"/>
                </a:solidFill>
                <a:latin typeface="Noto Sans"/>
                <a:ea typeface="Noto Sans"/>
                <a:cs typeface="Noto Sans"/>
                <a:sym typeface="Noto Sans"/>
              </a:rPr>
              <a:t>🧩 一鍵配置：</a:t>
            </a:r>
            <a:r>
              <a:rPr b="1" lang="en-US" sz="1500">
                <a:solidFill>
                  <a:srgbClr val="6D28D9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k6 x agent init claude-code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同時安裝 11 個 k6 AI 技能包並註冊 k6 MCP 伺服器（Chapter 6）</a:t>
            </a:r>
            <a:endParaRPr sz="1600"/>
          </a:p>
        </p:txBody>
      </p:sp>
      <p:sp>
        <p:nvSpPr>
          <p:cNvPr id="155" name="Google Shape;155;p4"/>
          <p:cNvSpPr/>
          <p:nvPr/>
        </p:nvSpPr>
        <p:spPr>
          <a:xfrm>
            <a:off x="8553302" y="6977062"/>
            <a:ext cx="6840279" cy="690562"/>
          </a:xfrm>
          <a:prstGeom prst="roundRect">
            <a:avLst>
              <a:gd fmla="val 10000" name="adj"/>
            </a:avLst>
          </a:prstGeom>
          <a:solidFill>
            <a:srgbClr val="FEF9C3"/>
          </a:solidFill>
          <a:ln cap="flat" cmpd="sng" w="12700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8742325" y="7024687"/>
            <a:ext cx="6497674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🚀 內建 Prompts 與 Best Practices 資源：</a:t>
            </a:r>
            <a:r>
              <a:rPr b="0" lang="en-US" sz="1250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提供複雜腳本起手式模板，從「手動刻腳本」邁向「秒級自主交付」！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567069" y="8215312"/>
            <a:ext cx="10160000" cy="452437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732465" y="8215312"/>
            <a:ext cx="9876465" cy="45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🤖 效能工程新範式：  </a:t>
            </a:r>
            <a:r>
              <a:rPr b="1" lang="en-US" sz="1250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AI Copilot + k6 MCP + 自動驗證</a:t>
            </a:r>
            <a:r>
              <a:rPr b="1" lang="en-US" sz="125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 = 大幅降低壓測門檻，讓日常迭代都有即時效能保護！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5.png" id="163" name="Google Shape;1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6.png"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7.png"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8.png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EFF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  <p:pic>
        <p:nvPicPr>
          <p:cNvPr descr="s9_logo.png" id="189" name="Google Shape;1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13953" y="8215312"/>
            <a:ext cx="4442046" cy="92868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/>
        </p:nvSpPr>
        <p:spPr>
          <a:xfrm>
            <a:off x="614325" y="452437"/>
            <a:ext cx="14176744" cy="833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將觀念融會貫通：10 行關鍵程式碼實戰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520558" y="1940718"/>
            <a:ext cx="9876465" cy="5548312"/>
          </a:xfrm>
          <a:prstGeom prst="roundRect">
            <a:avLst>
              <a:gd fmla="val 4000" name="adj"/>
            </a:avLst>
          </a:prstGeom>
          <a:solidFill>
            <a:srgbClr val="222222"/>
          </a:solidFill>
          <a:ln>
            <a:noFill/>
          </a:ln>
          <a:effectLst>
            <a:outerShdw blurRad="190500" rotWithShape="0" algn="t" dir="5400000" dist="381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3851348" y="2559843"/>
            <a:ext cx="9451162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import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http </a:t>
            </a: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from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'k6/http'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import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{ check, group, sleep } </a:t>
            </a: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from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'k6'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export const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options = { vus: </a:t>
            </a:r>
            <a:r>
              <a:rPr b="0" lang="en-US" sz="1400">
                <a:solidFill>
                  <a:srgbClr val="F78C6C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5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, duration: 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'10s'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};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export default function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() {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</a:t>
            </a:r>
            <a:r>
              <a:rPr b="0" lang="en-US" sz="1400">
                <a:solidFill>
                  <a:srgbClr val="82AAFF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group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(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'User_Profile_Flow'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, </a:t>
            </a: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function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() {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</a:t>
            </a: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const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userId = __VU;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</a:t>
            </a:r>
            <a:r>
              <a:rPr b="0" lang="en-US" sz="1400">
                <a:solidFill>
                  <a:srgbClr val="C792EA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const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res = http.</a:t>
            </a:r>
            <a:r>
              <a:rPr b="0" lang="en-US" sz="1400">
                <a:solidFill>
                  <a:srgbClr val="82AAFF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get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(http.url`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https://quickpizza.grafana.com/api/json?id=</a:t>
            </a:r>
            <a:r>
              <a:rPr b="0" lang="en-US" sz="1400">
                <a:solidFill>
                  <a:srgbClr val="89DDFF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${userId}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`);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</a:t>
            </a:r>
            <a:r>
              <a:rPr b="0" lang="en-US" sz="1400">
                <a:solidFill>
                  <a:srgbClr val="82AAFF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check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(res, {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'status is 200'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: (r) =&gt; r.status === </a:t>
            </a:r>
            <a:r>
              <a:rPr b="0" lang="en-US" sz="1400">
                <a:solidFill>
                  <a:srgbClr val="F78C6C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200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,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'body contains id'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: (r) =&gt; r.body.</a:t>
            </a:r>
            <a:r>
              <a:rPr b="0" lang="en-US" sz="1400">
                <a:solidFill>
                  <a:srgbClr val="82AAFF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includes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(</a:t>
            </a:r>
            <a:r>
              <a:rPr b="0" lang="en-US" sz="1400">
                <a:solidFill>
                  <a:srgbClr val="C3E88D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'"id"'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),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});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});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</a:t>
            </a:r>
            <a:r>
              <a:rPr b="0" lang="en-US" sz="1400">
                <a:solidFill>
                  <a:srgbClr val="82AAFF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sleep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(</a:t>
            </a:r>
            <a:r>
              <a:rPr b="0" lang="en-US" sz="1400">
                <a:solidFill>
                  <a:srgbClr val="F78C6C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1</a:t>
            </a: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);</a:t>
            </a:r>
            <a:endParaRPr/>
          </a:p>
          <a:p>
            <a:pPr indent="0" lvl="0" marL="0" marR="0" rtl="0" algn="l">
              <a:lnSpc>
                <a:spcPct val="13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6E6E6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}</a:t>
            </a:r>
            <a:endParaRPr/>
          </a:p>
        </p:txBody>
      </p:sp>
      <p:cxnSp>
        <p:nvCxnSpPr>
          <p:cNvPr id="193" name="Google Shape;193;p9"/>
          <p:cNvCxnSpPr/>
          <p:nvPr/>
        </p:nvCxnSpPr>
        <p:spPr>
          <a:xfrm>
            <a:off x="3189767" y="3417093"/>
            <a:ext cx="56707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4" name="Google Shape;194;p9"/>
          <p:cNvSpPr/>
          <p:nvPr/>
        </p:nvSpPr>
        <p:spPr>
          <a:xfrm>
            <a:off x="496186" y="2857500"/>
            <a:ext cx="2811720" cy="1119187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t" dir="5400000" dist="381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685209" y="2857500"/>
            <a:ext cx="2528186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1. 全域設定: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設定 VU 與壓測時長</a:t>
            </a:r>
            <a:endParaRPr/>
          </a:p>
        </p:txBody>
      </p:sp>
      <p:cxnSp>
        <p:nvCxnSpPr>
          <p:cNvPr id="196" name="Google Shape;196;p9"/>
          <p:cNvCxnSpPr/>
          <p:nvPr/>
        </p:nvCxnSpPr>
        <p:spPr>
          <a:xfrm flipH="1">
            <a:off x="8033488" y="3214687"/>
            <a:ext cx="4961860" cy="976313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7" name="Google Shape;197;p9"/>
          <p:cNvSpPr/>
          <p:nvPr/>
        </p:nvSpPr>
        <p:spPr>
          <a:xfrm>
            <a:off x="12877209" y="2262187"/>
            <a:ext cx="2622697" cy="1166812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t" dir="5400000" dist="381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13066232" y="2262187"/>
            <a:ext cx="2339162" cy="1166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2. 業務封裝: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邏輯分組獨立統計</a:t>
            </a:r>
            <a:endParaRPr/>
          </a:p>
        </p:txBody>
      </p:sp>
      <p:cxnSp>
        <p:nvCxnSpPr>
          <p:cNvPr id="199" name="Google Shape;199;p9"/>
          <p:cNvCxnSpPr/>
          <p:nvPr/>
        </p:nvCxnSpPr>
        <p:spPr>
          <a:xfrm rot="10800000">
            <a:off x="12026604" y="4762500"/>
            <a:ext cx="1559442" cy="833437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0" name="Google Shape;200;p9"/>
          <p:cNvSpPr/>
          <p:nvPr/>
        </p:nvSpPr>
        <p:spPr>
          <a:xfrm>
            <a:off x="13255255" y="5381625"/>
            <a:ext cx="2717209" cy="123825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t" dir="5400000" dist="381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3444279" y="5381625"/>
            <a:ext cx="2433674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3. 記憶體防護: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動態 URL 指標收斂</a:t>
            </a:r>
            <a:endParaRPr/>
          </a:p>
        </p:txBody>
      </p:sp>
      <p:cxnSp>
        <p:nvCxnSpPr>
          <p:cNvPr id="202" name="Google Shape;202;p9"/>
          <p:cNvCxnSpPr/>
          <p:nvPr/>
        </p:nvCxnSpPr>
        <p:spPr>
          <a:xfrm flipH="1" rot="10800000">
            <a:off x="3071627" y="5441156"/>
            <a:ext cx="1394047" cy="750094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9"/>
          <p:cNvSpPr/>
          <p:nvPr/>
        </p:nvSpPr>
        <p:spPr>
          <a:xfrm>
            <a:off x="496186" y="5881687"/>
            <a:ext cx="2693581" cy="1143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t" dir="5400000" dist="381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685209" y="5881687"/>
            <a:ext cx="241004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4. 軟性斷言: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非中斷狀態驗證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0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>
            <a:hlinkClick r:id="rId4"/>
          </p:cNvPr>
          <p:cNvSpPr/>
          <p:nvPr/>
        </p:nvSpPr>
        <p:spPr>
          <a:xfrm>
            <a:off x="34747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0284C7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