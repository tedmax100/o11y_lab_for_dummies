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9144000" cx="16256000"/>
  <p:notesSz cx="6858000" cy="9144000"/>
  <p:embeddedFontLst>
    <p:embeddedFont>
      <p:font typeface="Noto Sans Mono"/>
      <p:regular r:id="rId16"/>
      <p:bold r:id="rId17"/>
    </p:embeddedFont>
    <p:embeddedFont>
      <p:font typeface="Noto Sans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ixUToRK/RO3npMkJV1ZPIrGzcFt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NotoSansMono-regular.fntdata"/><Relationship Id="rId17" Type="http://schemas.openxmlformats.org/officeDocument/2006/relationships/font" Target="fonts/NotoSansMono-bold.fntdata"/><Relationship Id="rId18" Type="http://schemas.openxmlformats.org/officeDocument/2006/relationships/font" Target="fonts/NotoSans-regular.fntdata"/><Relationship Id="rId19" Type="http://schemas.openxmlformats.org/officeDocument/2006/relationships/font" Target="fonts/NotoSans-bold.fntdata"/><Relationship Id="rId20" Type="http://schemas.openxmlformats.org/officeDocument/2006/relationships/font" Target="fonts/NotoSans-italic.fntdata"/><Relationship Id="rId21" Type="http://schemas.openxmlformats.org/officeDocument/2006/relationships/font" Target="fonts/NotoSans-boldItalic.fntdata"/><Relationship Id="rId22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p95 (ms)</c:v>
                </c:pt>
              </c:strCache>
            </c:strRef>
          </c:tx>
          <c:dPt>
            <c:idx val="0"/>
            <c:spPr>
              <a:solidFill>
                <a:srgbClr val="2A78D6"/>
              </a:solidFill>
            </c:spPr>
          </c:dPt>
          <c:dPt>
            <c:idx val="1"/>
            <c:spPr>
              <a:solidFill>
                <a:srgbClr val="F97316"/>
              </a:solidFill>
            </c:spPr>
          </c:dPt>
          <c:dPt>
            <c:idx val="2"/>
            <c:spPr>
              <a:solidFill>
                <a:srgbClr val="2A78D6"/>
              </a:solidFill>
            </c:spPr>
          </c:dPt>
          <c:cat>
            <c:strRef>
              <c:f>Sheet1!$A$2:$A$4</c:f>
              <c:strCache>
                <c:ptCount val="3"/>
                <c:pt idx="0">
                  <c:v>瀏覽首頁</c:v>
                </c:pt>
                <c:pt idx="1">
                  <c:v>取得推薦</c:v>
                </c:pt>
                <c:pt idx="2">
                  <c:v>送出評分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201.6</c:v>
                </c:pt>
                <c:pt idx="1">
                  <c:v>312.1</c:v>
                </c:pt>
                <c:pt idx="2">
                  <c:v>233.3</c:v>
                </c:pt>
              </c:numCache>
            </c:numRef>
          </c:val>
        </c:ser>
        <c:dLbls>
          <c:numFmt formatCode="0&quot; ms&quot;" sourceLinked="0"/>
          <c:txPr>
            <a:bodyPr/>
            <a:lstStyle/>
            <a:p>
              <a:pPr>
                <a:defRPr sz="1300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4D4D8"/>
            </a:solidFill>
          </a:ln>
        </c:spPr>
        <c:txPr>
          <a:bodyPr/>
          <a:lstStyle/>
          <a:p>
            <a:pPr>
              <a:defRPr sz="1300">
                <a:solidFill>
                  <a:srgbClr val="3F3F4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chart" Target="../charts/chart1.xml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  <p:pic>
        <p:nvPicPr>
          <p:cNvPr descr="s2_logo.png" id="92" name="Google Shape;9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813953" y="8191500"/>
            <a:ext cx="4442046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"/>
          <p:cNvSpPr/>
          <p:nvPr/>
        </p:nvSpPr>
        <p:spPr>
          <a:xfrm>
            <a:off x="614325" y="1428750"/>
            <a:ext cx="15027348" cy="6786562"/>
          </a:xfrm>
          <a:prstGeom prst="roundRect">
            <a:avLst>
              <a:gd fmla="val 2000" name="adj"/>
            </a:avLst>
          </a:prstGeom>
          <a:solidFill>
            <a:srgbClr val="F8F7F2"/>
          </a:solidFill>
          <a:ln cap="flat" cmpd="sng" w="15875">
            <a:solidFill>
              <a:srgbClr val="A8A8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4" name="Google Shape;94;p2"/>
          <p:cNvCxnSpPr/>
          <p:nvPr/>
        </p:nvCxnSpPr>
        <p:spPr>
          <a:xfrm>
            <a:off x="8128000" y="1428750"/>
            <a:ext cx="0" cy="6786562"/>
          </a:xfrm>
          <a:prstGeom prst="straightConnector1">
            <a:avLst/>
          </a:prstGeom>
          <a:noFill/>
          <a:ln cap="flat" cmpd="sng" w="12700">
            <a:solidFill>
              <a:srgbClr val="C9C9C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95" name="Google Shape;95;p2"/>
          <p:cNvCxnSpPr/>
          <p:nvPr/>
        </p:nvCxnSpPr>
        <p:spPr>
          <a:xfrm>
            <a:off x="614325" y="4881562"/>
            <a:ext cx="15027349" cy="0"/>
          </a:xfrm>
          <a:prstGeom prst="straightConnector1">
            <a:avLst/>
          </a:prstGeom>
          <a:noFill/>
          <a:ln cap="flat" cmpd="sng" w="12700">
            <a:solidFill>
              <a:srgbClr val="C9C9C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s2_threads.png" id="96" name="Google Shape;96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5116" y="2095500"/>
            <a:ext cx="6993860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2_goroutines.png" id="97" name="Google Shape;97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97860" y="5572125"/>
            <a:ext cx="6946604" cy="2452687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2"/>
          <p:cNvSpPr txBox="1"/>
          <p:nvPr/>
        </p:nvSpPr>
        <p:spPr>
          <a:xfrm>
            <a:off x="614325" y="452437"/>
            <a:ext cx="1502734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極致資源利用率：為什麼 k6 單機就能榨出數萬併發？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826976" y="1571625"/>
            <a:ext cx="7088372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JMeter (JVM Thread-based 模型)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826976" y="5024437"/>
            <a:ext cx="7088372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k6 (Goroutine 模型)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8624186" y="1905000"/>
            <a:ext cx="6733953" cy="27979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83534" lvl="0" marL="28353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Noto Sans"/>
              <a:buChar char="•"/>
            </a:pPr>
            <a:r>
              <a:rPr b="0" lang="en-US" sz="2000">
                <a:solidFill>
                  <a:srgbClr val="1F1F1F"/>
                </a:solidFill>
                <a:latin typeface="Noto Sans"/>
                <a:ea typeface="Noto Sans"/>
                <a:cs typeface="Noto Sans"/>
                <a:sym typeface="Noto Sans"/>
              </a:rPr>
              <a:t>每個虛擬使用者 (VU) 綁定一條作業系統執行緒，記憶體與排程開銷龐大。</a:t>
            </a:r>
            <a:endParaRPr/>
          </a:p>
          <a:p>
            <a:pPr indent="-283534" lvl="0" marL="283534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Noto Sans"/>
              <a:buChar char="•"/>
            </a:pPr>
            <a:r>
              <a:rPr b="0" lang="en-US" sz="2000">
                <a:solidFill>
                  <a:srgbClr val="1F1F1F"/>
                </a:solidFill>
                <a:latin typeface="Noto Sans"/>
                <a:ea typeface="Noto Sans"/>
                <a:cs typeface="Noto Sans"/>
                <a:sym typeface="Noto Sans"/>
              </a:rPr>
              <a:t>消耗基準：</a:t>
            </a:r>
            <a:r>
              <a:rPr b="0" lang="en-US" sz="1800">
                <a:solidFill>
                  <a:srgbClr val="1F4E6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1MB+ stack per thread</a:t>
            </a:r>
            <a:endParaRPr/>
          </a:p>
          <a:p>
            <a:pPr indent="-283534" lvl="0" marL="283534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Noto Sans"/>
              <a:buChar char="•"/>
            </a:pPr>
            <a:r>
              <a:rPr b="0" lang="en-US" sz="2000">
                <a:solidFill>
                  <a:srgbClr val="1F1F1F"/>
                </a:solidFill>
                <a:latin typeface="Noto Sans"/>
                <a:ea typeface="Noto Sans"/>
                <a:cs typeface="Noto Sans"/>
                <a:sym typeface="Noto Sans"/>
              </a:rPr>
              <a:t>高併發下大量 Context Switch 與 GC 停頓，導致資源吃滿、數據失真。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8624186" y="5238750"/>
            <a:ext cx="6733953" cy="28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83534" lvl="0" marL="28353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Noto Sans"/>
              <a:buChar char="•"/>
            </a:pPr>
            <a:r>
              <a:rPr b="0" lang="en-US" sz="2000">
                <a:solidFill>
                  <a:srgbClr val="1F1F1F"/>
                </a:solidFill>
                <a:latin typeface="Noto Sans"/>
                <a:ea typeface="Noto Sans"/>
                <a:cs typeface="Noto Sans"/>
                <a:sym typeface="Noto Sans"/>
              </a:rPr>
              <a:t>底層採用 Go 輕量協程與非同步 I/O，排程成本遠低於 OS 執行緒。</a:t>
            </a:r>
            <a:endParaRPr/>
          </a:p>
          <a:p>
            <a:pPr indent="-283534" lvl="0" marL="283534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Noto Sans"/>
              <a:buChar char="•"/>
            </a:pPr>
            <a:r>
              <a:rPr b="0" lang="en-US" sz="2000">
                <a:solidFill>
                  <a:srgbClr val="1F1F1F"/>
                </a:solidFill>
                <a:latin typeface="Noto Sans"/>
                <a:ea typeface="Noto Sans"/>
                <a:cs typeface="Noto Sans"/>
                <a:sym typeface="Noto Sans"/>
              </a:rPr>
              <a:t>消耗基準：</a:t>
            </a:r>
            <a:r>
              <a:rPr b="1" lang="en-US" sz="1800">
                <a:solidFill>
                  <a:srgbClr val="1B5E57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~1–5MB per VU</a:t>
            </a:r>
            <a:r>
              <a:rPr b="0" lang="en-US" sz="1500">
                <a:solidFill>
                  <a:srgbClr val="5A5A55"/>
                </a:solidFill>
                <a:latin typeface="Noto Sans"/>
                <a:ea typeface="Noto Sans"/>
                <a:cs typeface="Noto Sans"/>
                <a:sym typeface="Noto Sans"/>
              </a:rPr>
              <a:t>（每個 VU 含獨立 JS Runtime；goroutine 本身僅 ~2KB）</a:t>
            </a:r>
            <a:endParaRPr/>
          </a:p>
          <a:p>
            <a:pPr indent="-283534" lvl="0" marL="283534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2000"/>
              <a:buFont typeface="Noto Sans"/>
              <a:buChar char="•"/>
            </a:pPr>
            <a:r>
              <a:rPr b="0" lang="en-US" sz="2000">
                <a:solidFill>
                  <a:srgbClr val="1F1F1F"/>
                </a:solidFill>
                <a:latin typeface="Noto Sans"/>
                <a:ea typeface="Noto Sans"/>
                <a:cs typeface="Noto Sans"/>
                <a:sym typeface="Noto Sans"/>
              </a:rPr>
              <a:t>官方數據：高規格單機可達 3–4 萬 VUs；規劃前先用 100 VUs 實測記憶體再等比例推估。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3.png" id="107" name="Google Shape;10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  <p:pic>
        <p:nvPicPr>
          <p:cNvPr descr="s4_logo.png" id="115" name="Google Shape;115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86976" y="8072437"/>
            <a:ext cx="5032744" cy="88106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4"/>
          <p:cNvSpPr txBox="1"/>
          <p:nvPr/>
        </p:nvSpPr>
        <p:spPr>
          <a:xfrm>
            <a:off x="567069" y="476250"/>
            <a:ext cx="15121860" cy="690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壓測進入 AI 時代：k6 CLI x AI 現代化工作流</a:t>
            </a:r>
            <a:endParaRPr/>
          </a:p>
        </p:txBody>
      </p:sp>
      <p:sp>
        <p:nvSpPr>
          <p:cNvPr id="117" name="Google Shape;117;p4"/>
          <p:cNvSpPr txBox="1"/>
          <p:nvPr/>
        </p:nvSpPr>
        <p:spPr>
          <a:xfrm>
            <a:off x="567069" y="1143000"/>
            <a:ext cx="15121860" cy="3571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基於 Model Context Protocol (MCP) 與 AI Agent 打造全自動、智慧化的效能工程</a:t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567069" y="1726406"/>
            <a:ext cx="7419162" cy="6215062"/>
          </a:xfrm>
          <a:prstGeom prst="roundRect">
            <a:avLst>
              <a:gd fmla="val 3000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862418" y="2024062"/>
            <a:ext cx="1346790" cy="309562"/>
          </a:xfrm>
          <a:prstGeom prst="roundRect">
            <a:avLst>
              <a:gd fmla="val 30000" name="adj"/>
            </a:avLst>
          </a:prstGeom>
          <a:solidFill>
            <a:srgbClr val="EDE9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 txBox="1"/>
          <p:nvPr/>
        </p:nvSpPr>
        <p:spPr>
          <a:xfrm>
            <a:off x="862418" y="2024062"/>
            <a:ext cx="1346790" cy="309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D28D9"/>
                </a:solidFill>
                <a:latin typeface="Noto Sans"/>
                <a:ea typeface="Noto Sans"/>
                <a:cs typeface="Noto Sans"/>
                <a:sym typeface="Noto Sans"/>
              </a:rPr>
              <a:t>k6 MCP Server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2327348" y="1964531"/>
            <a:ext cx="5434418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Model Context Protocol 官方串接</a:t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862425" y="2512226"/>
            <a:ext cx="6840300" cy="1190700"/>
          </a:xfrm>
          <a:prstGeom prst="roundRect">
            <a:avLst>
              <a:gd fmla="val 8000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1039627" y="2595562"/>
            <a:ext cx="65568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// k6 x agent init 會自動寫入；也可手動註冊 (Claude Code / Cursor / Copilot)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5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"mcpServers": {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5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"k6": { "command": "k6", "args": ["x", "mcp"] }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5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}</a:t>
            </a:r>
            <a:endParaRPr sz="1600"/>
          </a:p>
        </p:txBody>
      </p:sp>
      <p:sp>
        <p:nvSpPr>
          <p:cNvPr id="124" name="Google Shape;124;p4"/>
          <p:cNvSpPr/>
          <p:nvPr/>
        </p:nvSpPr>
        <p:spPr>
          <a:xfrm>
            <a:off x="862418" y="3786187"/>
            <a:ext cx="6840279" cy="738187"/>
          </a:xfrm>
          <a:prstGeom prst="roundRect">
            <a:avLst>
              <a:gd fmla="val 12000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1027813" y="3905250"/>
            <a:ext cx="1795720" cy="261937"/>
          </a:xfrm>
          <a:prstGeom prst="roundRect">
            <a:avLst>
              <a:gd fmla="val 25000" name="adj"/>
            </a:avLst>
          </a:prstGeom>
          <a:solidFill>
            <a:srgbClr val="F3E8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27813" y="3905250"/>
            <a:ext cx="1795720" cy="261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7E22CE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validate_script</a:t>
            </a:r>
            <a:endParaRPr/>
          </a:p>
        </p:txBody>
      </p:sp>
      <p:sp>
        <p:nvSpPr>
          <p:cNvPr id="127" name="Google Shape;127;p4"/>
          <p:cNvSpPr txBox="1"/>
          <p:nvPr/>
        </p:nvSpPr>
        <p:spPr>
          <a:xfrm>
            <a:off x="2941674" y="3881437"/>
            <a:ext cx="4725581" cy="309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1 VU 冒煙預檢</a:t>
            </a:r>
            <a:endParaRPr/>
          </a:p>
        </p:txBody>
      </p:sp>
      <p:sp>
        <p:nvSpPr>
          <p:cNvPr id="128" name="Google Shape;128;p4"/>
          <p:cNvSpPr txBox="1"/>
          <p:nvPr/>
        </p:nvSpPr>
        <p:spPr>
          <a:xfrm>
            <a:off x="1027813" y="4214812"/>
            <a:ext cx="655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以 1 VU、1 次迭代實際執行腳本，回報語法、執行期與連線錯誤。</a:t>
            </a:r>
            <a:endParaRPr sz="1600"/>
          </a:p>
        </p:txBody>
      </p:sp>
      <p:sp>
        <p:nvSpPr>
          <p:cNvPr id="129" name="Google Shape;129;p4"/>
          <p:cNvSpPr/>
          <p:nvPr/>
        </p:nvSpPr>
        <p:spPr>
          <a:xfrm>
            <a:off x="862418" y="4667250"/>
            <a:ext cx="6840279" cy="738187"/>
          </a:xfrm>
          <a:prstGeom prst="roundRect">
            <a:avLst>
              <a:gd fmla="val 12000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1027813" y="4786312"/>
            <a:ext cx="1252279" cy="261937"/>
          </a:xfrm>
          <a:prstGeom prst="roundRect">
            <a:avLst>
              <a:gd fmla="val 25000" name="adj"/>
            </a:avLst>
          </a:prstGeom>
          <a:solidFill>
            <a:srgbClr val="F3E8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27813" y="4786312"/>
            <a:ext cx="1252279" cy="261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7E22CE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run_script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2398232" y="4762500"/>
            <a:ext cx="4725581" cy="309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對話內直接執行測試</a:t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1027813" y="5095875"/>
            <a:ext cx="655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AI 助手驅動本機 k6 壓測，回傳 RPS、P95 延遲與錯誤率（上限 50 VUs / 5 分鐘）。</a:t>
            </a:r>
            <a:endParaRPr sz="1600"/>
          </a:p>
        </p:txBody>
      </p:sp>
      <p:sp>
        <p:nvSpPr>
          <p:cNvPr id="134" name="Google Shape;134;p4"/>
          <p:cNvSpPr/>
          <p:nvPr/>
        </p:nvSpPr>
        <p:spPr>
          <a:xfrm>
            <a:off x="862418" y="5548312"/>
            <a:ext cx="6840279" cy="738187"/>
          </a:xfrm>
          <a:prstGeom prst="roundRect">
            <a:avLst>
              <a:gd fmla="val 12000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1027813" y="5667375"/>
            <a:ext cx="2013097" cy="261937"/>
          </a:xfrm>
          <a:prstGeom prst="roundRect">
            <a:avLst>
              <a:gd fmla="val 25000" name="adj"/>
            </a:avLst>
          </a:prstGeom>
          <a:solidFill>
            <a:srgbClr val="F3E8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1027813" y="5667375"/>
            <a:ext cx="2013097" cy="261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7E22CE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get_documentation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3159051" y="5643562"/>
            <a:ext cx="4725581" cy="309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官方最新文檔知識庫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1027813" y="5976937"/>
            <a:ext cx="655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動態檢索 Grafana k6 最新模組規格、Executor 設定與最佳實踐範例。</a:t>
            </a:r>
            <a:endParaRPr sz="1600"/>
          </a:p>
        </p:txBody>
      </p:sp>
      <p:sp>
        <p:nvSpPr>
          <p:cNvPr id="139" name="Google Shape;139;p4"/>
          <p:cNvSpPr txBox="1"/>
          <p:nvPr/>
        </p:nvSpPr>
        <p:spPr>
          <a:xfrm>
            <a:off x="862418" y="6477000"/>
            <a:ext cx="68403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k6 MCP 共提供 6 個工具：</a:t>
            </a:r>
            <a:r>
              <a:rPr b="0" lang="en-US">
                <a:solidFill>
                  <a:srgbClr val="475569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validate_script、run_script、get_documentation、list_sections、info、search_terraform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新版 k6 以 </a:t>
            </a:r>
            <a:r>
              <a:rPr b="1" lang="en-US">
                <a:solidFill>
                  <a:srgbClr val="6D28D9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k6 x mcp</a:t>
            </a:r>
            <a:r>
              <a:rPr b="0" lang="en-US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 子命令內建，無須 Node.js / npx（Chapter 6 詳解）。</a:t>
            </a:r>
            <a:endParaRPr sz="1600"/>
          </a:p>
        </p:txBody>
      </p:sp>
      <p:sp>
        <p:nvSpPr>
          <p:cNvPr id="140" name="Google Shape;140;p4"/>
          <p:cNvSpPr/>
          <p:nvPr/>
        </p:nvSpPr>
        <p:spPr>
          <a:xfrm>
            <a:off x="8269767" y="1726406"/>
            <a:ext cx="7419162" cy="6215062"/>
          </a:xfrm>
          <a:prstGeom prst="roundRect">
            <a:avLst>
              <a:gd fmla="val 3000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8553302" y="2024062"/>
            <a:ext cx="1346790" cy="309562"/>
          </a:xfrm>
          <a:prstGeom prst="roundRect">
            <a:avLst>
              <a:gd fmla="val 30000" name="adj"/>
            </a:avLst>
          </a:prstGeom>
          <a:solidFill>
            <a:srgbClr val="FEF3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8553302" y="2024062"/>
            <a:ext cx="1346790" cy="309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AI Agent 工作流</a:t>
            </a:r>
            <a:endParaRPr/>
          </a:p>
        </p:txBody>
      </p:sp>
      <p:sp>
        <p:nvSpPr>
          <p:cNvPr id="143" name="Google Shape;143;p4"/>
          <p:cNvSpPr txBox="1"/>
          <p:nvPr/>
        </p:nvSpPr>
        <p:spPr>
          <a:xfrm>
            <a:off x="10041860" y="1964531"/>
            <a:ext cx="5434418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Bootstrap with k6 x Agent 自主生成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8553302" y="2512218"/>
            <a:ext cx="6840279" cy="762000"/>
          </a:xfrm>
          <a:prstGeom prst="roundRect">
            <a:avLst>
              <a:gd fmla="val 8000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8765953" y="2607468"/>
            <a:ext cx="6497674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🔍 1. 專案規格與流量掃描 (Scan Assets)</a:t>
            </a:r>
            <a:endParaRPr/>
          </a:p>
        </p:txBody>
      </p:sp>
      <p:sp>
        <p:nvSpPr>
          <p:cNvPr id="146" name="Google Shape;146;p4"/>
          <p:cNvSpPr txBox="1"/>
          <p:nvPr/>
        </p:nvSpPr>
        <p:spPr>
          <a:xfrm>
            <a:off x="8765953" y="2905125"/>
            <a:ext cx="649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Agent 讀取專案代碼庫中的 OpenAPI / Swagger 規格或 HAR 網路錄製檔。</a:t>
            </a:r>
            <a:endParaRPr sz="1600"/>
          </a:p>
        </p:txBody>
      </p:sp>
      <p:sp>
        <p:nvSpPr>
          <p:cNvPr id="147" name="Google Shape;147;p4"/>
          <p:cNvSpPr/>
          <p:nvPr/>
        </p:nvSpPr>
        <p:spPr>
          <a:xfrm>
            <a:off x="8553302" y="3417093"/>
            <a:ext cx="6840279" cy="762000"/>
          </a:xfrm>
          <a:prstGeom prst="roundRect">
            <a:avLst>
              <a:gd fmla="val 8000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8765953" y="3512343"/>
            <a:ext cx="6497674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⚡ 2. 智慧逆向生成情境 (Synthesize Scenarios)</a:t>
            </a:r>
            <a:endParaRPr/>
          </a:p>
        </p:txBody>
      </p:sp>
      <p:sp>
        <p:nvSpPr>
          <p:cNvPr id="149" name="Google Shape;149;p4"/>
          <p:cNvSpPr txBox="1"/>
          <p:nvPr/>
        </p:nvSpPr>
        <p:spPr>
          <a:xfrm>
            <a:off x="8765953" y="3810000"/>
            <a:ext cx="649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自動產出包含 Smoke、Load、Stress 的完整情境，精準注入 Token 與 Check 斷言。</a:t>
            </a:r>
            <a:endParaRPr sz="1600"/>
          </a:p>
        </p:txBody>
      </p:sp>
      <p:sp>
        <p:nvSpPr>
          <p:cNvPr id="150" name="Google Shape;150;p4"/>
          <p:cNvSpPr/>
          <p:nvPr/>
        </p:nvSpPr>
        <p:spPr>
          <a:xfrm>
            <a:off x="8553300" y="4321976"/>
            <a:ext cx="6840300" cy="881100"/>
          </a:xfrm>
          <a:prstGeom prst="roundRect">
            <a:avLst>
              <a:gd fmla="val 8000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 txBox="1"/>
          <p:nvPr/>
        </p:nvSpPr>
        <p:spPr>
          <a:xfrm>
            <a:off x="8765953" y="4417218"/>
            <a:ext cx="6497674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🔄 3. 閉環自癒與冒煙驗證 (Self-Healing Loop)</a:t>
            </a:r>
            <a:endParaRPr/>
          </a:p>
        </p:txBody>
      </p:sp>
      <p:sp>
        <p:nvSpPr>
          <p:cNvPr id="152" name="Google Shape;152;p4"/>
          <p:cNvSpPr txBox="1"/>
          <p:nvPr/>
        </p:nvSpPr>
        <p:spPr>
          <a:xfrm>
            <a:off x="8765953" y="4714875"/>
            <a:ext cx="6497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Agent 調用 validate_script 執行 1 VU 冒煙驗證，自主修復 4xx/5xx 與語法問題，再以 run_script 加壓。</a:t>
            </a:r>
            <a:endParaRPr sz="1600"/>
          </a:p>
        </p:txBody>
      </p:sp>
      <p:sp>
        <p:nvSpPr>
          <p:cNvPr id="153" name="Google Shape;153;p4"/>
          <p:cNvSpPr/>
          <p:nvPr/>
        </p:nvSpPr>
        <p:spPr>
          <a:xfrm>
            <a:off x="8553302" y="5395340"/>
            <a:ext cx="6840300" cy="738300"/>
          </a:xfrm>
          <a:prstGeom prst="roundRect">
            <a:avLst>
              <a:gd fmla="val 8000" name="adj"/>
            </a:avLst>
          </a:prstGeom>
          <a:solidFill>
            <a:srgbClr val="F5F3FF"/>
          </a:solidFill>
          <a:ln cap="flat" cmpd="sng" w="12700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 txBox="1"/>
          <p:nvPr/>
        </p:nvSpPr>
        <p:spPr>
          <a:xfrm>
            <a:off x="8765953" y="5490590"/>
            <a:ext cx="64977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6D28D9"/>
                </a:solidFill>
                <a:latin typeface="Noto Sans"/>
                <a:ea typeface="Noto Sans"/>
                <a:cs typeface="Noto Sans"/>
                <a:sym typeface="Noto Sans"/>
              </a:rPr>
              <a:t>🧩 一鍵配置：</a:t>
            </a:r>
            <a:r>
              <a:rPr b="1" lang="en-US" sz="1500">
                <a:solidFill>
                  <a:srgbClr val="6D28D9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k6 x agent init claude-code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同時安裝 11 個 k6 AI 技能包並註冊 k6 MCP 伺服器（Chapter 6）</a:t>
            </a:r>
            <a:endParaRPr sz="1600"/>
          </a:p>
        </p:txBody>
      </p:sp>
      <p:sp>
        <p:nvSpPr>
          <p:cNvPr id="155" name="Google Shape;155;p4"/>
          <p:cNvSpPr/>
          <p:nvPr/>
        </p:nvSpPr>
        <p:spPr>
          <a:xfrm>
            <a:off x="8553302" y="6977062"/>
            <a:ext cx="6840279" cy="690562"/>
          </a:xfrm>
          <a:prstGeom prst="roundRect">
            <a:avLst>
              <a:gd fmla="val 10000" name="adj"/>
            </a:avLst>
          </a:prstGeom>
          <a:solidFill>
            <a:srgbClr val="FEF9C3"/>
          </a:solidFill>
          <a:ln cap="flat" cmpd="sng" w="12700">
            <a:solidFill>
              <a:srgbClr val="F59E0B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8742325" y="7024687"/>
            <a:ext cx="6497674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92400E"/>
                </a:solidFill>
                <a:latin typeface="Noto Sans"/>
                <a:ea typeface="Noto Sans"/>
                <a:cs typeface="Noto Sans"/>
                <a:sym typeface="Noto Sans"/>
              </a:rPr>
              <a:t>🚀 內建 Prompts 與 Best Practices 資源：</a:t>
            </a:r>
            <a:r>
              <a:rPr b="0" lang="en-US" sz="1250">
                <a:solidFill>
                  <a:srgbClr val="92400E"/>
                </a:solidFill>
                <a:latin typeface="Noto Sans"/>
                <a:ea typeface="Noto Sans"/>
                <a:cs typeface="Noto Sans"/>
                <a:sym typeface="Noto Sans"/>
              </a:rPr>
              <a:t>提供複雜腳本起手式模板，從「手動刻腳本」邁向「秒級自主交付」！</a:t>
            </a:r>
            <a:endParaRPr/>
          </a:p>
        </p:txBody>
      </p:sp>
      <p:sp>
        <p:nvSpPr>
          <p:cNvPr id="157" name="Google Shape;157;p4"/>
          <p:cNvSpPr/>
          <p:nvPr/>
        </p:nvSpPr>
        <p:spPr>
          <a:xfrm>
            <a:off x="567069" y="8215312"/>
            <a:ext cx="10160000" cy="452437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 txBox="1"/>
          <p:nvPr/>
        </p:nvSpPr>
        <p:spPr>
          <a:xfrm>
            <a:off x="732465" y="8215312"/>
            <a:ext cx="9876465" cy="452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🤖 效能工程新範式：  </a:t>
            </a:r>
            <a:r>
              <a:rPr b="1" lang="en-US" sz="1250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AI Copilot + k6 MCP + 自動驗證</a:t>
            </a:r>
            <a:r>
              <a:rPr b="1" lang="en-US" sz="1250">
                <a:solidFill>
                  <a:srgbClr val="111827"/>
                </a:solidFill>
                <a:latin typeface="Noto Sans"/>
                <a:ea typeface="Noto Sans"/>
                <a:cs typeface="Noto Sans"/>
                <a:sym typeface="Noto Sans"/>
              </a:rPr>
              <a:t>  = 大幅降低壓測門檻，讓日常迭代都有即時效能保護！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5.png" id="163" name="Google Shape;16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5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7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EF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90697" y="285750"/>
            <a:ext cx="15074604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Noto Sans CJK TC"/>
                <a:ea typeface="Noto Sans CJK TC"/>
              </a:rPr>
              <a:t>讓測試結果一目瞭然：用 group() 把使用者旅程分段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14325" y="952500"/>
            <a:ext cx="15074604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71717A"/>
                </a:solidFill>
                <a:latin typeface="Noto Sans CJK TC"/>
                <a:ea typeface="Noto Sans CJK TC"/>
              </a:rPr>
              <a:t>真實使用者做的是「一趟旅程」而不是「一個請求」——分段之後，哪一段慢、慢多少一目瞭然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590697" y="1524000"/>
            <a:ext cx="6615813" cy="671512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74232" y="1690687"/>
            <a:ext cx="6048744" cy="404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Noto Sans CJK TC"/>
                <a:ea typeface="Noto Sans CJK TC"/>
              </a:rPr>
              <a:t>一趟 QuickPizza 旅程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74232" y="2262187"/>
            <a:ext cx="6048744" cy="15240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86883" y="2714625"/>
            <a:ext cx="614325" cy="619125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CJK TC"/>
                <a:ea typeface="Noto Sans CJK TC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913860" y="2381250"/>
            <a:ext cx="4843720" cy="12858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11111"/>
                </a:solidFill>
                <a:latin typeface="Noto Sans Mono CJK TC"/>
                <a:ea typeface="Noto Sans Mono CJK TC"/>
              </a:rPr>
              <a:t>group('瀏覽首頁')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F3F46"/>
                </a:solidFill>
                <a:latin typeface="Noto Sans CJK TC"/>
                <a:ea typeface="Noto Sans CJK TC"/>
              </a:rPr>
              <a:t>打開 QuickPizza 首頁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71717A"/>
                </a:solidFill>
                <a:latin typeface="Noto Sans CJK TC"/>
                <a:ea typeface="Noto Sans CJK TC"/>
              </a:rPr>
              <a:t>停 1～3 秒：掃一眼就往下走</a:t>
            </a:r>
          </a:p>
        </p:txBody>
      </p:sp>
      <p:cxnSp>
        <p:nvCxnSpPr>
          <p:cNvPr id="179" name="Connector 178"/>
          <p:cNvCxnSpPr/>
          <p:nvPr/>
        </p:nvCxnSpPr>
        <p:spPr>
          <a:xfrm>
            <a:off x="3898604" y="3810000"/>
            <a:ext cx="0" cy="238125"/>
          </a:xfrm>
          <a:prstGeom prst="line">
            <a:avLst/>
          </a:prstGeom>
          <a:ln w="2540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Rounded Rectangle 179"/>
          <p:cNvSpPr/>
          <p:nvPr/>
        </p:nvSpPr>
        <p:spPr>
          <a:xfrm>
            <a:off x="874232" y="4048125"/>
            <a:ext cx="6048744" cy="15240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86883" y="4500562"/>
            <a:ext cx="614325" cy="619125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CJK TC"/>
                <a:ea typeface="Noto Sans CJK TC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913860" y="4167187"/>
            <a:ext cx="4843720" cy="12858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11111"/>
                </a:solidFill>
                <a:latin typeface="Noto Sans Mono CJK TC"/>
                <a:ea typeface="Noto Sans Mono CJK TC"/>
              </a:rPr>
              <a:t>group('取得推薦')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F3F46"/>
                </a:solidFill>
                <a:latin typeface="Noto Sans CJK TC"/>
                <a:ea typeface="Noto Sans CJK TC"/>
              </a:rPr>
              <a:t>請系統推薦一份披薩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71717A"/>
                </a:solidFill>
                <a:latin typeface="Noto Sans CJK TC"/>
                <a:ea typeface="Noto Sans CJK TC"/>
              </a:rPr>
              <a:t>停 3～8 秒：看推薦、猶豫要不要換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3898604" y="5595937"/>
            <a:ext cx="0" cy="238125"/>
          </a:xfrm>
          <a:prstGeom prst="line">
            <a:avLst/>
          </a:prstGeom>
          <a:ln w="2540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874232" y="5834062"/>
            <a:ext cx="6048744" cy="15240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086883" y="6286500"/>
            <a:ext cx="614325" cy="619125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CJK TC"/>
                <a:ea typeface="Noto Sans CJK TC"/>
              </a:rPr>
              <a:t>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913860" y="5953125"/>
            <a:ext cx="4843720" cy="12858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11111"/>
                </a:solidFill>
                <a:latin typeface="Noto Sans Mono CJK TC"/>
                <a:ea typeface="Noto Sans Mono CJK TC"/>
              </a:rPr>
              <a:t>group('送出評分')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F3F46"/>
                </a:solidFill>
                <a:latin typeface="Noto Sans CJK TC"/>
                <a:ea typeface="Noto Sans CJK TC"/>
              </a:rPr>
              <a:t>登入後替這份披薩打分數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71717A"/>
                </a:solidFill>
                <a:latin typeface="Noto Sans CJK TC"/>
                <a:ea typeface="Noto Sans CJK TC"/>
              </a:rPr>
              <a:t>停 2～5 秒：給分前想一想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74232" y="7620000"/>
            <a:ext cx="6048744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3F3F46"/>
                </a:solidFill>
                <a:latin typeface="Noto Sans CJK TC"/>
                <a:ea typeface="Noto Sans CJK TC"/>
              </a:rPr>
              <a:t>每段停頓不同，送出的流量節奏才像真人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7490046" y="1524000"/>
            <a:ext cx="8175255" cy="2976562"/>
          </a:xfrm>
          <a:prstGeom prst="roundRect">
            <a:avLst>
              <a:gd name="adj" fmla="val 5000"/>
            </a:avLst>
          </a:prstGeom>
          <a:solidFill>
            <a:srgbClr val="1F1F23"/>
          </a:solidFill>
          <a:ln w="12700">
            <a:solidFill>
              <a:srgbClr val="1F1F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3534" tIns="0" rIns="236279" bIns="0"/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C4B5FD"/>
                </a:solidFill>
                <a:latin typeface="Noto Sans Mono CJK TC"/>
                <a:ea typeface="Noto Sans Mono CJK TC"/>
              </a:rPr>
              <a:t>group</a:t>
            </a:r>
            <a:r>
              <a:rPr sz="1450" b="0">
                <a:solidFill>
                  <a:srgbClr val="86EFAC"/>
                </a:solidFill>
                <a:latin typeface="Noto Sans Mono CJK TC"/>
                <a:ea typeface="Noto Sans Mono CJK TC"/>
              </a:rPr>
              <a:t>('瀏覽首頁'</a:t>
            </a:r>
            <a:r>
              <a:rPr sz="1450" b="0">
                <a:solidFill>
                  <a:srgbClr val="E4E4E7"/>
                </a:solidFill>
                <a:latin typeface="Noto Sans Mono CJK TC"/>
                <a:ea typeface="Noto Sans Mono CJK TC"/>
              </a:rPr>
              <a:t>, () =&gt; {</a:t>
            </a: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E4E4E7"/>
                </a:solidFill>
                <a:latin typeface="Noto Sans Mono CJK TC"/>
                <a:ea typeface="Noto Sans Mono CJK TC"/>
              </a:rPr>
              <a:t>  http.get(`${BASE}/`);</a:t>
            </a: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E4E4E7"/>
                </a:solidFill>
                <a:latin typeface="Noto Sans Mono CJK TC"/>
                <a:ea typeface="Noto Sans Mono CJK TC"/>
              </a:rPr>
              <a:t>  sleep(1 + Math.random() * 2);</a:t>
            </a:r>
            <a:r>
              <a:rPr sz="1450" b="0">
                <a:solidFill>
                  <a:srgbClr val="A1A1AA"/>
                </a:solidFill>
                <a:latin typeface="Noto Sans Mono CJK TC"/>
                <a:ea typeface="Noto Sans Mono CJK TC"/>
              </a:rPr>
              <a:t>  // 1～3 秒</a:t>
            </a: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E4E4E7"/>
                </a:solidFill>
                <a:latin typeface="Noto Sans Mono CJK TC"/>
                <a:ea typeface="Noto Sans Mono CJK TC"/>
              </a:rPr>
              <a:t>});</a:t>
            </a: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C4B5FD"/>
                </a:solidFill>
                <a:latin typeface="Noto Sans Mono CJK TC"/>
                <a:ea typeface="Noto Sans Mono CJK TC"/>
              </a:rPr>
              <a:t>group</a:t>
            </a:r>
            <a:r>
              <a:rPr sz="1450" b="0">
                <a:solidFill>
                  <a:srgbClr val="86EFAC"/>
                </a:solidFill>
                <a:latin typeface="Noto Sans Mono CJK TC"/>
                <a:ea typeface="Noto Sans Mono CJK TC"/>
              </a:rPr>
              <a:t>('取得推薦'</a:t>
            </a:r>
            <a:r>
              <a:rPr sz="1450" b="0">
                <a:solidFill>
                  <a:srgbClr val="E4E4E7"/>
                </a:solidFill>
                <a:latin typeface="Noto Sans Mono CJK TC"/>
                <a:ea typeface="Noto Sans Mono CJK TC"/>
              </a:rPr>
              <a:t>, () =&gt; { /* POST /api/pizza */ });</a:t>
            </a: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C4B5FD"/>
                </a:solidFill>
                <a:latin typeface="Noto Sans Mono CJK TC"/>
                <a:ea typeface="Noto Sans Mono CJK TC"/>
              </a:rPr>
              <a:t>group</a:t>
            </a:r>
            <a:r>
              <a:rPr sz="1450" b="0">
                <a:solidFill>
                  <a:srgbClr val="86EFAC"/>
                </a:solidFill>
                <a:latin typeface="Noto Sans Mono CJK TC"/>
                <a:ea typeface="Noto Sans Mono CJK TC"/>
              </a:rPr>
              <a:t>('送出評分'</a:t>
            </a:r>
            <a:r>
              <a:rPr sz="1450" b="0">
                <a:solidFill>
                  <a:srgbClr val="E4E4E7"/>
                </a:solidFill>
                <a:latin typeface="Noto Sans Mono CJK TC"/>
                <a:ea typeface="Noto Sans Mono CJK TC"/>
              </a:rPr>
              <a:t>, () =&gt; { /* POST /api/ratings */ });</a:t>
            </a: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E4E4E7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A1A1AA"/>
                </a:solidFill>
                <a:latin typeface="Noto Sans Mono CJK TC"/>
                <a:ea typeface="Noto Sans Mono CJK TC"/>
              </a:rPr>
              <a:t>$ k6 run --summary-mode=full ch1_group_journey.js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7490046" y="4691062"/>
            <a:ext cx="8175255" cy="354806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773581" y="4833937"/>
            <a:ext cx="7608186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Noto Sans CJK TC"/>
                <a:ea typeface="Noto Sans CJK TC"/>
              </a:rPr>
              <a:t>--summary-mode=full：每一段自己的 http_req_duration p95</a:t>
            </a:r>
          </a:p>
        </p:txBody>
      </p:sp>
      <p:graphicFrame>
        <p:nvGraphicFramePr>
          <p:cNvPr id="191" name="Chart 190"/>
          <p:cNvGraphicFramePr>
            <a:graphicFrameLocks noGrp="1"/>
          </p:cNvGraphicFramePr>
          <p:nvPr/>
        </p:nvGraphicFramePr>
        <p:xfrm>
          <a:off x="7655441" y="5238750"/>
          <a:ext cx="7844465" cy="209550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92" name="TextBox 191"/>
          <p:cNvSpPr txBox="1"/>
          <p:nvPr/>
        </p:nvSpPr>
        <p:spPr>
          <a:xfrm>
            <a:off x="7773581" y="7405687"/>
            <a:ext cx="7608186" cy="690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F97316"/>
                </a:solidFill>
                <a:latin typeface="Noto Sans CJK TC"/>
                <a:ea typeface="Noto Sans CJK TC"/>
              </a:rPr>
              <a:t>回報：</a:t>
            </a:r>
            <a:r>
              <a:rPr sz="1450" b="1">
                <a:solidFill>
                  <a:srgbClr val="111111"/>
                </a:solidFill>
                <a:latin typeface="Noto Sans CJK TC"/>
                <a:ea typeface="Noto Sans CJK TC"/>
              </a:rPr>
              <a:t>「取得推薦」的 p95 是 312ms，比首頁慢 50%——</a:t>
            </a:r>
          </a:p>
          <a:p>
            <a:pPr algn="l">
              <a:spcAft>
                <a:spcPts val="200"/>
              </a:spcAft>
            </a:pPr>
            <a:r>
              <a:rPr sz="1450" b="1">
                <a:solidFill>
                  <a:srgbClr val="111111"/>
                </a:solidFill>
                <a:latin typeface="Noto Sans CJK TC"/>
                <a:ea typeface="Noto Sans CJK TC"/>
              </a:rPr>
              <a:t>比「整體有點慢」有用得多</a:t>
            </a:r>
          </a:p>
        </p:txBody>
      </p:sp>
      <p:pic>
        <p:nvPicPr>
          <p:cNvPr id="193" name="Picture 19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40465" y="8382000"/>
            <a:ext cx="1299534" cy="738187"/>
          </a:xfrm>
          <a:prstGeom prst="rect">
            <a:avLst/>
          </a:prstGeom>
        </p:spPr>
      </p:pic>
      <p:sp>
        <p:nvSpPr>
          <p:cNvPr id="170" name="Google Shape;170;p6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7.png" id="175" name="Google Shape;17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7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8.png" id="181" name="Google Shape;18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8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EFF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  <p:pic>
        <p:nvPicPr>
          <p:cNvPr descr="s9_logo.png" id="189" name="Google Shape;18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813953" y="8215312"/>
            <a:ext cx="4442046" cy="92868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9"/>
          <p:cNvSpPr txBox="1"/>
          <p:nvPr/>
        </p:nvSpPr>
        <p:spPr>
          <a:xfrm>
            <a:off x="614325" y="452437"/>
            <a:ext cx="14176744" cy="833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將觀念融會貫通：10 行關鍵程式碼實戰</a:t>
            </a:r>
            <a:endParaRPr/>
          </a:p>
        </p:txBody>
      </p:sp>
      <p:sp>
        <p:nvSpPr>
          <p:cNvPr id="191" name="Google Shape;191;p9"/>
          <p:cNvSpPr/>
          <p:nvPr/>
        </p:nvSpPr>
        <p:spPr>
          <a:xfrm>
            <a:off x="3520558" y="1940718"/>
            <a:ext cx="9876465" cy="5548312"/>
          </a:xfrm>
          <a:prstGeom prst="roundRect">
            <a:avLst>
              <a:gd fmla="val 4000" name="adj"/>
            </a:avLst>
          </a:prstGeom>
          <a:solidFill>
            <a:srgbClr val="222222"/>
          </a:solidFill>
          <a:ln>
            <a:noFill/>
          </a:ln>
          <a:effectLst>
            <a:outerShdw blurRad="190500" rotWithShape="0" algn="t" dir="5400000" dist="38100">
              <a:srgbClr val="000000">
                <a:alpha val="2196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 txBox="1"/>
          <p:nvPr/>
        </p:nvSpPr>
        <p:spPr>
          <a:xfrm>
            <a:off x="3851348" y="2559843"/>
            <a:ext cx="9451162" cy="452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import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http </a:t>
            </a: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from</a:t>
            </a:r>
            <a:r>
              <a:rPr b="0" lang="en-US" sz="1400">
                <a:solidFill>
                  <a:srgbClr val="C3E88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'k6/http'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;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import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{ check, group, sleep } </a:t>
            </a: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from</a:t>
            </a:r>
            <a:r>
              <a:rPr b="0" lang="en-US" sz="1400">
                <a:solidFill>
                  <a:srgbClr val="C3E88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'k6'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;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export const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options = { vus: </a:t>
            </a:r>
            <a:r>
              <a:rPr b="0" lang="en-US" sz="1400">
                <a:solidFill>
                  <a:srgbClr val="F78C6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duration: </a:t>
            </a:r>
            <a:r>
              <a:rPr b="0" lang="en-US" sz="1400">
                <a:solidFill>
                  <a:srgbClr val="C3E88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'10s'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};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export default function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() {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</a:t>
            </a:r>
            <a:r>
              <a:rPr b="0" lang="en-US" sz="1400">
                <a:solidFill>
                  <a:srgbClr val="82AA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group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(</a:t>
            </a:r>
            <a:r>
              <a:rPr b="0" lang="en-US" sz="1400">
                <a:solidFill>
                  <a:srgbClr val="C3E88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'User_Profile_Flow'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</a:t>
            </a: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function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() {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</a:t>
            </a: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const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userId = __VU;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</a:t>
            </a:r>
            <a:r>
              <a:rPr b="0" lang="en-US" sz="1400">
                <a:solidFill>
                  <a:srgbClr val="C792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const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res = http.</a:t>
            </a:r>
            <a:r>
              <a:rPr b="0" lang="en-US" sz="1400">
                <a:solidFill>
                  <a:srgbClr val="82AA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get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(http.url`</a:t>
            </a:r>
            <a:r>
              <a:rPr b="0" lang="en-US" sz="1400">
                <a:solidFill>
                  <a:srgbClr val="C3E88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https://quickpizza.grafana.com/api/json?id=</a:t>
            </a:r>
            <a:r>
              <a:rPr b="0" lang="en-US" sz="1400">
                <a:solidFill>
                  <a:srgbClr val="89DD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${userId}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`);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</a:t>
            </a:r>
            <a:r>
              <a:rPr b="0" lang="en-US" sz="1400">
                <a:solidFill>
                  <a:srgbClr val="82AA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check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(res, {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</a:t>
            </a:r>
            <a:r>
              <a:rPr b="0" lang="en-US" sz="1400">
                <a:solidFill>
                  <a:srgbClr val="C3E88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'status is 200'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: (r) =&gt; r.status === </a:t>
            </a:r>
            <a:r>
              <a:rPr b="0" lang="en-US" sz="1400">
                <a:solidFill>
                  <a:srgbClr val="F78C6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</a:t>
            </a:r>
            <a:r>
              <a:rPr b="0" lang="en-US" sz="1400">
                <a:solidFill>
                  <a:srgbClr val="C3E88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'body contains id'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: (r) =&gt; r.body.</a:t>
            </a:r>
            <a:r>
              <a:rPr b="0" lang="en-US" sz="1400">
                <a:solidFill>
                  <a:srgbClr val="82AA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includes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(</a:t>
            </a:r>
            <a:r>
              <a:rPr b="0" lang="en-US" sz="1400">
                <a:solidFill>
                  <a:srgbClr val="C3E88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'"id"'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),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});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});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</a:t>
            </a:r>
            <a:r>
              <a:rPr b="0" lang="en-US" sz="1400">
                <a:solidFill>
                  <a:srgbClr val="82AA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sleep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(</a:t>
            </a:r>
            <a:r>
              <a:rPr b="0" lang="en-US" sz="1400">
                <a:solidFill>
                  <a:srgbClr val="F78C6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</a:t>
            </a: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);</a:t>
            </a:r>
            <a:endParaRPr/>
          </a:p>
          <a:p>
            <a:pPr indent="0" lvl="0" marL="0" marR="0" rtl="0" algn="l">
              <a:lnSpc>
                <a:spcPct val="13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E6E6E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}</a:t>
            </a:r>
            <a:endParaRPr/>
          </a:p>
        </p:txBody>
      </p:sp>
      <p:cxnSp>
        <p:nvCxnSpPr>
          <p:cNvPr id="193" name="Google Shape;193;p9"/>
          <p:cNvCxnSpPr/>
          <p:nvPr/>
        </p:nvCxnSpPr>
        <p:spPr>
          <a:xfrm>
            <a:off x="3189767" y="3417093"/>
            <a:ext cx="567070" cy="0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4" name="Google Shape;194;p9"/>
          <p:cNvSpPr/>
          <p:nvPr/>
        </p:nvSpPr>
        <p:spPr>
          <a:xfrm>
            <a:off x="496186" y="2857500"/>
            <a:ext cx="2811720" cy="1119187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>
            <a:noFill/>
          </a:ln>
          <a:effectLst>
            <a:outerShdw blurRad="190500" rotWithShape="0" algn="t" dir="5400000" dist="38100">
              <a:srgbClr val="000000">
                <a:alpha val="2196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 txBox="1"/>
          <p:nvPr/>
        </p:nvSpPr>
        <p:spPr>
          <a:xfrm>
            <a:off x="685209" y="2857500"/>
            <a:ext cx="2528186" cy="1119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1. 全域設定: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設定 VU 與壓測時長</a:t>
            </a:r>
            <a:endParaRPr/>
          </a:p>
        </p:txBody>
      </p:sp>
      <p:cxnSp>
        <p:nvCxnSpPr>
          <p:cNvPr id="196" name="Google Shape;196;p9"/>
          <p:cNvCxnSpPr/>
          <p:nvPr/>
        </p:nvCxnSpPr>
        <p:spPr>
          <a:xfrm flipH="1">
            <a:off x="8033488" y="3214687"/>
            <a:ext cx="4961860" cy="976313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7" name="Google Shape;197;p9"/>
          <p:cNvSpPr/>
          <p:nvPr/>
        </p:nvSpPr>
        <p:spPr>
          <a:xfrm>
            <a:off x="12877209" y="2262187"/>
            <a:ext cx="2622697" cy="1166812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>
            <a:noFill/>
          </a:ln>
          <a:effectLst>
            <a:outerShdw blurRad="190500" rotWithShape="0" algn="t" dir="5400000" dist="38100">
              <a:srgbClr val="000000">
                <a:alpha val="2196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 txBox="1"/>
          <p:nvPr/>
        </p:nvSpPr>
        <p:spPr>
          <a:xfrm>
            <a:off x="13066232" y="2262187"/>
            <a:ext cx="2339162" cy="1166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2. 業務封裝: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邏輯分組獨立統計</a:t>
            </a:r>
            <a:endParaRPr/>
          </a:p>
        </p:txBody>
      </p:sp>
      <p:cxnSp>
        <p:nvCxnSpPr>
          <p:cNvPr id="199" name="Google Shape;199;p9"/>
          <p:cNvCxnSpPr/>
          <p:nvPr/>
        </p:nvCxnSpPr>
        <p:spPr>
          <a:xfrm rot="10800000">
            <a:off x="12026604" y="4762500"/>
            <a:ext cx="1559442" cy="833437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0" name="Google Shape;200;p9"/>
          <p:cNvSpPr/>
          <p:nvPr/>
        </p:nvSpPr>
        <p:spPr>
          <a:xfrm>
            <a:off x="13255255" y="5381625"/>
            <a:ext cx="2717209" cy="123825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>
            <a:noFill/>
          </a:ln>
          <a:effectLst>
            <a:outerShdw blurRad="190500" rotWithShape="0" algn="t" dir="5400000" dist="38100">
              <a:srgbClr val="000000">
                <a:alpha val="2196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 txBox="1"/>
          <p:nvPr/>
        </p:nvSpPr>
        <p:spPr>
          <a:xfrm>
            <a:off x="13444279" y="5381625"/>
            <a:ext cx="2433674" cy="1238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3. 記憶體防護: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動態 URL 指標收斂</a:t>
            </a:r>
            <a:endParaRPr/>
          </a:p>
        </p:txBody>
      </p:sp>
      <p:cxnSp>
        <p:nvCxnSpPr>
          <p:cNvPr id="202" name="Google Shape;202;p9"/>
          <p:cNvCxnSpPr/>
          <p:nvPr/>
        </p:nvCxnSpPr>
        <p:spPr>
          <a:xfrm flipH="1" rot="10800000">
            <a:off x="3071627" y="5441156"/>
            <a:ext cx="1394047" cy="750094"/>
          </a:xfrm>
          <a:prstGeom prst="straightConnector1">
            <a:avLst/>
          </a:prstGeom>
          <a:noFill/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3" name="Google Shape;203;p9"/>
          <p:cNvSpPr/>
          <p:nvPr/>
        </p:nvSpPr>
        <p:spPr>
          <a:xfrm>
            <a:off x="496186" y="5881687"/>
            <a:ext cx="2693581" cy="11430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>
            <a:noFill/>
          </a:ln>
          <a:effectLst>
            <a:outerShdw blurRad="190500" rotWithShape="0" algn="t" dir="5400000" dist="38100">
              <a:srgbClr val="000000">
                <a:alpha val="2196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 txBox="1"/>
          <p:nvPr/>
        </p:nvSpPr>
        <p:spPr>
          <a:xfrm>
            <a:off x="685209" y="5881687"/>
            <a:ext cx="2410046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4. 軟性斷言: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11111"/>
                </a:solidFill>
                <a:latin typeface="Noto Sans"/>
                <a:ea typeface="Noto Sans"/>
                <a:cs typeface="Noto Sans"/>
                <a:sym typeface="Noto Sans"/>
              </a:rPr>
              <a:t>非中斷狀態驗證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0.png" id="209" name="Google Shape;20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0">
            <a:hlinkClick r:id="rId4"/>
          </p:cNvPr>
          <p:cNvSpPr/>
          <p:nvPr/>
        </p:nvSpPr>
        <p:spPr>
          <a:xfrm>
            <a:off x="34747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0284C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