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6256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tedmax100.github.io/o11y_lab_for_dummies/k6-performance-testing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tedmax100.github.io/o11y_lab_for_dummies/k6-performance-testing/" TargetMode="External"/><Relationship Id="rId4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edmax100.github.io/o11y_lab_for_dummies/k6-performance-testing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pic>
        <p:nvPicPr>
          <p:cNvPr id="5" name="Picture 4" descr="s2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3953" y="8191500"/>
            <a:ext cx="4442046" cy="9525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4325" y="1428750"/>
            <a:ext cx="15027348" cy="6786562"/>
          </a:xfrm>
          <a:prstGeom prst="roundRect">
            <a:avLst>
              <a:gd name="adj" fmla="val 2000"/>
            </a:avLst>
          </a:prstGeom>
          <a:solidFill>
            <a:srgbClr val="F8F7F2"/>
          </a:solidFill>
          <a:ln w="15875">
            <a:solidFill>
              <a:srgbClr val="A8A8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7" name="Connector 6"/>
          <p:cNvCxnSpPr/>
          <p:nvPr/>
        </p:nvCxnSpPr>
        <p:spPr>
          <a:xfrm>
            <a:off x="8128000" y="1428750"/>
            <a:ext cx="0" cy="6786562"/>
          </a:xfrm>
          <a:prstGeom prst="line">
            <a:avLst/>
          </a:prstGeom>
          <a:ln w="12700">
            <a:solidFill>
              <a:srgbClr val="C9C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14325" y="4881562"/>
            <a:ext cx="15027349" cy="0"/>
          </a:xfrm>
          <a:prstGeom prst="line">
            <a:avLst/>
          </a:prstGeom>
          <a:ln w="12700">
            <a:solidFill>
              <a:srgbClr val="C9C9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s2_thread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116" y="2095500"/>
            <a:ext cx="6993860" cy="2571750"/>
          </a:xfrm>
          <a:prstGeom prst="rect">
            <a:avLst/>
          </a:prstGeom>
        </p:spPr>
      </p:pic>
      <p:pic>
        <p:nvPicPr>
          <p:cNvPr id="10" name="Picture 9" descr="s2_goroutine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7860" y="5572125"/>
            <a:ext cx="6946604" cy="24526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325" y="452437"/>
            <a:ext cx="15027348" cy="857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極致資源利用率：為什麼 k6 單機就能榨出數萬併發？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976" y="1571625"/>
            <a:ext cx="7088372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JMeter (JVM Thread-based 模型)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6976" y="5024437"/>
            <a:ext cx="7088372" cy="4762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k6 (Goroutine 模型)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24186" y="1905000"/>
            <a:ext cx="6733953" cy="2797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83534" indent="-283534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2000" b="0">
                <a:solidFill>
                  <a:srgbClr val="1F1F1F"/>
                </a:solidFill>
                <a:latin typeface="Noto Sans CJK TC"/>
                <a:ea typeface="Noto Sans CJK TC"/>
                <a:cs typeface="Noto Sans CJK TC"/>
              </a:rPr>
              <a:t>每個虛擬使用者 (VU) 綁定一條作業系統執行緒，記憶體與排程開銷龐大。</a:t>
            </a:r>
          </a:p>
          <a:p>
            <a:pPr algn="l" marL="283534" indent="-283534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2000" b="0">
                <a:solidFill>
                  <a:srgbClr val="1F1F1F"/>
                </a:solidFill>
                <a:latin typeface="Noto Sans CJK TC"/>
                <a:ea typeface="Noto Sans CJK TC"/>
                <a:cs typeface="Noto Sans CJK TC"/>
              </a:rPr>
              <a:t>消耗基準：</a:t>
            </a:r>
            <a:r>
              <a:rPr sz="1800" b="0">
                <a:solidFill>
                  <a:srgbClr val="1F4E6B"/>
                </a:solidFill>
                <a:latin typeface="Noto Sans Mono CJK TC"/>
                <a:ea typeface="Noto Sans Mono CJK TC"/>
                <a:cs typeface="Noto Sans Mono CJK TC"/>
              </a:rPr>
              <a:t>1MB+ stack per thread</a:t>
            </a:r>
          </a:p>
          <a:p>
            <a:pPr algn="l" marL="283534" indent="-283534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2000" b="0">
                <a:solidFill>
                  <a:srgbClr val="1F1F1F"/>
                </a:solidFill>
                <a:latin typeface="Noto Sans CJK TC"/>
                <a:ea typeface="Noto Sans CJK TC"/>
                <a:cs typeface="Noto Sans CJK TC"/>
              </a:rPr>
              <a:t>高併發下大量 Context Switch 與 GC 停頓，導致資源吃滿、數據失真。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24186" y="5238750"/>
            <a:ext cx="6733953" cy="2857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83534" indent="-283534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2000" b="0">
                <a:solidFill>
                  <a:srgbClr val="1F1F1F"/>
                </a:solidFill>
                <a:latin typeface="Noto Sans CJK TC"/>
                <a:ea typeface="Noto Sans CJK TC"/>
                <a:cs typeface="Noto Sans CJK TC"/>
              </a:rPr>
              <a:t>底層採用 Go 輕量協程與非同步 I/O，排程成本遠低於 OS 執行緒。</a:t>
            </a:r>
          </a:p>
          <a:p>
            <a:pPr algn="l" marL="283534" indent="-283534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2000" b="0">
                <a:solidFill>
                  <a:srgbClr val="1F1F1F"/>
                </a:solidFill>
                <a:latin typeface="Noto Sans CJK TC"/>
                <a:ea typeface="Noto Sans CJK TC"/>
                <a:cs typeface="Noto Sans CJK TC"/>
              </a:rPr>
              <a:t>消耗基準：</a:t>
            </a:r>
            <a:r>
              <a:rPr sz="1800" b="1">
                <a:solidFill>
                  <a:srgbClr val="1B5E57"/>
                </a:solidFill>
                <a:latin typeface="Noto Sans Mono CJK TC"/>
                <a:ea typeface="Noto Sans Mono CJK TC"/>
                <a:cs typeface="Noto Sans Mono CJK TC"/>
              </a:rPr>
              <a:t>~1–5MB per VU</a:t>
            </a:r>
            <a:r>
              <a:rPr sz="1500" b="0">
                <a:solidFill>
                  <a:srgbClr val="5A5A55"/>
                </a:solidFill>
                <a:latin typeface="Noto Sans CJK TC"/>
                <a:ea typeface="Noto Sans CJK TC"/>
                <a:cs typeface="Noto Sans CJK TC"/>
              </a:rPr>
              <a:t>（每個 VU 含獨立 JS Runtime；goroutine 本身僅 ~2KB）</a:t>
            </a:r>
          </a:p>
          <a:p>
            <a:pPr algn="l" marL="283534" indent="-283534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2000" b="0">
                <a:solidFill>
                  <a:srgbClr val="1F1F1F"/>
                </a:solidFill>
                <a:latin typeface="Noto Sans CJK TC"/>
                <a:ea typeface="Noto Sans CJK TC"/>
                <a:cs typeface="Noto Sans CJK TC"/>
              </a:rPr>
              <a:t>官方數據：高規格單機可達 3–4 萬 VUs；規劃前先用 100 VUs 實測記憶體再等比例推估。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8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pic>
        <p:nvPicPr>
          <p:cNvPr id="5" name="Picture 4" descr="s4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86976" y="8072437"/>
            <a:ext cx="5032744" cy="881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7069" y="476250"/>
            <a:ext cx="15121860" cy="690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6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壓測進入 AI 時代：k6 CLI x AI 現代化工作流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7069" y="1143000"/>
            <a:ext cx="15121860" cy="3571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基於 Model Context Protocol (MCP) 與 AI Agent 打造全自動、智慧化的效能工程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7069" y="1726406"/>
            <a:ext cx="7419162" cy="62150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62418" y="2024062"/>
            <a:ext cx="1346790" cy="309562"/>
          </a:xfrm>
          <a:prstGeom prst="roundRect">
            <a:avLst>
              <a:gd name="adj" fmla="val 3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2418" y="2024062"/>
            <a:ext cx="1346790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6D28D9"/>
                </a:solidFill>
                <a:latin typeface="Noto Sans CJK TC"/>
                <a:ea typeface="Noto Sans CJK TC"/>
                <a:cs typeface="Noto Sans CJK TC"/>
              </a:rPr>
              <a:t>k6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7348" y="1964531"/>
            <a:ext cx="5434418" cy="428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Model Context Protocol 官方串接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2418" y="2512218"/>
            <a:ext cx="6840279" cy="1107281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039627" y="2595562"/>
            <a:ext cx="6556744" cy="952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Noto Sans Mono CJK TC"/>
                <a:ea typeface="Noto Sans Mono CJK TC"/>
                <a:cs typeface="Noto Sans Mono CJK TC"/>
              </a:rPr>
              <a:t>// k6 x agent init 會自動寫入；也可手動註冊 (Claude Code / Cursor / Copilot)</a:t>
            </a:r>
          </a:p>
          <a:p>
            <a:pPr algn="l"/>
            <a:r>
              <a:rPr sz="1250" b="0">
                <a:solidFill>
                  <a:srgbClr val="E2E8F0"/>
                </a:solidFill>
                <a:latin typeface="Noto Sans Mono CJK TC"/>
                <a:ea typeface="Noto Sans Mono CJK TC"/>
                <a:cs typeface="Noto Sans Mono CJK TC"/>
              </a:rPr>
              <a:t>"mcpServers": {</a:t>
            </a:r>
          </a:p>
          <a:p>
            <a:pPr algn="l"/>
            <a:r>
              <a:rPr sz="1250" b="0">
                <a:solidFill>
                  <a:srgbClr val="E2E8F0"/>
                </a:solidFill>
                <a:latin typeface="Noto Sans Mono CJK TC"/>
                <a:ea typeface="Noto Sans Mono CJK TC"/>
                <a:cs typeface="Noto Sans Mono CJK TC"/>
              </a:rPr>
              <a:t>  "k6": { "command": "k6", "args": ["x", "mcp"] }</a:t>
            </a:r>
          </a:p>
          <a:p>
            <a:pPr algn="l"/>
            <a:r>
              <a:rPr sz="1250" b="0">
                <a:solidFill>
                  <a:srgbClr val="E2E8F0"/>
                </a:solidFill>
                <a:latin typeface="Noto Sans Mono CJK TC"/>
                <a:ea typeface="Noto Sans Mono CJK TC"/>
                <a:cs typeface="Noto Sans Mono CJK TC"/>
              </a:rP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2418" y="3786187"/>
            <a:ext cx="6840279" cy="738187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27813" y="3905250"/>
            <a:ext cx="1795720" cy="261937"/>
          </a:xfrm>
          <a:prstGeom prst="roundRect">
            <a:avLst>
              <a:gd name="adj" fmla="val 25000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27813" y="3905250"/>
            <a:ext cx="1795720" cy="2619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E22CE"/>
                </a:solidFill>
                <a:latin typeface="Noto Sans Mono CJK TC"/>
                <a:ea typeface="Noto Sans Mono CJK TC"/>
                <a:cs typeface="Noto Sans Mono CJK TC"/>
              </a:rPr>
              <a:t>validate_script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41674" y="3881437"/>
            <a:ext cx="4725581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1 VU 冒煙預檢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7813" y="4214812"/>
            <a:ext cx="6556744" cy="2619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以 1 VU、1 次迭代實際執行腳本，回報語法、執行期與連線錯誤。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2418" y="4667250"/>
            <a:ext cx="6840279" cy="738187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1027813" y="4786312"/>
            <a:ext cx="1252279" cy="261937"/>
          </a:xfrm>
          <a:prstGeom prst="roundRect">
            <a:avLst>
              <a:gd name="adj" fmla="val 25000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7813" y="4786312"/>
            <a:ext cx="1252279" cy="2619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E22CE"/>
                </a:solidFill>
                <a:latin typeface="Noto Sans Mono CJK TC"/>
                <a:ea typeface="Noto Sans Mono CJK TC"/>
                <a:cs typeface="Noto Sans Mono CJK TC"/>
              </a:rPr>
              <a:t>run_script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8232" y="4762500"/>
            <a:ext cx="4725581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對話內直接執行測試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7813" y="5095875"/>
            <a:ext cx="6556744" cy="2619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AI 助手驅動本機 k6 壓測，回傳 RPS、P95 延遲與錯誤率（上限 50 VUs / 5 分鐘）。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2418" y="5548312"/>
            <a:ext cx="6840279" cy="738187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027813" y="5667375"/>
            <a:ext cx="2013097" cy="261937"/>
          </a:xfrm>
          <a:prstGeom prst="roundRect">
            <a:avLst>
              <a:gd name="adj" fmla="val 25000"/>
            </a:avLst>
          </a:prstGeom>
          <a:solidFill>
            <a:srgbClr val="F3E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27813" y="5667375"/>
            <a:ext cx="2013097" cy="2619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7E22CE"/>
                </a:solidFill>
                <a:latin typeface="Noto Sans Mono CJK TC"/>
                <a:ea typeface="Noto Sans Mono CJK TC"/>
                <a:cs typeface="Noto Sans Mono CJK TC"/>
              </a:rPr>
              <a:t>get_documentation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9051" y="5643562"/>
            <a:ext cx="4725581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官方最新文檔知識庫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7813" y="5976937"/>
            <a:ext cx="6556744" cy="2619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動態檢索 Grafana k6 最新模組規格、Executor 設定與最佳實踐範例。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2418" y="6477000"/>
            <a:ext cx="6840279" cy="11906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k6 MCP 共提供 6 個工具：</a:t>
            </a:r>
            <a:r>
              <a:rPr sz="1200" b="0">
                <a:solidFill>
                  <a:srgbClr val="475569"/>
                </a:solidFill>
                <a:latin typeface="Noto Sans Mono CJK TC"/>
                <a:ea typeface="Noto Sans Mono CJK TC"/>
                <a:cs typeface="Noto Sans Mono CJK TC"/>
              </a:rPr>
              <a:t>validate_script、run_script、get_documentation、list_sections、info、search_terraform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新版 k6 以 </a:t>
            </a:r>
            <a:r>
              <a:rPr sz="1200" b="1">
                <a:solidFill>
                  <a:srgbClr val="6D28D9"/>
                </a:solidFill>
                <a:latin typeface="Noto Sans Mono CJK TC"/>
                <a:ea typeface="Noto Sans Mono CJK TC"/>
                <a:cs typeface="Noto Sans Mono CJK TC"/>
              </a:rPr>
              <a:t>k6 x mcp</a:t>
            </a:r>
            <a:r>
              <a:rPr sz="120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 子命令內建，無須 Node.js / npx（Chapter 6 詳解）。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69767" y="1726406"/>
            <a:ext cx="7419162" cy="621506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Rounded Rectangle 30"/>
          <p:cNvSpPr/>
          <p:nvPr/>
        </p:nvSpPr>
        <p:spPr>
          <a:xfrm>
            <a:off x="8553302" y="2024062"/>
            <a:ext cx="1346790" cy="309562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8553302" y="2024062"/>
            <a:ext cx="1346790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B45309"/>
                </a:solidFill>
                <a:latin typeface="Noto Sans CJK TC"/>
                <a:ea typeface="Noto Sans CJK TC"/>
                <a:cs typeface="Noto Sans CJK TC"/>
              </a:rPr>
              <a:t>AI Agent 工作流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41860" y="1964531"/>
            <a:ext cx="5434418" cy="4286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Bootstrap with k6 x Agent 自主生成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53302" y="2512218"/>
            <a:ext cx="6840279" cy="762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8765953" y="2607468"/>
            <a:ext cx="6497674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🔍 1. 專案規格與流量掃描 (Scan Assets)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65953" y="2905125"/>
            <a:ext cx="6497674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Agent 讀取專案代碼庫中的 OpenAPI / Swagger 規格或 HAR 網路錄製檔。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53302" y="3417093"/>
            <a:ext cx="6840279" cy="762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8765953" y="3512343"/>
            <a:ext cx="6497674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⚡ 2. 智慧逆向生成情境 (Synthesize Scenarios)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5953" y="3810000"/>
            <a:ext cx="6497674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自動產出包含 Smoke、Load、Stress 的完整情境，精準注入 Token 與 Check 斷言。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53302" y="4321968"/>
            <a:ext cx="6840279" cy="762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765953" y="4417218"/>
            <a:ext cx="6497674" cy="2857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🔄 3. 閉環自癒與冒煙驗證 (Self-Healing Loop)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65953" y="4714875"/>
            <a:ext cx="6497674" cy="3095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Agent 調用 validate_script 執行 1 VU 冒煙驗證，自主修復 4xx/5xx 與語法問題，再以 run_script 加壓。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553302" y="5250656"/>
            <a:ext cx="6840279" cy="738187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 w="1270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765953" y="5345906"/>
            <a:ext cx="6497674" cy="571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6D28D9"/>
                </a:solidFill>
                <a:latin typeface="Noto Sans CJK TC"/>
                <a:ea typeface="Noto Sans CJK TC"/>
                <a:cs typeface="Noto Sans CJK TC"/>
              </a:rPr>
              <a:t>🧩 一鍵配置：</a:t>
            </a:r>
            <a:r>
              <a:rPr sz="1300" b="1">
                <a:solidFill>
                  <a:srgbClr val="6D28D9"/>
                </a:solidFill>
                <a:latin typeface="Noto Sans Mono CJK TC"/>
                <a:ea typeface="Noto Sans Mono CJK TC"/>
                <a:cs typeface="Noto Sans Mono CJK TC"/>
              </a:rPr>
              <a:t>k6 x agent init claude-code</a:t>
            </a:r>
          </a:p>
          <a:p>
            <a:pPr algn="l"/>
            <a:r>
              <a:rPr sz="1150" b="0">
                <a:solidFill>
                  <a:srgbClr val="475569"/>
                </a:solidFill>
                <a:latin typeface="Noto Sans CJK TC"/>
                <a:ea typeface="Noto Sans CJK TC"/>
                <a:cs typeface="Noto Sans CJK TC"/>
              </a:rPr>
              <a:t>同時安裝 11 個 k6 AI 技能包並註冊 k6 MCP 伺服器（Chapter 6）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553302" y="6977062"/>
            <a:ext cx="6840279" cy="690562"/>
          </a:xfrm>
          <a:prstGeom prst="roundRect">
            <a:avLst>
              <a:gd name="adj" fmla="val 10000"/>
            </a:avLst>
          </a:prstGeom>
          <a:solidFill>
            <a:srgbClr val="FEF9C3"/>
          </a:solidFill>
          <a:ln w="12700">
            <a:solidFill>
              <a:srgbClr val="F59E0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8742325" y="7024687"/>
            <a:ext cx="6497674" cy="59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92400E"/>
                </a:solidFill>
                <a:latin typeface="Noto Sans CJK TC"/>
                <a:ea typeface="Noto Sans CJK TC"/>
                <a:cs typeface="Noto Sans CJK TC"/>
              </a:rPr>
              <a:t>🚀 內建 Prompts 與 Best Practices 資源：</a:t>
            </a:r>
            <a:r>
              <a:rPr sz="1250" b="0">
                <a:solidFill>
                  <a:srgbClr val="92400E"/>
                </a:solidFill>
                <a:latin typeface="Noto Sans CJK TC"/>
                <a:ea typeface="Noto Sans CJK TC"/>
                <a:cs typeface="Noto Sans CJK TC"/>
              </a:rPr>
              <a:t>提供複雜腳本起手式模板，從「手動刻腳本」邁向「秒級自主交付」！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67069" y="8215312"/>
            <a:ext cx="10160000" cy="452437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32465" y="8215312"/>
            <a:ext cx="9876465" cy="4524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🤖 效能工程新範式：  </a:t>
            </a:r>
            <a:r>
              <a:rPr sz="1250" b="1">
                <a:solidFill>
                  <a:srgbClr val="7C3AED"/>
                </a:solidFill>
                <a:latin typeface="Noto Sans CJK TC"/>
                <a:ea typeface="Noto Sans CJK TC"/>
                <a:cs typeface="Noto Sans CJK TC"/>
              </a:rPr>
              <a:t>AI Copilot + k6 MCP + 自動驗證</a:t>
            </a:r>
            <a:r>
              <a:rPr sz="1250" b="1">
                <a:solidFill>
                  <a:srgbClr val="111827"/>
                </a:solidFill>
                <a:latin typeface="Noto Sans CJK TC"/>
                <a:ea typeface="Noto Sans CJK TC"/>
                <a:cs typeface="Noto Sans CJK TC"/>
              </a:rPr>
              <a:t>  = 大幅降低壓測門檻，讓日常迭代都有即時效能保護！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EF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odelabs_Link_Badge">
            <a:hlinkClick r:id="rId3"/>
          </p:cNvPr>
          <p:cNvSpPr/>
          <p:nvPr/>
        </p:nvSpPr>
        <p:spPr>
          <a:xfrm>
            <a:off x="5029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  <p:pic>
        <p:nvPicPr>
          <p:cNvPr id="5" name="Picture 4" descr="s9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13953" y="8215312"/>
            <a:ext cx="4442046" cy="928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4325" y="452437"/>
            <a:ext cx="14176744" cy="8334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將觀念融會貫通：10 行關鍵程式碼實戰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20558" y="1940718"/>
            <a:ext cx="9876465" cy="5548312"/>
          </a:xfrm>
          <a:prstGeom prst="roundRect">
            <a:avLst>
              <a:gd name="adj" fmla="val 4000"/>
            </a:avLst>
          </a:prstGeom>
          <a:solidFill>
            <a:srgbClr val="222222"/>
          </a:solidFill>
          <a:ln>
            <a:noFill/>
          </a:ln>
          <a:effectLst/>
          <a:effectLst>
            <a:outerShdw blurRad="190500" dist="381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851348" y="2559843"/>
            <a:ext cx="9451162" cy="452437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950"/>
              </a:lnSpc>
            </a:pP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import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http </a:t>
            </a: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from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 'k6/http'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import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{ check, group, sleep } </a:t>
            </a: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from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 'k6'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export const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options = { vus: </a:t>
            </a:r>
            <a:r>
              <a:rPr sz="1400" b="0">
                <a:solidFill>
                  <a:srgbClr val="F78C6C"/>
                </a:solidFill>
                <a:latin typeface="Noto Sans Mono CJK TC"/>
                <a:ea typeface="Noto Sans Mono CJK TC"/>
                <a:cs typeface="Noto Sans Mono CJK TC"/>
              </a:rPr>
              <a:t>5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, duration: 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'10s'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};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export default function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() {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</a:t>
            </a:r>
            <a:r>
              <a:rPr sz="1400" b="0">
                <a:solidFill>
                  <a:srgbClr val="82AAFF"/>
                </a:solidFill>
                <a:latin typeface="Noto Sans Mono CJK TC"/>
                <a:ea typeface="Noto Sans Mono CJK TC"/>
                <a:cs typeface="Noto Sans Mono CJK TC"/>
              </a:rPr>
              <a:t>group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(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'User_Profile_Flow'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, </a:t>
            </a: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function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() {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  </a:t>
            </a: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const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userId = __VU;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  </a:t>
            </a:r>
            <a:r>
              <a:rPr sz="1400" b="0">
                <a:solidFill>
                  <a:srgbClr val="C792EA"/>
                </a:solidFill>
                <a:latin typeface="Noto Sans Mono CJK TC"/>
                <a:ea typeface="Noto Sans Mono CJK TC"/>
                <a:cs typeface="Noto Sans Mono CJK TC"/>
              </a:rPr>
              <a:t>const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res = http.</a:t>
            </a:r>
            <a:r>
              <a:rPr sz="1400" b="0">
                <a:solidFill>
                  <a:srgbClr val="82AAFF"/>
                </a:solidFill>
                <a:latin typeface="Noto Sans Mono CJK TC"/>
                <a:ea typeface="Noto Sans Mono CJK TC"/>
                <a:cs typeface="Noto Sans Mono CJK TC"/>
              </a:rPr>
              <a:t>get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(http.url`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https://quickpizza.grafana.com/api/json?id=</a:t>
            </a:r>
            <a:r>
              <a:rPr sz="1400" b="0">
                <a:solidFill>
                  <a:srgbClr val="89DDFF"/>
                </a:solidFill>
                <a:latin typeface="Noto Sans Mono CJK TC"/>
                <a:ea typeface="Noto Sans Mono CJK TC"/>
                <a:cs typeface="Noto Sans Mono CJK TC"/>
              </a:rPr>
              <a:t>${userId}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`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);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  </a:t>
            </a:r>
            <a:r>
              <a:rPr sz="1400" b="0">
                <a:solidFill>
                  <a:srgbClr val="82AAFF"/>
                </a:solidFill>
                <a:latin typeface="Noto Sans Mono CJK TC"/>
                <a:ea typeface="Noto Sans Mono CJK TC"/>
                <a:cs typeface="Noto Sans Mono CJK TC"/>
              </a:rPr>
              <a:t>check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(res, {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    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'status is 200'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: (r) =&gt; r.status === </a:t>
            </a:r>
            <a:r>
              <a:rPr sz="1400" b="0">
                <a:solidFill>
                  <a:srgbClr val="F78C6C"/>
                </a:solidFill>
                <a:latin typeface="Noto Sans Mono CJK TC"/>
                <a:ea typeface="Noto Sans Mono CJK TC"/>
                <a:cs typeface="Noto Sans Mono CJK TC"/>
              </a:rPr>
              <a:t>200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,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    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'body contains id'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: (r) =&gt; r.body.</a:t>
            </a:r>
            <a:r>
              <a:rPr sz="1400" b="0">
                <a:solidFill>
                  <a:srgbClr val="82AAFF"/>
                </a:solidFill>
                <a:latin typeface="Noto Sans Mono CJK TC"/>
                <a:ea typeface="Noto Sans Mono CJK TC"/>
                <a:cs typeface="Noto Sans Mono CJK TC"/>
              </a:rPr>
              <a:t>includes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(</a:t>
            </a:r>
            <a:r>
              <a:rPr sz="1400" b="0">
                <a:solidFill>
                  <a:srgbClr val="C3E88D"/>
                </a:solidFill>
                <a:latin typeface="Noto Sans Mono CJK TC"/>
                <a:ea typeface="Noto Sans Mono CJK TC"/>
                <a:cs typeface="Noto Sans Mono CJK TC"/>
              </a:rPr>
              <a:t>'"id"'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),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  });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});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  </a:t>
            </a:r>
            <a:r>
              <a:rPr sz="1400" b="0">
                <a:solidFill>
                  <a:srgbClr val="82AAFF"/>
                </a:solidFill>
                <a:latin typeface="Noto Sans Mono CJK TC"/>
                <a:ea typeface="Noto Sans Mono CJK TC"/>
                <a:cs typeface="Noto Sans Mono CJK TC"/>
              </a:rPr>
              <a:t>sleep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(</a:t>
            </a:r>
            <a:r>
              <a:rPr sz="1400" b="0">
                <a:solidFill>
                  <a:srgbClr val="F78C6C"/>
                </a:solidFill>
                <a:latin typeface="Noto Sans Mono CJK TC"/>
                <a:ea typeface="Noto Sans Mono CJK TC"/>
                <a:cs typeface="Noto Sans Mono CJK TC"/>
              </a:rPr>
              <a:t>1</a:t>
            </a: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);</a:t>
            </a:r>
          </a:p>
          <a:p>
            <a:pPr algn="l">
              <a:lnSpc>
                <a:spcPts val="1950"/>
              </a:lnSpc>
            </a:pPr>
            <a:r>
              <a:rPr sz="1400" b="0">
                <a:solidFill>
                  <a:srgbClr val="E6E6E6"/>
                </a:solidFill>
                <a:latin typeface="Noto Sans Mono CJK TC"/>
                <a:ea typeface="Noto Sans Mono CJK TC"/>
                <a:cs typeface="Noto Sans Mono CJK TC"/>
              </a:rPr>
              <a:t>}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189767" y="3417093"/>
            <a:ext cx="567070" cy="0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6186" y="2857500"/>
            <a:ext cx="2811720" cy="111918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90500" dist="381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209" y="2857500"/>
            <a:ext cx="2528186" cy="1119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1. 全域設定:</a:t>
            </a:r>
          </a:p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設定 VU 與壓測時長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8033488" y="3214687"/>
            <a:ext cx="4961860" cy="976313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877209" y="2262187"/>
            <a:ext cx="2622697" cy="11668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90500" dist="381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3066232" y="2262187"/>
            <a:ext cx="2339162" cy="1166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2. 業務封裝:</a:t>
            </a:r>
          </a:p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邏輯分組獨立統計</a:t>
            </a:r>
          </a:p>
        </p:txBody>
      </p:sp>
      <p:cxnSp>
        <p:nvCxnSpPr>
          <p:cNvPr id="15" name="Connector 14"/>
          <p:cNvCxnSpPr/>
          <p:nvPr/>
        </p:nvCxnSpPr>
        <p:spPr>
          <a:xfrm flipH="1" flipV="1">
            <a:off x="12026604" y="4762500"/>
            <a:ext cx="1559442" cy="833437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3255255" y="5381625"/>
            <a:ext cx="2717209" cy="12382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90500" dist="381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3444279" y="5381625"/>
            <a:ext cx="2433674" cy="12382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3. 記憶體防護:</a:t>
            </a:r>
          </a:p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動態 URL 指標收斂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071627" y="5441156"/>
            <a:ext cx="1394047" cy="750094"/>
          </a:xfrm>
          <a:prstGeom prst="line">
            <a:avLst/>
          </a:prstGeom>
          <a:ln w="381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96186" y="5881687"/>
            <a:ext cx="2693581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90500" dist="38100" dir="5400000" algn="t" rotWithShape="0">
              <a:srgbClr val="00000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85209" y="5881687"/>
            <a:ext cx="2410046" cy="1143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4. 軟性斷言:</a:t>
            </a:r>
          </a:p>
          <a:p>
            <a:pPr algn="l"/>
            <a:r>
              <a:rPr sz="2000" b="1">
                <a:solidFill>
                  <a:srgbClr val="111111"/>
                </a:solidFill>
                <a:latin typeface="Noto Sans CJK TC"/>
                <a:ea typeface="Noto Sans CJK TC"/>
                <a:cs typeface="Noto Sans CJK TC"/>
              </a:rPr>
              <a:t>非中斷狀態驗證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3" name="Codelabs_Link_Badge">
            <a:hlinkClick r:id="rId3"/>
          </p:cNvPr>
          <p:cNvSpPr/>
          <p:nvPr/>
        </p:nvSpPr>
        <p:spPr>
          <a:xfrm>
            <a:off x="3474720" y="8869680"/>
            <a:ext cx="6035040" cy="21945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09728" rIns="109728" tIns="0" bIns="0"/>
          <a:lstStyle/>
          <a:p>
            <a:pPr algn="l"/>
            <a:r>
              <a:rPr sz="850" b="1">
                <a:solidFill>
                  <a:srgbClr val="334155"/>
                </a:solidFill>
                <a:latin typeface="Noto Sans CJK TC"/>
              </a:rPr>
              <a:t>▶ 課程實戰 Codelabs：</a:t>
            </a:r>
            <a:r>
              <a:rPr sz="850" b="0">
                <a:solidFill>
                  <a:srgbClr val="0284C7"/>
                </a:solidFill>
                <a:latin typeface="Noto Sans CJK TC"/>
              </a:rPr>
              <a:t>tedmax100.github.io/o11y_lab_for_dummies/k6-performance-testing/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