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38BDF8"/>
              </a:solidFill>
            </a:ln>
          </c:spPr>
          <c:marker>
            <c:symbol val="none"/>
          </c:marker>
          <c:xVal>
            <c:numRef>
              <c:f>Sheet1!$A$2:$A$5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60</c:v>
                </c:pt>
                <c:pt idx="3">
                  <c:v>60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6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1.15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38BDF8"/>
              </a:solidFill>
            </a:ln>
          </c:spPr>
          <c:marker>
            <c:symbol val="none"/>
          </c:marker>
          <c:xVal>
            <c:numRef>
              <c:f>Sheet1!$A$2:$A$5</c:f>
              <c:numCache>
                <c:formatCode>General</c:formatCode>
                <c:ptCount val="4"/>
                <c:pt idx="0">
                  <c:v>0</c:v>
                </c:pt>
                <c:pt idx="1">
                  <c:v>180</c:v>
                </c:pt>
                <c:pt idx="2">
                  <c:v>780</c:v>
                </c:pt>
                <c:pt idx="3">
                  <c:v>960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50</c:v>
                </c:pt>
                <c:pt idx="2">
                  <c:v>50</c:v>
                </c:pt>
                <c:pt idx="3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96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57.49999999999999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E879F9"/>
              </a:solidFill>
            </a:ln>
          </c:spPr>
          <c:marker>
            <c:symbol val="none"/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0</c:v>
                </c:pt>
                <c:pt idx="1">
                  <c:v>120</c:v>
                </c:pt>
                <c:pt idx="2">
                  <c:v>300</c:v>
                </c:pt>
                <c:pt idx="3">
                  <c:v>420</c:v>
                </c:pt>
                <c:pt idx="4">
                  <c:v>600</c:v>
                </c:pt>
                <c:pt idx="5">
                  <c:v>720</c:v>
                </c:pt>
                <c:pt idx="6">
                  <c:v>900</c:v>
                </c:pt>
                <c:pt idx="7">
                  <c:v>1020</c:v>
                </c:pt>
                <c:pt idx="8">
                  <c:v>1200</c:v>
                </c:pt>
                <c:pt idx="9">
                  <c:v>1380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50</c:v>
                </c:pt>
                <c:pt idx="2">
                  <c:v>50</c:v>
                </c:pt>
                <c:pt idx="3">
                  <c:v>100</c:v>
                </c:pt>
                <c:pt idx="4">
                  <c:v>100</c:v>
                </c:pt>
                <c:pt idx="5">
                  <c:v>200</c:v>
                </c:pt>
                <c:pt idx="6">
                  <c:v>200</c:v>
                </c:pt>
                <c:pt idx="7">
                  <c:v>300</c:v>
                </c:pt>
                <c:pt idx="8">
                  <c:v>300</c:v>
                </c:pt>
                <c:pt idx="9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38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345.0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FBBF24"/>
              </a:solidFill>
            </a:ln>
          </c:spPr>
          <c:marker>
            <c:symbol val="none"/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</c:v>
                </c:pt>
                <c:pt idx="1">
                  <c:v>30</c:v>
                </c:pt>
                <c:pt idx="2">
                  <c:v>40</c:v>
                </c:pt>
                <c:pt idx="3">
                  <c:v>100</c:v>
                </c:pt>
                <c:pt idx="4">
                  <c:v>110</c:v>
                </c:pt>
                <c:pt idx="5">
                  <c:v>230</c:v>
                </c:pt>
                <c:pt idx="6">
                  <c:v>240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200</c:v>
                </c:pt>
                <c:pt idx="3">
                  <c:v>200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24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229.99999999999997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31750">
              <a:solidFill>
                <a:srgbClr val="38BDF8"/>
              </a:solidFill>
            </a:ln>
          </c:spPr>
          <c:marker>
            <c:symbol val="none"/>
          </c:marker>
          <c:xVal>
            <c:numRef>
              <c:f>Sheet1!$A$2:$A$5</c:f>
              <c:numCache>
                <c:formatCode>General</c:formatCode>
                <c:ptCount val="4"/>
                <c:pt idx="0">
                  <c:v>0</c:v>
                </c:pt>
                <c:pt idx="1">
                  <c:v>300</c:v>
                </c:pt>
                <c:pt idx="2">
                  <c:v>14700</c:v>
                </c:pt>
                <c:pt idx="3">
                  <c:v>15000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40</c:v>
                </c:pt>
                <c:pt idx="2">
                  <c:v>40</c:v>
                </c:pt>
                <c:pt idx="3">
                  <c:v>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5000.0"/>
          <c:min val="0.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  <c:max val="46.0"/>
          <c:min val="0.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>
            <a:solidFill>
              <a:srgbClr val="2A4A56"/>
            </a:solidFill>
          </a:ln>
        </c:spPr>
        <c:crossAx val="-2128940872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tedmax100.github.io/o11y_lab_for_dummies/k6-performance-testing/" TargetMode="External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chart" Target="../charts/chart3.xml"/><Relationship Id="rId7" Type="http://schemas.openxmlformats.org/officeDocument/2006/relationships/chart" Target="../charts/chart4.xml"/><Relationship Id="rId8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7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837" y="309562"/>
            <a:ext cx="14838325" cy="6191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CJK TC"/>
                <a:ea typeface="Noto Sans CJK TC"/>
              </a:rPr>
              <a:t>手把手寫出 5 大壓測型態：stages 腳本範例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837" y="928687"/>
            <a:ext cx="14838325" cy="33337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38BDF8"/>
                </a:solidFill>
                <a:latin typeface="Noto Sans CJK TC"/>
                <a:ea typeface="Noto Sans CJK TC"/>
              </a:rPr>
              <a:t>k6 會在每一格的 duration 內，把 VU 數線性調整到 target——數字與 Codelab 範例一致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837" y="1404937"/>
            <a:ext cx="14838325" cy="785812"/>
          </a:xfrm>
          <a:prstGeom prst="roundRect">
            <a:avLst>
              <a:gd name="adj" fmla="val 8000"/>
            </a:avLst>
          </a:prstGeom>
          <a:solidFill>
            <a:srgbClr val="0C2530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5116" y="1476375"/>
            <a:ext cx="2362790" cy="64293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Smoke Test</a:t>
            </a:r>
            <a:r>
              <a:rPr sz="1250" b="1">
                <a:solidFill>
                  <a:srgbClr val="8FA6B2"/>
                </a:solidFill>
                <a:latin typeface="Noto Sans CJK TC"/>
                <a:ea typeface="Noto Sans CJK TC"/>
              </a:rPr>
              <a:t>  冒煙測試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D7E3EA"/>
                </a:solidFill>
                <a:latin typeface="Noto Sans CJK TC"/>
                <a:ea typeface="Noto Sans CJK TC"/>
              </a:rPr>
              <a:t>1 VU・1 分鐘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307906" y="1500187"/>
          <a:ext cx="3898604" cy="59531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419162" y="1524000"/>
            <a:ext cx="7962604" cy="547687"/>
          </a:xfrm>
          <a:prstGeom prst="roundRect">
            <a:avLst>
              <a:gd name="adj" fmla="val 8000"/>
            </a:avLst>
          </a:prstGeom>
          <a:solidFill>
            <a:srgbClr val="04121A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9023" tIns="0" rIns="141767" bIns="0"/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vus: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1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'1m'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837" y="2286000"/>
            <a:ext cx="14838325" cy="1190625"/>
          </a:xfrm>
          <a:prstGeom prst="roundRect">
            <a:avLst>
              <a:gd name="adj" fmla="val 8000"/>
            </a:avLst>
          </a:prstGeom>
          <a:solidFill>
            <a:srgbClr val="0C2530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5116" y="2357437"/>
            <a:ext cx="2362790" cy="1047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Load Test</a:t>
            </a:r>
            <a:r>
              <a:rPr sz="1250" b="1">
                <a:solidFill>
                  <a:srgbClr val="8FA6B2"/>
                </a:solidFill>
                <a:latin typeface="Noto Sans CJK TC"/>
                <a:ea typeface="Noto Sans CJK TC"/>
              </a:rPr>
              <a:t>  常規負載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D7E3EA"/>
                </a:solidFill>
                <a:latin typeface="Noto Sans CJK TC"/>
                <a:ea typeface="Noto Sans CJK TC"/>
              </a:rPr>
              <a:t>爬坡 → 高原 10m → 降載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3307906" y="2381250"/>
          <a:ext cx="3898604" cy="100012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419162" y="2405062"/>
            <a:ext cx="7962604" cy="952500"/>
          </a:xfrm>
          <a:prstGeom prst="roundRect">
            <a:avLst>
              <a:gd name="adj" fmla="val 8000"/>
            </a:avLst>
          </a:prstGeom>
          <a:solidFill>
            <a:srgbClr val="04121A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9023" tIns="0" rIns="141767" bIns="0"/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stages: [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'3m'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50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'10m'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50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'3m'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837" y="3571875"/>
            <a:ext cx="14838325" cy="1905000"/>
          </a:xfrm>
          <a:prstGeom prst="roundRect">
            <a:avLst>
              <a:gd name="adj" fmla="val 8000"/>
            </a:avLst>
          </a:prstGeom>
          <a:solidFill>
            <a:srgbClr val="0C2530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5116" y="3643312"/>
            <a:ext cx="2362790" cy="17621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Stress Test</a:t>
            </a:r>
            <a:r>
              <a:rPr sz="1250" b="1">
                <a:solidFill>
                  <a:srgbClr val="8FA6B2"/>
                </a:solidFill>
                <a:latin typeface="Noto Sans CJK TC"/>
                <a:ea typeface="Noto Sans CJK TC"/>
              </a:rPr>
              <a:t>  極限壓力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D7E3EA"/>
                </a:solidFill>
                <a:latin typeface="Noto Sans CJK TC"/>
                <a:ea typeface="Noto Sans CJK TC"/>
              </a:rPr>
              <a:t>每階爬坡＋維持，到 300 VUs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3307906" y="3667125"/>
          <a:ext cx="3898604" cy="17145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7419162" y="3690937"/>
            <a:ext cx="7962604" cy="1666875"/>
          </a:xfrm>
          <a:prstGeom prst="roundRect">
            <a:avLst>
              <a:gd name="adj" fmla="val 8000"/>
            </a:avLst>
          </a:prstGeom>
          <a:solidFill>
            <a:srgbClr val="04121A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9023" tIns="0" rIns="141767" bIns="0"/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stages: [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'2m'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50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'3m'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50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'2m'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100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'3m'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100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'2m'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200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'3m'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200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'2m'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300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'3m'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300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'3m'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837" y="5572125"/>
            <a:ext cx="14838325" cy="1428750"/>
          </a:xfrm>
          <a:prstGeom prst="roundRect">
            <a:avLst>
              <a:gd name="adj" fmla="val 8000"/>
            </a:avLst>
          </a:prstGeom>
          <a:solidFill>
            <a:srgbClr val="0C2530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5116" y="5643562"/>
            <a:ext cx="2362790" cy="128587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Spike Test</a:t>
            </a:r>
            <a:r>
              <a:rPr sz="1250" b="1">
                <a:solidFill>
                  <a:srgbClr val="8FA6B2"/>
                </a:solidFill>
                <a:latin typeface="Noto Sans CJK TC"/>
                <a:ea typeface="Noto Sans CJK TC"/>
              </a:rPr>
              <a:t>  突發尖峰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D7E3EA"/>
                </a:solidFill>
                <a:latin typeface="Noto Sans CJK TC"/>
                <a:ea typeface="Noto Sans CJK TC"/>
              </a:rPr>
              <a:t>10 秒內暴增 20 倍到 200 VUs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307906" y="5667375"/>
          <a:ext cx="3898604" cy="123825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419162" y="5691187"/>
            <a:ext cx="7962604" cy="1190625"/>
          </a:xfrm>
          <a:prstGeom prst="roundRect">
            <a:avLst>
              <a:gd name="adj" fmla="val 8000"/>
            </a:avLst>
          </a:prstGeom>
          <a:solidFill>
            <a:srgbClr val="04121A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9023" tIns="0" rIns="141767" bIns="0"/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stages: [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'30s'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10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'10s'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200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'1m'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200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'10s'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10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'2m'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10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'10s'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8837" y="7096125"/>
            <a:ext cx="14838325" cy="1190625"/>
          </a:xfrm>
          <a:prstGeom prst="roundRect">
            <a:avLst>
              <a:gd name="adj" fmla="val 8000"/>
            </a:avLst>
          </a:prstGeom>
          <a:solidFill>
            <a:srgbClr val="0C2530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116" y="7167562"/>
            <a:ext cx="2362790" cy="1047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Soak Test</a:t>
            </a:r>
            <a:r>
              <a:rPr sz="1250" b="1">
                <a:solidFill>
                  <a:srgbClr val="8FA6B2"/>
                </a:solidFill>
                <a:latin typeface="Noto Sans CJK TC"/>
                <a:ea typeface="Noto Sans CJK TC"/>
              </a:rPr>
              <a:t>  浸泡耐久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D7E3EA"/>
                </a:solidFill>
                <a:latin typeface="Noto Sans CJK TC"/>
                <a:ea typeface="Noto Sans CJK TC"/>
              </a:rPr>
              <a:t>40 VUs 固定長跑 4 小時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3307906" y="7191375"/>
          <a:ext cx="3898604" cy="1000125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7419162" y="7215187"/>
            <a:ext cx="7962604" cy="952500"/>
          </a:xfrm>
          <a:prstGeom prst="roundRect">
            <a:avLst>
              <a:gd name="adj" fmla="val 8000"/>
            </a:avLst>
          </a:prstGeom>
          <a:solidFill>
            <a:srgbClr val="04121A"/>
          </a:solidFill>
          <a:ln w="12700">
            <a:solidFill>
              <a:srgbClr val="1E4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9023" tIns="0" rIns="141767" bIns="0"/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stages: [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'5m'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40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'4h'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40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 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{ duration: </a:t>
            </a:r>
            <a:r>
              <a:rPr sz="1300" b="0">
                <a:solidFill>
                  <a:srgbClr val="86EFAC"/>
                </a:solidFill>
                <a:latin typeface="Noto Sans Mono CJK TC"/>
                <a:ea typeface="Noto Sans Mono CJK TC"/>
              </a:rPr>
              <a:t>'5m'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, target: </a:t>
            </a:r>
            <a:r>
              <a:rPr sz="1300" b="0">
                <a:solidFill>
                  <a:srgbClr val="FBBF24"/>
                </a:solidFill>
                <a:latin typeface="Noto Sans Mono CJK TC"/>
                <a:ea typeface="Noto Sans Mono CJK TC"/>
              </a:rPr>
              <a:t>0</a:t>
            </a: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 },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D7E3EA"/>
                </a:solidFill>
                <a:latin typeface="Noto Sans Mono CJK TC"/>
                <a:ea typeface="Noto Sans Mono CJK TC"/>
              </a:rPr>
              <a:t>]</a:t>
            </a:r>
          </a:p>
        </p:txBody>
      </p:sp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