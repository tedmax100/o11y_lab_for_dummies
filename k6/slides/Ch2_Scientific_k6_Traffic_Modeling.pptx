
<file path=[Content_Types].xml><?xml version="1.0" encoding="utf-8"?>
<Types xmlns="http://schemas.openxmlformats.org/package/2006/content-types">
  <Default ContentType="application/vnd.openxmlformats-officedocument.spreadsheetml.sheet" Extension="xlsx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3.xml"/>
  <Override ContentType="application/vnd.openxmlformats-officedocument.drawingml.chart+xml" PartName="/ppt/charts/chart2.xml"/>
  <Override ContentType="application/vnd.openxmlformats-officedocument.drawingml.chart+xml" PartName="/ppt/charts/chart5.xml"/>
  <Override ContentType="application/vnd.openxmlformats-officedocument.drawingml.chart+xml" PartName="/ppt/charts/chart4.xml"/>
  <Override ContentType="application/vnd.openxmlformats-officedocument.drawingml.chart+xml" PartName="/ppt/charts/chart1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9144000" cx="16256000"/>
  <p:notesSz cx="6858000" cy="9144000"/>
  <p:embeddedFontLst>
    <p:embeddedFont>
      <p:font typeface="Noto Sans Mono"/>
      <p:regular r:id="rId16"/>
      <p:bold r:id="rId17"/>
    </p:embeddedFont>
    <p:embeddedFont>
      <p:font typeface="Noto Sans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2" roundtripDataSignature="AMtx7miO6Q/RR8a/wcPdV++m1/+9loe4T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otoSans-italic.fntdata"/><Relationship Id="rId11" Type="http://schemas.openxmlformats.org/officeDocument/2006/relationships/slide" Target="slides/slide6.xml"/><Relationship Id="rId22" Type="http://customschemas.google.com/relationships/presentationmetadata" Target="metadata"/><Relationship Id="rId10" Type="http://schemas.openxmlformats.org/officeDocument/2006/relationships/slide" Target="slides/slide5.xml"/><Relationship Id="rId21" Type="http://schemas.openxmlformats.org/officeDocument/2006/relationships/font" Target="fonts/NotoSans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NotoSansMono-bold.fntdata"/><Relationship Id="rId16" Type="http://schemas.openxmlformats.org/officeDocument/2006/relationships/font" Target="fonts/NotoSansMono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NotoSans-bold.fntdata"/><Relationship Id="rId6" Type="http://schemas.openxmlformats.org/officeDocument/2006/relationships/slide" Target="slides/slide1.xml"/><Relationship Id="rId18" Type="http://schemas.openxmlformats.org/officeDocument/2006/relationships/font" Target="fonts/NotoSans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harts/_rels/chart1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38BDF8"/>
              </a:solidFill>
            </a:ln>
          </c:spPr>
          <c:marker>
            <c:symbol val="none"/>
          </c:marker>
          <c:xVal>
            <c:numRef>
              <c:f>Sheet1!$A$2:$A$5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60</c:v>
                </c:pt>
                <c:pt idx="3">
                  <c:v>60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6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1.15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38BDF8"/>
              </a:solidFill>
            </a:ln>
          </c:spPr>
          <c:marker>
            <c:symbol val="none"/>
          </c:marker>
          <c:xVal>
            <c:numRef>
              <c:f>Sheet1!$A$2:$A$5</c:f>
              <c:numCache>
                <c:formatCode>General</c:formatCode>
                <c:ptCount val="4"/>
                <c:pt idx="0">
                  <c:v>0</c:v>
                </c:pt>
                <c:pt idx="1">
                  <c:v>180</c:v>
                </c:pt>
                <c:pt idx="2">
                  <c:v>780</c:v>
                </c:pt>
                <c:pt idx="3">
                  <c:v>960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50</c:v>
                </c:pt>
                <c:pt idx="2">
                  <c:v>50</c:v>
                </c:pt>
                <c:pt idx="3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96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57.49999999999999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E879F9"/>
              </a:solidFill>
            </a:ln>
          </c:spPr>
          <c:marker>
            <c:symbol val="none"/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0</c:v>
                </c:pt>
                <c:pt idx="1">
                  <c:v>120</c:v>
                </c:pt>
                <c:pt idx="2">
                  <c:v>300</c:v>
                </c:pt>
                <c:pt idx="3">
                  <c:v>420</c:v>
                </c:pt>
                <c:pt idx="4">
                  <c:v>600</c:v>
                </c:pt>
                <c:pt idx="5">
                  <c:v>720</c:v>
                </c:pt>
                <c:pt idx="6">
                  <c:v>900</c:v>
                </c:pt>
                <c:pt idx="7">
                  <c:v>1020</c:v>
                </c:pt>
                <c:pt idx="8">
                  <c:v>1200</c:v>
                </c:pt>
                <c:pt idx="9">
                  <c:v>1380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50</c:v>
                </c:pt>
                <c:pt idx="2">
                  <c:v>50</c:v>
                </c:pt>
                <c:pt idx="3">
                  <c:v>100</c:v>
                </c:pt>
                <c:pt idx="4">
                  <c:v>100</c:v>
                </c:pt>
                <c:pt idx="5">
                  <c:v>200</c:v>
                </c:pt>
                <c:pt idx="6">
                  <c:v>200</c:v>
                </c:pt>
                <c:pt idx="7">
                  <c:v>300</c:v>
                </c:pt>
                <c:pt idx="8">
                  <c:v>300</c:v>
                </c:pt>
                <c:pt idx="9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38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345.0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FBBF24"/>
              </a:solidFill>
            </a:ln>
          </c:spPr>
          <c:marker>
            <c:symbol val="none"/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</c:v>
                </c:pt>
                <c:pt idx="1">
                  <c:v>30</c:v>
                </c:pt>
                <c:pt idx="2">
                  <c:v>40</c:v>
                </c:pt>
                <c:pt idx="3">
                  <c:v>100</c:v>
                </c:pt>
                <c:pt idx="4">
                  <c:v>110</c:v>
                </c:pt>
                <c:pt idx="5">
                  <c:v>230</c:v>
                </c:pt>
                <c:pt idx="6">
                  <c:v>240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200</c:v>
                </c:pt>
                <c:pt idx="3">
                  <c:v>200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24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229.99999999999997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38BDF8"/>
              </a:solidFill>
            </a:ln>
          </c:spPr>
          <c:marker>
            <c:symbol val="none"/>
          </c:marker>
          <c:xVal>
            <c:numRef>
              <c:f>Sheet1!$A$2:$A$5</c:f>
              <c:numCache>
                <c:formatCode>General</c:formatCode>
                <c:ptCount val="4"/>
                <c:pt idx="0">
                  <c:v>0</c:v>
                </c:pt>
                <c:pt idx="1">
                  <c:v>300</c:v>
                </c:pt>
                <c:pt idx="2">
                  <c:v>14700</c:v>
                </c:pt>
                <c:pt idx="3">
                  <c:v>15000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40</c:v>
                </c:pt>
                <c:pt idx="2">
                  <c:v>40</c:v>
                </c:pt>
                <c:pt idx="3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500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46.0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chart" Target="../charts/chart5.xml"/><Relationship Id="rId8" Type="http://schemas.openxmlformats.org/officeDocument/2006/relationships/hyperlink" Target="https://tedmax100.github.io/o11y_lab_for_dummies/k6-performance-testing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1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2.png" id="90" name="Google Shape;9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3.png" id="96" name="Google Shape;9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3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71A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 txBox="1"/>
          <p:nvPr/>
        </p:nvSpPr>
        <p:spPr>
          <a:xfrm>
            <a:off x="708837" y="309562"/>
            <a:ext cx="148383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手把手寫出 5 大壓測型態：stages 腳本範例</a:t>
            </a:r>
            <a:endParaRPr/>
          </a:p>
        </p:txBody>
      </p:sp>
      <p:sp>
        <p:nvSpPr>
          <p:cNvPr id="104" name="Google Shape;104;p4"/>
          <p:cNvSpPr txBox="1"/>
          <p:nvPr/>
        </p:nvSpPr>
        <p:spPr>
          <a:xfrm>
            <a:off x="708837" y="928687"/>
            <a:ext cx="14838325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k6 會在每一格的 duration 內，把 VU 數線性調整到 target——數字與 Codelab 範例一致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708837" y="1404937"/>
            <a:ext cx="14838325" cy="785812"/>
          </a:xfrm>
          <a:prstGeom prst="roundRect">
            <a:avLst>
              <a:gd fmla="val 8000" name="adj"/>
            </a:avLst>
          </a:prstGeom>
          <a:solidFill>
            <a:srgbClr val="0C2530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 txBox="1"/>
          <p:nvPr/>
        </p:nvSpPr>
        <p:spPr>
          <a:xfrm>
            <a:off x="945116" y="1476375"/>
            <a:ext cx="2362790" cy="642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Smoke Test</a:t>
            </a:r>
            <a:r>
              <a:rPr b="1" i="0" lang="en-US" sz="1250" u="none" cap="none" strike="noStrike">
                <a:solidFill>
                  <a:srgbClr val="8FA6B2"/>
                </a:solidFill>
                <a:latin typeface="Noto Sans"/>
                <a:ea typeface="Noto Sans"/>
                <a:cs typeface="Noto Sans"/>
                <a:sym typeface="Noto Sans"/>
              </a:rPr>
              <a:t>  冒煙測試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D7E3EA"/>
                </a:solidFill>
                <a:latin typeface="Noto Sans"/>
                <a:ea typeface="Noto Sans"/>
                <a:cs typeface="Noto Sans"/>
                <a:sym typeface="Noto Sans"/>
              </a:rPr>
              <a:t>1 VU・1 分鐘</a:t>
            </a:r>
            <a:endParaRPr/>
          </a:p>
        </p:txBody>
      </p:sp>
      <p:graphicFrame>
        <p:nvGraphicFramePr>
          <p:cNvPr id="107" name="Google Shape;107;p4"/>
          <p:cNvGraphicFramePr/>
          <p:nvPr/>
        </p:nvGraphicFramePr>
        <p:xfrm>
          <a:off x="3307906" y="1500187"/>
          <a:ext cx="3898604" cy="595312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108" name="Google Shape;108;p4"/>
          <p:cNvSpPr/>
          <p:nvPr/>
        </p:nvSpPr>
        <p:spPr>
          <a:xfrm>
            <a:off x="7419162" y="1524000"/>
            <a:ext cx="7962604" cy="547687"/>
          </a:xfrm>
          <a:prstGeom prst="roundRect">
            <a:avLst>
              <a:gd fmla="val 8000" name="adj"/>
            </a:avLst>
          </a:prstGeom>
          <a:solidFill>
            <a:srgbClr val="04121A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417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vus: </a:t>
            </a:r>
            <a:r>
              <a:rPr b="0" i="0" lang="en-US" sz="15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</a:t>
            </a: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duration: </a:t>
            </a:r>
            <a:r>
              <a:rPr b="0" i="0" lang="en-US" sz="1500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'1m'</a:t>
            </a:r>
            <a:endParaRPr sz="1600"/>
          </a:p>
        </p:txBody>
      </p:sp>
      <p:sp>
        <p:nvSpPr>
          <p:cNvPr id="109" name="Google Shape;109;p4"/>
          <p:cNvSpPr/>
          <p:nvPr/>
        </p:nvSpPr>
        <p:spPr>
          <a:xfrm>
            <a:off x="708837" y="2286000"/>
            <a:ext cx="14838325" cy="1190625"/>
          </a:xfrm>
          <a:prstGeom prst="roundRect">
            <a:avLst>
              <a:gd fmla="val 8000" name="adj"/>
            </a:avLst>
          </a:prstGeom>
          <a:solidFill>
            <a:srgbClr val="0C2530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 txBox="1"/>
          <p:nvPr/>
        </p:nvSpPr>
        <p:spPr>
          <a:xfrm>
            <a:off x="945116" y="2357437"/>
            <a:ext cx="236279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Load Test</a:t>
            </a:r>
            <a:r>
              <a:rPr b="1" i="0" lang="en-US" sz="1250" u="none" cap="none" strike="noStrike">
                <a:solidFill>
                  <a:srgbClr val="8FA6B2"/>
                </a:solidFill>
                <a:latin typeface="Noto Sans"/>
                <a:ea typeface="Noto Sans"/>
                <a:cs typeface="Noto Sans"/>
                <a:sym typeface="Noto Sans"/>
              </a:rPr>
              <a:t>  常規負載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D7E3EA"/>
                </a:solidFill>
                <a:latin typeface="Noto Sans"/>
                <a:ea typeface="Noto Sans"/>
                <a:cs typeface="Noto Sans"/>
                <a:sym typeface="Noto Sans"/>
              </a:rPr>
              <a:t>爬坡 → 高原 10m → 降載</a:t>
            </a:r>
            <a:endParaRPr/>
          </a:p>
        </p:txBody>
      </p:sp>
      <p:graphicFrame>
        <p:nvGraphicFramePr>
          <p:cNvPr id="111" name="Google Shape;111;p4"/>
          <p:cNvGraphicFramePr/>
          <p:nvPr/>
        </p:nvGraphicFramePr>
        <p:xfrm>
          <a:off x="3307906" y="2381250"/>
          <a:ext cx="3898604" cy="1000125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112" name="Google Shape;112;p4"/>
          <p:cNvSpPr/>
          <p:nvPr/>
        </p:nvSpPr>
        <p:spPr>
          <a:xfrm>
            <a:off x="7419162" y="2405062"/>
            <a:ext cx="7962604" cy="952500"/>
          </a:xfrm>
          <a:prstGeom prst="roundRect">
            <a:avLst>
              <a:gd fmla="val 8000" name="adj"/>
            </a:avLst>
          </a:prstGeom>
          <a:solidFill>
            <a:srgbClr val="04121A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417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stages: [</a:t>
            </a:r>
            <a:endParaRPr sz="16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sz="1500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'3m'</a:t>
            </a: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sz="15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50</a:t>
            </a: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sz="1500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'10m'</a:t>
            </a: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sz="15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50</a:t>
            </a: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6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sz="1500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'3m'</a:t>
            </a: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sz="15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0</a:t>
            </a: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6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]</a:t>
            </a:r>
            <a:endParaRPr sz="1600"/>
          </a:p>
        </p:txBody>
      </p:sp>
      <p:sp>
        <p:nvSpPr>
          <p:cNvPr id="113" name="Google Shape;113;p4"/>
          <p:cNvSpPr/>
          <p:nvPr/>
        </p:nvSpPr>
        <p:spPr>
          <a:xfrm>
            <a:off x="708837" y="3571875"/>
            <a:ext cx="14838325" cy="1905000"/>
          </a:xfrm>
          <a:prstGeom prst="roundRect">
            <a:avLst>
              <a:gd fmla="val 8000" name="adj"/>
            </a:avLst>
          </a:prstGeom>
          <a:solidFill>
            <a:srgbClr val="0C2530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945116" y="3643312"/>
            <a:ext cx="2362790" cy="1762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Stress Test</a:t>
            </a:r>
            <a:r>
              <a:rPr b="1" i="0" lang="en-US" sz="1250" u="none" cap="none" strike="noStrike">
                <a:solidFill>
                  <a:srgbClr val="8FA6B2"/>
                </a:solidFill>
                <a:latin typeface="Noto Sans"/>
                <a:ea typeface="Noto Sans"/>
                <a:cs typeface="Noto Sans"/>
                <a:sym typeface="Noto Sans"/>
              </a:rPr>
              <a:t>  極限壓力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D7E3EA"/>
                </a:solidFill>
                <a:latin typeface="Noto Sans"/>
                <a:ea typeface="Noto Sans"/>
                <a:cs typeface="Noto Sans"/>
                <a:sym typeface="Noto Sans"/>
              </a:rPr>
              <a:t>每階爬坡＋維持，到 300 VUs</a:t>
            </a:r>
            <a:endParaRPr/>
          </a:p>
        </p:txBody>
      </p:sp>
      <p:graphicFrame>
        <p:nvGraphicFramePr>
          <p:cNvPr id="115" name="Google Shape;115;p4"/>
          <p:cNvGraphicFramePr/>
          <p:nvPr/>
        </p:nvGraphicFramePr>
        <p:xfrm>
          <a:off x="3307906" y="3667125"/>
          <a:ext cx="3898604" cy="171450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16" name="Google Shape;116;p4"/>
          <p:cNvSpPr/>
          <p:nvPr/>
        </p:nvSpPr>
        <p:spPr>
          <a:xfrm>
            <a:off x="7419162" y="3690937"/>
            <a:ext cx="7962604" cy="1666875"/>
          </a:xfrm>
          <a:prstGeom prst="roundRect">
            <a:avLst>
              <a:gd fmla="val 8000" name="adj"/>
            </a:avLst>
          </a:prstGeom>
          <a:solidFill>
            <a:srgbClr val="04121A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417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stages: [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'2m'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50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50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'2m'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'2m'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200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200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'2m'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300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300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]</a:t>
            </a:r>
            <a:endParaRPr sz="1500"/>
          </a:p>
        </p:txBody>
      </p:sp>
      <p:sp>
        <p:nvSpPr>
          <p:cNvPr id="117" name="Google Shape;117;p4"/>
          <p:cNvSpPr/>
          <p:nvPr/>
        </p:nvSpPr>
        <p:spPr>
          <a:xfrm>
            <a:off x="708837" y="5572125"/>
            <a:ext cx="14838325" cy="1428750"/>
          </a:xfrm>
          <a:prstGeom prst="roundRect">
            <a:avLst>
              <a:gd fmla="val 8000" name="adj"/>
            </a:avLst>
          </a:prstGeom>
          <a:solidFill>
            <a:srgbClr val="0C2530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 txBox="1"/>
          <p:nvPr/>
        </p:nvSpPr>
        <p:spPr>
          <a:xfrm>
            <a:off x="945116" y="5643562"/>
            <a:ext cx="2362790" cy="1285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Spike Test</a:t>
            </a:r>
            <a:r>
              <a:rPr b="1" i="0" lang="en-US" sz="1250" u="none" cap="none" strike="noStrike">
                <a:solidFill>
                  <a:srgbClr val="8FA6B2"/>
                </a:solidFill>
                <a:latin typeface="Noto Sans"/>
                <a:ea typeface="Noto Sans"/>
                <a:cs typeface="Noto Sans"/>
                <a:sym typeface="Noto Sans"/>
              </a:rPr>
              <a:t>  突發尖峰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D7E3EA"/>
                </a:solidFill>
                <a:latin typeface="Noto Sans"/>
                <a:ea typeface="Noto Sans"/>
                <a:cs typeface="Noto Sans"/>
                <a:sym typeface="Noto Sans"/>
              </a:rPr>
              <a:t>10 秒內暴增 20 倍到 200 VUs</a:t>
            </a:r>
            <a:endParaRPr/>
          </a:p>
        </p:txBody>
      </p:sp>
      <p:graphicFrame>
        <p:nvGraphicFramePr>
          <p:cNvPr id="119" name="Google Shape;119;p4"/>
          <p:cNvGraphicFramePr/>
          <p:nvPr/>
        </p:nvGraphicFramePr>
        <p:xfrm>
          <a:off x="3307906" y="5667375"/>
          <a:ext cx="3898604" cy="1238250"/>
        </p:xfrm>
        <a:graphic>
          <a:graphicData uri="http://schemas.openxmlformats.org/drawingml/2006/chart">
            <c:chart r:id="rId6"/>
          </a:graphicData>
        </a:graphic>
      </p:graphicFrame>
      <p:sp>
        <p:nvSpPr>
          <p:cNvPr id="120" name="Google Shape;120;p4"/>
          <p:cNvSpPr/>
          <p:nvPr/>
        </p:nvSpPr>
        <p:spPr>
          <a:xfrm>
            <a:off x="7419162" y="5691187"/>
            <a:ext cx="7962604" cy="1190625"/>
          </a:xfrm>
          <a:prstGeom prst="roundRect">
            <a:avLst>
              <a:gd fmla="val 8000" name="adj"/>
            </a:avLst>
          </a:prstGeom>
          <a:solidFill>
            <a:srgbClr val="04121A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417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stages: [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'30s'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'10s'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200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'1m'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200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'10s'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'2m'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'10s'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]</a:t>
            </a:r>
            <a:endParaRPr sz="1500"/>
          </a:p>
        </p:txBody>
      </p:sp>
      <p:sp>
        <p:nvSpPr>
          <p:cNvPr id="121" name="Google Shape;121;p4"/>
          <p:cNvSpPr/>
          <p:nvPr/>
        </p:nvSpPr>
        <p:spPr>
          <a:xfrm>
            <a:off x="708837" y="7096125"/>
            <a:ext cx="14838325" cy="1190625"/>
          </a:xfrm>
          <a:prstGeom prst="roundRect">
            <a:avLst>
              <a:gd fmla="val 8000" name="adj"/>
            </a:avLst>
          </a:prstGeom>
          <a:solidFill>
            <a:srgbClr val="0C2530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 txBox="1"/>
          <p:nvPr/>
        </p:nvSpPr>
        <p:spPr>
          <a:xfrm>
            <a:off x="945116" y="7167562"/>
            <a:ext cx="236279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Soak Test</a:t>
            </a:r>
            <a:r>
              <a:rPr b="1" i="0" lang="en-US" sz="1250" u="none" cap="none" strike="noStrike">
                <a:solidFill>
                  <a:srgbClr val="8FA6B2"/>
                </a:solidFill>
                <a:latin typeface="Noto Sans"/>
                <a:ea typeface="Noto Sans"/>
                <a:cs typeface="Noto Sans"/>
                <a:sym typeface="Noto Sans"/>
              </a:rPr>
              <a:t>  浸泡耐久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D7E3EA"/>
                </a:solidFill>
                <a:latin typeface="Noto Sans"/>
                <a:ea typeface="Noto Sans"/>
                <a:cs typeface="Noto Sans"/>
                <a:sym typeface="Noto Sans"/>
              </a:rPr>
              <a:t>40 VUs 固定長跑 4 小時</a:t>
            </a:r>
            <a:endParaRPr/>
          </a:p>
        </p:txBody>
      </p:sp>
      <p:graphicFrame>
        <p:nvGraphicFramePr>
          <p:cNvPr id="123" name="Google Shape;123;p4"/>
          <p:cNvGraphicFramePr/>
          <p:nvPr/>
        </p:nvGraphicFramePr>
        <p:xfrm>
          <a:off x="3307906" y="7191375"/>
          <a:ext cx="3898604" cy="1000125"/>
        </p:xfrm>
        <a:graphic>
          <a:graphicData uri="http://schemas.openxmlformats.org/drawingml/2006/chart">
            <c:chart r:id="rId7"/>
          </a:graphicData>
        </a:graphic>
      </p:graphicFrame>
      <p:sp>
        <p:nvSpPr>
          <p:cNvPr id="124" name="Google Shape;124;p4"/>
          <p:cNvSpPr/>
          <p:nvPr/>
        </p:nvSpPr>
        <p:spPr>
          <a:xfrm>
            <a:off x="7419162" y="7215187"/>
            <a:ext cx="7962604" cy="952500"/>
          </a:xfrm>
          <a:prstGeom prst="roundRect">
            <a:avLst>
              <a:gd fmla="val 8000" name="adj"/>
            </a:avLst>
          </a:prstGeom>
          <a:solidFill>
            <a:srgbClr val="04121A"/>
          </a:solidFill>
          <a:ln cap="flat" cmpd="sng" w="12700">
            <a:solidFill>
              <a:srgbClr val="1E4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417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stages: [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'5m'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40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'4h'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40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{ duration: </a:t>
            </a:r>
            <a:r>
              <a:rPr b="0" i="0" lang="en-US" u="none" cap="none" strike="noStrike">
                <a:solidFill>
                  <a:srgbClr val="86EFA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'5m'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 target: </a:t>
            </a:r>
            <a:r>
              <a:rPr b="0" i="0" lang="en-US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0</a:t>
            </a: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}, 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D7E3E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]</a:t>
            </a:r>
            <a:endParaRPr sz="1500"/>
          </a:p>
        </p:txBody>
      </p:sp>
      <p:sp>
        <p:nvSpPr>
          <p:cNvPr id="125" name="Google Shape;125;p4">
            <a:hlinkClick r:id="rId8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5.png" id="130" name="Google Shape;1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6.png" id="136" name="Google Shape;13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6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7.png" id="142" name="Google Shape;1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8.png" id="148" name="Google Shape;14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8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9.png" id="154" name="Google Shape;15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9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10.png" id="160" name="Google Shape;16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0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D202B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A5F3FC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