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6" r:id="rId23"/>
    <p:sldId id="262" r:id="rId12"/>
    <p:sldId id="263" r:id="rId13"/>
    <p:sldId id="264" r:id="rId14"/>
    <p:sldId id="265" r:id="rId15"/>
  </p:sldIdLst>
  <p:sldSz cy="9144000" cx="16256000"/>
  <p:notesSz cx="6858000" cy="9144000"/>
  <p:embeddedFontLst>
    <p:embeddedFont>
      <p:font typeface="Noto Sans Mono"/>
      <p:regular r:id="rId16"/>
      <p:bold r:id="rId17"/>
    </p:embeddedFont>
    <p:embeddedFont>
      <p:font typeface="Noto Sans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iO6Q/RR8a/wcPdV++m1/+9loe4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NotoSansMono-regular.fntdata"/><Relationship Id="rId17" Type="http://schemas.openxmlformats.org/officeDocument/2006/relationships/font" Target="fonts/NotoSansMono-bold.fntdata"/><Relationship Id="rId18" Type="http://schemas.openxmlformats.org/officeDocument/2006/relationships/font" Target="fonts/NotoSans-regular.fntdata"/><Relationship Id="rId19" Type="http://schemas.openxmlformats.org/officeDocument/2006/relationships/font" Target="fonts/NotoSans-bold.fntdata"/><Relationship Id="rId20" Type="http://schemas.openxmlformats.org/officeDocument/2006/relationships/font" Target="fonts/NotoSans-italic.fntdata"/><Relationship Id="rId21" Type="http://schemas.openxmlformats.org/officeDocument/2006/relationships/font" Target="fonts/NotoSans-boldItalic.fntdata"/><Relationship Id="rId22" Type="http://customschemas.google.com/relationships/presentationmetadata" Target="metadata"/><Relationship Id="rId23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60</c:v>
                </c:pt>
                <c:pt idx="3">
                  <c:v>60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6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1.15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180</c:v>
                </c:pt>
                <c:pt idx="2">
                  <c:v>780</c:v>
                </c:pt>
                <c:pt idx="3">
                  <c:v>960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50</c:v>
                </c:pt>
                <c:pt idx="2">
                  <c:v>50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96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57.49999999999999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E879F9"/>
              </a:solidFill>
            </a:ln>
          </c:spPr>
          <c:marker>
            <c:symbol val="none"/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0</c:v>
                </c:pt>
                <c:pt idx="1">
                  <c:v>120</c:v>
                </c:pt>
                <c:pt idx="2">
                  <c:v>300</c:v>
                </c:pt>
                <c:pt idx="3">
                  <c:v>420</c:v>
                </c:pt>
                <c:pt idx="4">
                  <c:v>600</c:v>
                </c:pt>
                <c:pt idx="5">
                  <c:v>720</c:v>
                </c:pt>
                <c:pt idx="6">
                  <c:v>900</c:v>
                </c:pt>
                <c:pt idx="7">
                  <c:v>1020</c:v>
                </c:pt>
                <c:pt idx="8">
                  <c:v>1200</c:v>
                </c:pt>
                <c:pt idx="9">
                  <c:v>1380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50</c:v>
                </c:pt>
                <c:pt idx="2">
                  <c:v>50</c:v>
                </c:pt>
                <c:pt idx="3">
                  <c:v>100</c:v>
                </c:pt>
                <c:pt idx="4">
                  <c:v>100</c:v>
                </c:pt>
                <c:pt idx="5">
                  <c:v>200</c:v>
                </c:pt>
                <c:pt idx="6">
                  <c:v>200</c:v>
                </c:pt>
                <c:pt idx="7">
                  <c:v>300</c:v>
                </c:pt>
                <c:pt idx="8">
                  <c:v>300</c:v>
                </c:pt>
                <c:pt idx="9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8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345.0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FBBF24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30</c:v>
                </c:pt>
                <c:pt idx="2">
                  <c:v>40</c:v>
                </c:pt>
                <c:pt idx="3">
                  <c:v>100</c:v>
                </c:pt>
                <c:pt idx="4">
                  <c:v>110</c:v>
                </c:pt>
                <c:pt idx="5">
                  <c:v>230</c:v>
                </c:pt>
                <c:pt idx="6">
                  <c:v>240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200</c:v>
                </c:pt>
                <c:pt idx="3">
                  <c:v>200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4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229.99999999999997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300</c:v>
                </c:pt>
                <c:pt idx="2">
                  <c:v>14700</c:v>
                </c:pt>
                <c:pt idx="3">
                  <c:v>15000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40</c:v>
                </c:pt>
                <c:pt idx="2">
                  <c:v>40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00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46.0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2.png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3.png" id="96" name="Google Shape;9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71A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 txBox="1"/>
          <p:nvPr/>
        </p:nvSpPr>
        <p:spPr>
          <a:xfrm>
            <a:off x="708837" y="309562"/>
            <a:ext cx="148383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手把手寫出 5 大壓測型態：stages 腳本範例</a:t>
            </a:r>
            <a:endParaRPr/>
          </a:p>
        </p:txBody>
      </p:sp>
      <p:sp>
        <p:nvSpPr>
          <p:cNvPr id="104" name="Google Shape;104;p4"/>
          <p:cNvSpPr txBox="1"/>
          <p:nvPr/>
        </p:nvSpPr>
        <p:spPr>
          <a:xfrm>
            <a:off x="708837" y="928687"/>
            <a:ext cx="14838325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k6 會在每一格的 duration 內，把 VU 數線性調整到 target——數字與 Codelab 範例一致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708837" y="1404937"/>
            <a:ext cx="14838325" cy="785812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 txBox="1"/>
          <p:nvPr/>
        </p:nvSpPr>
        <p:spPr>
          <a:xfrm>
            <a:off x="945116" y="1476375"/>
            <a:ext cx="2362790" cy="642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Smoke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冒煙測試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1 VU・1 分鐘</a:t>
            </a:r>
            <a:endParaRPr/>
          </a:p>
        </p:txBody>
      </p:sp>
      <p:graphicFrame>
        <p:nvGraphicFramePr>
          <p:cNvPr id="107" name="Google Shape;107;p4"/>
          <p:cNvGraphicFramePr/>
          <p:nvPr/>
        </p:nvGraphicFramePr>
        <p:xfrm>
          <a:off x="3307906" y="1500187"/>
          <a:ext cx="3898604" cy="595312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08" name="Google Shape;108;p4"/>
          <p:cNvSpPr/>
          <p:nvPr/>
        </p:nvSpPr>
        <p:spPr>
          <a:xfrm>
            <a:off x="7419162" y="1524000"/>
            <a:ext cx="7962604" cy="547687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vus: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'1m'</a:t>
            </a:r>
            <a:endParaRPr sz="1600"/>
          </a:p>
        </p:txBody>
      </p:sp>
      <p:sp>
        <p:nvSpPr>
          <p:cNvPr id="109" name="Google Shape;109;p4"/>
          <p:cNvSpPr/>
          <p:nvPr/>
        </p:nvSpPr>
        <p:spPr>
          <a:xfrm>
            <a:off x="708837" y="2286000"/>
            <a:ext cx="14838325" cy="1190625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945116" y="2357437"/>
            <a:ext cx="236279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Load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常規負載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爬坡 → 高原 10m → 降載</a:t>
            </a:r>
            <a:endParaRPr/>
          </a:p>
        </p:txBody>
      </p:sp>
      <p:graphicFrame>
        <p:nvGraphicFramePr>
          <p:cNvPr id="111" name="Google Shape;111;p4"/>
          <p:cNvGraphicFramePr/>
          <p:nvPr/>
        </p:nvGraphicFramePr>
        <p:xfrm>
          <a:off x="3307906" y="2381250"/>
          <a:ext cx="3898604" cy="1000125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12" name="Google Shape;112;p4"/>
          <p:cNvSpPr/>
          <p:nvPr/>
        </p:nvSpPr>
        <p:spPr>
          <a:xfrm>
            <a:off x="7419162" y="2405062"/>
            <a:ext cx="7962604" cy="952500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'10m'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600"/>
          </a:p>
        </p:txBody>
      </p:sp>
      <p:sp>
        <p:nvSpPr>
          <p:cNvPr id="113" name="Google Shape;113;p4"/>
          <p:cNvSpPr/>
          <p:nvPr/>
        </p:nvSpPr>
        <p:spPr>
          <a:xfrm>
            <a:off x="708837" y="3571875"/>
            <a:ext cx="14838325" cy="1905000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945116" y="3643312"/>
            <a:ext cx="2362790" cy="1762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Stress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極限壓力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每階爬坡＋維持，到 300 VUs</a:t>
            </a:r>
            <a:endParaRPr/>
          </a:p>
        </p:txBody>
      </p:sp>
      <p:graphicFrame>
        <p:nvGraphicFramePr>
          <p:cNvPr id="115" name="Google Shape;115;p4"/>
          <p:cNvGraphicFramePr/>
          <p:nvPr/>
        </p:nvGraphicFramePr>
        <p:xfrm>
          <a:off x="3307906" y="3667125"/>
          <a:ext cx="3898604" cy="171450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16" name="Google Shape;116;p4"/>
          <p:cNvSpPr/>
          <p:nvPr/>
        </p:nvSpPr>
        <p:spPr>
          <a:xfrm>
            <a:off x="7419162" y="3690937"/>
            <a:ext cx="7962604" cy="1666875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300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300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500"/>
          </a:p>
        </p:txBody>
      </p:sp>
      <p:sp>
        <p:nvSpPr>
          <p:cNvPr id="117" name="Google Shape;117;p4"/>
          <p:cNvSpPr/>
          <p:nvPr/>
        </p:nvSpPr>
        <p:spPr>
          <a:xfrm>
            <a:off x="708837" y="5572125"/>
            <a:ext cx="14838325" cy="1428750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945116" y="5643562"/>
            <a:ext cx="236279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Spike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突發尖峰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10 秒內暴增 20 倍到 200 VUs</a:t>
            </a:r>
            <a:endParaRPr/>
          </a:p>
        </p:txBody>
      </p:sp>
      <p:graphicFrame>
        <p:nvGraphicFramePr>
          <p:cNvPr id="119" name="Google Shape;119;p4"/>
          <p:cNvGraphicFramePr/>
          <p:nvPr/>
        </p:nvGraphicFramePr>
        <p:xfrm>
          <a:off x="3307906" y="5667375"/>
          <a:ext cx="3898604" cy="1238250"/>
        </p:xfrm>
        <a:graphic>
          <a:graphicData uri="http://schemas.openxmlformats.org/drawingml/2006/chart">
            <c:chart r:id="rId6"/>
          </a:graphicData>
        </a:graphic>
      </p:graphicFrame>
      <p:sp>
        <p:nvSpPr>
          <p:cNvPr id="120" name="Google Shape;120;p4"/>
          <p:cNvSpPr/>
          <p:nvPr/>
        </p:nvSpPr>
        <p:spPr>
          <a:xfrm>
            <a:off x="7419162" y="5691187"/>
            <a:ext cx="7962604" cy="1190625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500"/>
          </a:p>
        </p:txBody>
      </p:sp>
      <p:sp>
        <p:nvSpPr>
          <p:cNvPr id="121" name="Google Shape;121;p4"/>
          <p:cNvSpPr/>
          <p:nvPr/>
        </p:nvSpPr>
        <p:spPr>
          <a:xfrm>
            <a:off x="708837" y="7096125"/>
            <a:ext cx="14838325" cy="1190625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945116" y="7167562"/>
            <a:ext cx="236279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Soak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浸泡耐久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40 VUs 固定長跑 4 小時</a:t>
            </a:r>
            <a:endParaRPr/>
          </a:p>
        </p:txBody>
      </p:sp>
      <p:graphicFrame>
        <p:nvGraphicFramePr>
          <p:cNvPr id="123" name="Google Shape;123;p4"/>
          <p:cNvGraphicFramePr/>
          <p:nvPr/>
        </p:nvGraphicFramePr>
        <p:xfrm>
          <a:off x="3307906" y="7191375"/>
          <a:ext cx="3898604" cy="1000125"/>
        </p:xfrm>
        <a:graphic>
          <a:graphicData uri="http://schemas.openxmlformats.org/drawingml/2006/chart">
            <c:chart r:id="rId7"/>
          </a:graphicData>
        </a:graphic>
      </p:graphicFrame>
      <p:sp>
        <p:nvSpPr>
          <p:cNvPr id="124" name="Google Shape;124;p4"/>
          <p:cNvSpPr/>
          <p:nvPr/>
        </p:nvSpPr>
        <p:spPr>
          <a:xfrm>
            <a:off x="7419162" y="7215187"/>
            <a:ext cx="7962604" cy="952500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'5m'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40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'4h'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40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'5m'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500"/>
          </a:p>
        </p:txBody>
      </p:sp>
      <p:sp>
        <p:nvSpPr>
          <p:cNvPr id="125" name="Google Shape;125;p4">
            <a:hlinkClick r:id="rId8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5.png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6.png" id="136" name="Google Shape;13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7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8.png" id="148" name="Google Shape;14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8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9.png"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9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0.png" id="160" name="Google Shape;16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0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8837" y="309562"/>
            <a:ext cx="14838325" cy="6191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CJK TC"/>
                <a:ea typeface="Noto Sans CJK TC"/>
              </a:rPr>
              <a:t>Open Model 不是萬用解：何時仍該用 Closed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928687"/>
            <a:ext cx="14838325" cy="3333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38BDF8"/>
                </a:solidFill>
                <a:latin typeface="Noto Sans CJK TC"/>
                <a:ea typeface="Noto Sans CJK TC"/>
              </a:rPr>
              <a:t>協調性漏測只在「真實流量本來就是 open」時才是問題；系統本身是 closed 的，硬用 open model 反而模擬錯了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452562"/>
            <a:ext cx="4961860" cy="6762750"/>
          </a:xfrm>
          <a:prstGeom prst="roundRect">
            <a:avLst>
              <a:gd name="adj" fmla="val 4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372" y="1666875"/>
            <a:ext cx="4394790" cy="357187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>
                <a:solidFill>
                  <a:srgbClr val="8FA6B2"/>
                </a:solidFill>
                <a:latin typeface="Noto Sans CJK TC"/>
                <a:ea typeface="Noto Sans CJK TC"/>
              </a:rPr>
              <a:t>選模型只問一題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372" y="2071687"/>
            <a:ext cx="4394790" cy="10001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TC"/>
                <a:ea typeface="Noto Sans CJK TC"/>
              </a:rPr>
              <a:t>後端變慢時，真實的 client 會不會跟著少送？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372" y="3238500"/>
            <a:ext cx="4394790" cy="1785937"/>
          </a:xfrm>
          <a:prstGeom prst="roundRect">
            <a:avLst>
              <a:gd name="adj" fmla="val 6000"/>
            </a:avLst>
          </a:prstGeom>
          <a:solidFill>
            <a:srgbClr val="04121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8651" y="3357562"/>
            <a:ext cx="3969488" cy="1571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Noto Sans CJK TC"/>
                <a:ea typeface="Noto Sans CJK TC"/>
              </a:rPr>
              <a:t>不會：使用者照樣湧入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Noto Sans CJK TC"/>
                <a:ea typeface="Noto Sans CJK TC"/>
              </a:rPr>
              <a:t>→ Open Model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86EFAC"/>
                </a:solidFill>
                <a:latin typeface="Noto Sans Mono CJK TC"/>
                <a:ea typeface="Noto Sans Mono CJK TC"/>
              </a:rPr>
              <a:t>constant / ramping-arrival-rate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D7E3EA"/>
                </a:solidFill>
                <a:latin typeface="Noto Sans CJK TC"/>
                <a:ea typeface="Noto Sans CJK TC"/>
              </a:rPr>
              <a:t>公開網站、公開 API、活動搶購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372" y="5238750"/>
            <a:ext cx="4394790" cy="1785937"/>
          </a:xfrm>
          <a:prstGeom prst="roundRect">
            <a:avLst>
              <a:gd name="adj" fmla="val 6000"/>
            </a:avLst>
          </a:prstGeom>
          <a:solidFill>
            <a:srgbClr val="04121A"/>
          </a:solidFill>
          <a:ln w="19050">
            <a:solidFill>
              <a:srgbClr val="E879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8651" y="5357812"/>
            <a:ext cx="3969488" cy="1571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79F9"/>
                </a:solidFill>
                <a:latin typeface="Noto Sans CJK TC"/>
                <a:ea typeface="Noto Sans CJK TC"/>
              </a:rPr>
              <a:t>會：client 等回應才送下一筆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Noto Sans CJK TC"/>
                <a:ea typeface="Noto Sans CJK TC"/>
              </a:rPr>
              <a:t>→ Closed Model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86EFAC"/>
                </a:solidFill>
                <a:latin typeface="Noto Sans Mono CJK TC"/>
                <a:ea typeface="Noto Sans Mono CJK TC"/>
              </a:rPr>
              <a:t>constant-vus / ramping-vus / iterations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D7E3EA"/>
                </a:solidFill>
                <a:latin typeface="Noto Sans CJK TC"/>
                <a:ea typeface="Noto Sans CJK TC"/>
              </a:rPr>
              <a:t>右邊這 5 種情境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372" y="7191375"/>
            <a:ext cx="4394790" cy="9048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1">
                <a:solidFill>
                  <a:srgbClr val="FBBF24"/>
                </a:solidFill>
                <a:latin typeface="Noto Sans CJK TC"/>
                <a:ea typeface="Noto Sans CJK TC"/>
              </a:rPr>
              <a:t>⚠ 用 Closed 時記得：</a:t>
            </a:r>
            <a:r>
              <a:rPr sz="1250" b="0">
                <a:solidFill>
                  <a:srgbClr val="D7E3EA"/>
                </a:solidFill>
                <a:latin typeface="Noto Sans CJK TC"/>
                <a:ea typeface="Noto Sans CJK TC"/>
              </a:rPr>
              <a:t>量到的延遲依然偏樂觀，別拿它驗公開服務的 SLO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6976" y="1452562"/>
            <a:ext cx="9640186" cy="1257300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19627" y="1843087"/>
            <a:ext cx="472558" cy="47625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00" b="1">
                <a:solidFill>
                  <a:srgbClr val="071A21"/>
                </a:solidFill>
                <a:latin typeface="Noto Sans CJK TC"/>
                <a:ea typeface="Noto Sans CJK T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1209" y="1524000"/>
            <a:ext cx="6379534" cy="11144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固定數量的 client，等回應才送下一筆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D7E3EA"/>
                </a:solidFill>
                <a:latin typeface="Noto Sans CJK TC"/>
                <a:ea typeface="Noto Sans CJK TC"/>
              </a:rPr>
              <a:t>batch worker、MQ consumer、固定 50 位客服、IoT 輪詢——變慢時本來就會少送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302511" y="1866900"/>
            <a:ext cx="2032000" cy="428625"/>
          </a:xfrm>
          <a:prstGeom prst="roundRect">
            <a:avLst>
              <a:gd name="adj" fmla="val 20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0">
                <a:solidFill>
                  <a:srgbClr val="86EFAC"/>
                </a:solidFill>
                <a:latin typeface="Noto Sans Mono CJK TC"/>
                <a:ea typeface="Noto Sans Mono CJK TC"/>
              </a:rPr>
              <a:t>constant-vus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06976" y="2828925"/>
            <a:ext cx="9640186" cy="1257300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19627" y="3219449"/>
            <a:ext cx="472558" cy="47625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00" b="1">
                <a:solidFill>
                  <a:srgbClr val="071A21"/>
                </a:solidFill>
                <a:latin typeface="Noto Sans CJK TC"/>
                <a:ea typeface="Noto Sans CJK T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209" y="2900362"/>
            <a:ext cx="6379534" cy="11144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要驗的是同時在線數／連線數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D7E3EA"/>
                </a:solidFill>
                <a:latin typeface="Noto Sans CJK TC"/>
                <a:ea typeface="Noto Sans CJK TC"/>
              </a:rPr>
              <a:t>1 萬條 WebSocket、session 上限、connection pool——arrival rate 管不到連線數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302511" y="3243262"/>
            <a:ext cx="2032000" cy="428625"/>
          </a:xfrm>
          <a:prstGeom prst="roundRect">
            <a:avLst>
              <a:gd name="adj" fmla="val 20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0">
                <a:solidFill>
                  <a:srgbClr val="86EFAC"/>
                </a:solidFill>
                <a:latin typeface="Noto Sans Mono CJK TC"/>
                <a:ea typeface="Noto Sans Mono CJK TC"/>
              </a:rPr>
              <a:t>ramping-vus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06976" y="4205287"/>
            <a:ext cx="9640186" cy="1257300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19627" y="4595812"/>
            <a:ext cx="472558" cy="47625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00" b="1">
                <a:solidFill>
                  <a:srgbClr val="071A21"/>
                </a:solidFill>
                <a:latin typeface="Noto Sans CJK TC"/>
                <a:ea typeface="Noto Sans CJK T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209" y="4276725"/>
            <a:ext cx="6379534" cy="11144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Browser 測試（Ch4）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D7E3EA"/>
                </a:solidFill>
                <a:latin typeface="Noto Sans CJK TC"/>
                <a:ea typeface="Noto Sans CJK TC"/>
              </a:rPr>
              <a:t>每個 VU 都是一個 Chromium；open model 一遇到變慢就加開瀏覽器，先垮的是壓測機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2511" y="4619625"/>
            <a:ext cx="2032000" cy="428625"/>
          </a:xfrm>
          <a:prstGeom prst="roundRect">
            <a:avLst>
              <a:gd name="adj" fmla="val 20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0">
                <a:solidFill>
                  <a:srgbClr val="86EFAC"/>
                </a:solidFill>
                <a:latin typeface="Noto Sans Mono CJK TC"/>
                <a:ea typeface="Noto Sans Mono CJK TC"/>
              </a:rPr>
              <a:t>constant-vus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06976" y="5581649"/>
            <a:ext cx="9640186" cy="1257300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19627" y="5972175"/>
            <a:ext cx="472558" cy="47625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00" b="1">
                <a:solidFill>
                  <a:srgbClr val="071A21"/>
                </a:solidFill>
                <a:latin typeface="Noto Sans CJK TC"/>
                <a:ea typeface="Noto Sans CJK T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209" y="5653087"/>
            <a:ext cx="6379534" cy="11144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測試資料只能用固定次數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D7E3EA"/>
                </a:solidFill>
                <a:latin typeface="Noto Sans CJK TC"/>
                <a:ea typeface="Noto Sans CJK TC"/>
              </a:rPr>
              <a:t>每個 VU 綁一組帳號、每筆訂單資料只能用一次——要的是精確的次數，不是速率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02511" y="5995987"/>
            <a:ext cx="2032000" cy="428625"/>
          </a:xfrm>
          <a:prstGeom prst="roundRect">
            <a:avLst>
              <a:gd name="adj" fmla="val 20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0">
                <a:solidFill>
                  <a:srgbClr val="86EFAC"/>
                </a:solidFill>
                <a:latin typeface="Noto Sans Mono CJK TC"/>
                <a:ea typeface="Noto Sans Mono CJK TC"/>
              </a:rPr>
              <a:t>per-vu-iterations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06976" y="6958012"/>
            <a:ext cx="9640186" cy="1257300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19627" y="7348537"/>
            <a:ext cx="472558" cy="47625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00" b="1">
                <a:solidFill>
                  <a:srgbClr val="071A21"/>
                </a:solidFill>
                <a:latin typeface="Noto Sans CJK TC"/>
                <a:ea typeface="Noto Sans CJK T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209" y="7029450"/>
            <a:ext cx="6379534" cy="11144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Smoke 與共用環境初探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D7E3EA"/>
                </a:solidFill>
                <a:latin typeface="Noto Sans CJK TC"/>
                <a:ea typeface="Noto Sans CJK TC"/>
              </a:rPr>
              <a:t>1～2 個 VU 確認腳本能跑；變慢時自動降速，不會把大家共用的 staging 打爆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302511" y="7372349"/>
            <a:ext cx="2032000" cy="428625"/>
          </a:xfrm>
          <a:prstGeom prst="roundRect">
            <a:avLst>
              <a:gd name="adj" fmla="val 20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0">
                <a:solidFill>
                  <a:srgbClr val="86EFAC"/>
                </a:solidFill>
                <a:latin typeface="Noto Sans Mono CJK TC"/>
                <a:ea typeface="Noto Sans Mono CJK TC"/>
              </a:rPr>
              <a:t>vus: 1</a:t>
            </a:r>
          </a:p>
        </p:txBody>
      </p:sp>
      <p:sp>
        <p:nvSpPr>
          <p:cNvPr id="137" name="Google Shape;137;p6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