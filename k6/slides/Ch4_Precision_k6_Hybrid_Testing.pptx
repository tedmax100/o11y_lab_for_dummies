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</p:sldIdLst>
  <p:sldSz cy="9144000" cx="16256000"/>
  <p:notesSz cx="6858000" cy="9144000"/>
  <p:embeddedFontLst>
    <p:embeddedFont>
      <p:font typeface="Noto Sans"/>
      <p:regular r:id="rId17"/>
      <p:bold r:id="rId18"/>
      <p:italic r:id="rId19"/>
      <p:boldItalic r:id="rId20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21" roundtripDataSignature="AMtx7mgPUPYVlnM67bKUC0TqV7AVELudn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NotoSans-boldItalic.fntdata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21" Type="http://customschemas.google.com/relationships/presentationmetadata" Target="metadata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font" Target="fonts/NotoSans-regular.fntdata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font" Target="fonts/NotoSans-italic.fntdata"/><Relationship Id="rId6" Type="http://schemas.openxmlformats.org/officeDocument/2006/relationships/slide" Target="slides/slide1.xml"/><Relationship Id="rId18" Type="http://schemas.openxmlformats.org/officeDocument/2006/relationships/font" Target="fonts/NotoSans-bold.fntdata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" name="Google Shape;94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8" name="Google Shape;108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2" name="Google Shape;142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8" name="Google Shape;148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1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1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4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14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1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15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1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1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6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6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1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7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17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1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1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18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18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18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18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1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1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1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1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1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0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20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20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2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2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2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1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21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1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2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2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2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22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2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2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3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3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2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2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2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hyperlink" Target="https://tedmax100.github.io/o11y_lab_for_dummies/k6-performance-testing/" TargetMode="Externa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hyperlink" Target="https://tedmax100.github.io/o11y_lab_for_dummies/k6-performance-testing/" TargetMode="Externa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png"/><Relationship Id="rId4" Type="http://schemas.openxmlformats.org/officeDocument/2006/relationships/hyperlink" Target="https://tedmax100.github.io/o11y_lab_for_dummies/k6-performance-testing/" TargetMode="Externa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hyperlink" Target="https://tedmax100.github.io/o11y_lab_for_dummies/k6-performance-testing/" TargetMode="Externa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s://tedmax100.github.io/o11y_lab_for_dummies/k6-performance-testing/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Relationship Id="rId4" Type="http://schemas.openxmlformats.org/officeDocument/2006/relationships/hyperlink" Target="https://tedmax100.github.io/o11y_lab_for_dummies/k6-performance-testing/" TargetMode="Externa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hyperlink" Target="https://tedmax100.github.io/o11y_lab_for_dummies/k6-performance-testing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Relationship Id="rId4" Type="http://schemas.openxmlformats.org/officeDocument/2006/relationships/hyperlink" Target="https://tedmax100.github.io/o11y_lab_for_dummies/k6-performance-testing/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9.png"/><Relationship Id="rId4" Type="http://schemas.openxmlformats.org/officeDocument/2006/relationships/hyperlink" Target="https://tedmax100.github.io/o11y_lab_for_dummies/k6-performance-testing/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Relationship Id="rId4" Type="http://schemas.openxmlformats.org/officeDocument/2006/relationships/hyperlink" Target="https://tedmax100.github.io/o11y_lab_for_dummies/k6-performance-testing/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0.png"/><Relationship Id="rId4" Type="http://schemas.openxmlformats.org/officeDocument/2006/relationships/hyperlink" Target="https://tedmax100.github.io/o11y_lab_for_dummies/k6-performance-testing/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lide_1.png" id="84" name="Google Shape;84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6256000" cy="91440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">
            <a:hlinkClick r:id="rId4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>
              <a:gd fmla="val 16667" name="adj"/>
            </a:avLst>
          </a:prstGeom>
          <a:solidFill>
            <a:srgbClr val="141519"/>
          </a:solidFill>
          <a:ln cap="flat" cmpd="sng" w="12700">
            <a:solidFill>
              <a:srgbClr val="10B98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109725" spcFirstLastPara="1" rIns="109725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34D399"/>
                </a:solidFill>
                <a:latin typeface="Noto Sans"/>
                <a:ea typeface="Noto Sans"/>
                <a:cs typeface="Noto Sans"/>
                <a:sym typeface="Noto Sans"/>
              </a:rPr>
              <a:t>▶ 課程實戰 Codelabs：</a:t>
            </a:r>
            <a:r>
              <a:rPr b="0" i="0" lang="en-US" sz="850" u="none" cap="none" strike="noStrike">
                <a:solidFill>
                  <a:srgbClr val="6EE7B7"/>
                </a:solidFill>
                <a:latin typeface="Noto Sans"/>
                <a:ea typeface="Noto Sans"/>
                <a:cs typeface="Noto Sans"/>
                <a:sym typeface="Noto Sans"/>
              </a:rPr>
              <a:t>tedmax100.github.io/o11y_lab_for_dummies/k6-performance-testing/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lide_2.png" id="90" name="Google Shape;90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6256000" cy="9144000"/>
          </a:xfrm>
          <a:prstGeom prst="rect">
            <a:avLst/>
          </a:prstGeom>
          <a:noFill/>
          <a:ln>
            <a:noFill/>
          </a:ln>
        </p:spPr>
      </p:pic>
      <p:sp>
        <p:nvSpPr>
          <p:cNvPr id="91" name="Google Shape;91;p2">
            <a:hlinkClick r:id="rId4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>
              <a:gd fmla="val 16667" name="adj"/>
            </a:avLst>
          </a:prstGeom>
          <a:solidFill>
            <a:srgbClr val="141519"/>
          </a:solidFill>
          <a:ln cap="flat" cmpd="sng" w="12700">
            <a:solidFill>
              <a:srgbClr val="10B98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109725" spcFirstLastPara="1" rIns="109725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34D399"/>
                </a:solidFill>
                <a:latin typeface="Noto Sans"/>
                <a:ea typeface="Noto Sans"/>
                <a:cs typeface="Noto Sans"/>
                <a:sym typeface="Noto Sans"/>
              </a:rPr>
              <a:t>▶ 課程實戰 Codelabs：</a:t>
            </a:r>
            <a:r>
              <a:rPr b="0" i="0" lang="en-US" sz="850" u="none" cap="none" strike="noStrike">
                <a:solidFill>
                  <a:srgbClr val="6EE7B7"/>
                </a:solidFill>
                <a:latin typeface="Noto Sans"/>
                <a:ea typeface="Noto Sans"/>
                <a:cs typeface="Noto Sans"/>
                <a:sym typeface="Noto Sans"/>
              </a:rPr>
              <a:t>tedmax100.github.io/o11y_lab_for_dummies/k6-performance-testing/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lide_3.png" id="96" name="Google Shape;96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6256000" cy="9144000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3">
            <a:hlinkClick r:id="rId4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>
              <a:gd fmla="val 16667" name="adj"/>
            </a:avLst>
          </a:prstGeom>
          <a:solidFill>
            <a:srgbClr val="141519"/>
          </a:solidFill>
          <a:ln cap="flat" cmpd="sng" w="12700">
            <a:solidFill>
              <a:srgbClr val="10B98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109725" spcFirstLastPara="1" rIns="109725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34D399"/>
                </a:solidFill>
                <a:latin typeface="Noto Sans"/>
                <a:ea typeface="Noto Sans"/>
                <a:cs typeface="Noto Sans"/>
                <a:sym typeface="Noto Sans"/>
              </a:rPr>
              <a:t>▶ 課程實戰 Codelabs：</a:t>
            </a:r>
            <a:r>
              <a:rPr b="0" i="0" lang="en-US" sz="850" u="none" cap="none" strike="noStrike">
                <a:solidFill>
                  <a:srgbClr val="6EE7B7"/>
                </a:solidFill>
                <a:latin typeface="Noto Sans"/>
                <a:ea typeface="Noto Sans"/>
                <a:cs typeface="Noto Sans"/>
                <a:sym typeface="Noto Sans"/>
              </a:rPr>
              <a:t>tedmax100.github.io/o11y_lab_for_dummies/k6-performance-testing/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lide_4_clean.png" id="102" name="Google Shape;102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6256000" cy="9144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4"/>
          <p:cNvSpPr/>
          <p:nvPr/>
        </p:nvSpPr>
        <p:spPr>
          <a:xfrm>
            <a:off x="803348" y="7798593"/>
            <a:ext cx="14649302" cy="1012031"/>
          </a:xfrm>
          <a:prstGeom prst="rect">
            <a:avLst/>
          </a:prstGeom>
          <a:solidFill>
            <a:srgbClr val="352424"/>
          </a:solidFill>
          <a:ln cap="flat" cmpd="sng" w="12700">
            <a:solidFill>
              <a:srgbClr val="5F2D2D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76200" lIns="279400" spcFirstLastPara="1" rIns="177800" wrap="square" tIns="7620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FF5F56"/>
                </a:solidFill>
                <a:latin typeface="Noto Sans"/>
                <a:ea typeface="Noto Sans"/>
                <a:cs typeface="Noto Sans"/>
                <a:sym typeface="Noto Sans"/>
              </a:rPr>
              <a:t>⚠ 致命陷阱：</a:t>
            </a:r>
            <a:r>
              <a:rPr b="0" i="0" lang="en-US" sz="1450" u="none" cap="none" strike="noStrike">
                <a:solidFill>
                  <a:srgbClr val="F1F5F9"/>
                </a:solidFill>
                <a:latin typeface="Noto Sans"/>
                <a:ea typeface="Noto Sans"/>
                <a:cs typeface="Noto Sans"/>
                <a:sym typeface="Noto Sans"/>
              </a:rPr>
              <a:t> 產出的腳本為「寫死的硬編碼 (Hardcoded)」！現狀無法直接用於高併發壓測。所有的 Token、Session ID</a:t>
            </a:r>
            <a:endParaRPr/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50" u="none" cap="none" strike="noStrike">
                <a:solidFill>
                  <a:srgbClr val="CBD5E1"/>
                </a:solidFill>
                <a:latin typeface="Noto Sans"/>
                <a:ea typeface="Noto Sans"/>
                <a:cs typeface="Noto Sans"/>
                <a:sym typeface="Noto Sans"/>
              </a:rPr>
              <a:t>都是錄製當下的死資料。幾千個 VU 用同一個過期 Token 打 API，只會引發大規模 401 Unauthorized 錯誤，結果嚴重失真。</a:t>
            </a:r>
            <a:endParaRPr/>
          </a:p>
        </p:txBody>
      </p:sp>
      <p:sp>
        <p:nvSpPr>
          <p:cNvPr id="104" name="Google Shape;104;p4"/>
          <p:cNvSpPr/>
          <p:nvPr/>
        </p:nvSpPr>
        <p:spPr>
          <a:xfrm>
            <a:off x="803348" y="7798593"/>
            <a:ext cx="59069" cy="1012031"/>
          </a:xfrm>
          <a:prstGeom prst="rect">
            <a:avLst/>
          </a:prstGeom>
          <a:solidFill>
            <a:srgbClr val="ED4F46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4">
            <a:hlinkClick r:id="rId4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>
              <a:gd fmla="val 16667" name="adj"/>
            </a:avLst>
          </a:prstGeom>
          <a:solidFill>
            <a:srgbClr val="141519"/>
          </a:solidFill>
          <a:ln cap="flat" cmpd="sng" w="12700">
            <a:solidFill>
              <a:srgbClr val="10B98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109725" spcFirstLastPara="1" rIns="109725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34D399"/>
                </a:solidFill>
                <a:latin typeface="Noto Sans"/>
                <a:ea typeface="Noto Sans"/>
                <a:cs typeface="Noto Sans"/>
                <a:sym typeface="Noto Sans"/>
              </a:rPr>
              <a:t>▶ 課程實戰 Codelabs：</a:t>
            </a:r>
            <a:r>
              <a:rPr b="0" i="0" lang="en-US" sz="850" u="none" cap="none" strike="noStrike">
                <a:solidFill>
                  <a:srgbClr val="6EE7B7"/>
                </a:solidFill>
                <a:latin typeface="Noto Sans"/>
                <a:ea typeface="Noto Sans"/>
                <a:cs typeface="Noto Sans"/>
                <a:sym typeface="Noto Sans"/>
              </a:rPr>
              <a:t>tedmax100.github.io/o11y_lab_for_dummies/k6-performance-testing/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lide_5_clean.png" id="110" name="Google Shape;110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6256000" cy="9144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1" name="Google Shape;111;p5"/>
          <p:cNvSpPr/>
          <p:nvPr/>
        </p:nvSpPr>
        <p:spPr>
          <a:xfrm>
            <a:off x="3272465" y="2678906"/>
            <a:ext cx="2858976" cy="809625"/>
          </a:xfrm>
          <a:prstGeom prst="roundRect">
            <a:avLst>
              <a:gd fmla="val 16667" name="adj"/>
            </a:avLst>
          </a:prstGeom>
          <a:solidFill>
            <a:srgbClr val="26292F"/>
          </a:solidFill>
          <a:ln cap="flat" cmpd="sng" w="12700">
            <a:solidFill>
              <a:srgbClr val="464B56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F1F5F9"/>
                </a:solidFill>
                <a:latin typeface="Noto Sans"/>
                <a:ea typeface="Noto Sans"/>
                <a:cs typeface="Noto Sans"/>
                <a:sym typeface="Noto Sans"/>
              </a:rPr>
              <a:t>① 剔除靜態與第三方資源</a:t>
            </a:r>
            <a:br>
              <a:rPr b="1" i="0" lang="en-US" sz="1500" u="none" cap="none" strike="noStrike">
                <a:solidFill>
                  <a:srgbClr val="F1F5F9"/>
                </a:solidFill>
                <a:latin typeface="Noto Sans"/>
                <a:ea typeface="Noto Sans"/>
                <a:cs typeface="Noto Sans"/>
                <a:sym typeface="Noto Sans"/>
              </a:rPr>
            </a:br>
            <a:r>
              <a:rPr b="0" i="0" lang="en-US" sz="1300" u="none" cap="none" strike="noStrike">
                <a:solidFill>
                  <a:srgbClr val="94A3B8"/>
                </a:solidFill>
                <a:latin typeface="Noto Sans"/>
                <a:ea typeface="Noto Sans"/>
                <a:cs typeface="Noto Sans"/>
                <a:sym typeface="Noto Sans"/>
              </a:rPr>
              <a:t>(Clean Static Assets)</a:t>
            </a:r>
            <a:endParaRPr sz="1600"/>
          </a:p>
        </p:txBody>
      </p:sp>
      <p:sp>
        <p:nvSpPr>
          <p:cNvPr id="112" name="Google Shape;112;p5"/>
          <p:cNvSpPr/>
          <p:nvPr/>
        </p:nvSpPr>
        <p:spPr>
          <a:xfrm>
            <a:off x="3272465" y="3595687"/>
            <a:ext cx="2858976" cy="1619250"/>
          </a:xfrm>
          <a:prstGeom prst="roundRect">
            <a:avLst>
              <a:gd fmla="val 16667" name="adj"/>
            </a:avLst>
          </a:prstGeom>
          <a:solidFill>
            <a:srgbClr val="1E2026"/>
          </a:solidFill>
          <a:ln cap="flat" cmpd="sng" w="12700">
            <a:solidFill>
              <a:srgbClr val="3C414B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101600" lIns="152400" spcFirstLastPara="1" rIns="127000" wrap="square" tIns="10160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50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動作：</a:t>
            </a:r>
            <a:r>
              <a:rPr b="0" i="0" lang="en-US" u="none" cap="none" strike="noStrike">
                <a:solidFill>
                  <a:srgbClr val="CBD5E1"/>
                </a:solidFill>
                <a:latin typeface="Noto Sans"/>
                <a:ea typeface="Noto Sans"/>
                <a:cs typeface="Noto Sans"/>
                <a:sym typeface="Noto Sans"/>
              </a:rPr>
              <a:t> 刪除 .png, .css, .js, .woff 以及 GA、Facebook Pixel 等外部請求。</a:t>
            </a:r>
            <a:endParaRPr sz="1600"/>
          </a:p>
        </p:txBody>
      </p:sp>
      <p:sp>
        <p:nvSpPr>
          <p:cNvPr id="113" name="Google Shape;113;p5"/>
          <p:cNvSpPr/>
          <p:nvPr/>
        </p:nvSpPr>
        <p:spPr>
          <a:xfrm>
            <a:off x="3272465" y="5334000"/>
            <a:ext cx="2858976" cy="1643062"/>
          </a:xfrm>
          <a:prstGeom prst="roundRect">
            <a:avLst>
              <a:gd fmla="val 16667" name="adj"/>
            </a:avLst>
          </a:prstGeom>
          <a:solidFill>
            <a:srgbClr val="1E2026"/>
          </a:solidFill>
          <a:ln cap="flat" cmpd="sng" w="12700">
            <a:solidFill>
              <a:srgbClr val="3C414B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101600" lIns="152400" spcFirstLastPara="1" rIns="127000" wrap="square" tIns="10160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50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目的：</a:t>
            </a:r>
            <a:r>
              <a:rPr b="0" i="0" lang="en-US" u="none" cap="none" strike="noStrike">
                <a:solidFill>
                  <a:srgbClr val="CBD5E1"/>
                </a:solidFill>
                <a:latin typeface="Noto Sans"/>
                <a:ea typeface="Noto Sans"/>
                <a:cs typeface="Noto Sans"/>
                <a:sym typeface="Noto Sans"/>
              </a:rPr>
              <a:t> 避免浪費資源打爆外部服務</a:t>
            </a:r>
            <a:br>
              <a:rPr b="0" i="0" lang="en-US" u="none" cap="none" strike="noStrike">
                <a:solidFill>
                  <a:srgbClr val="CBD5E1"/>
                </a:solidFill>
                <a:latin typeface="Noto Sans"/>
                <a:ea typeface="Noto Sans"/>
                <a:cs typeface="Noto Sans"/>
                <a:sym typeface="Noto Sans"/>
              </a:rPr>
            </a:br>
            <a:r>
              <a:rPr b="1" i="0" lang="en-US" u="none" cap="none" strike="noStrike">
                <a:solidFill>
                  <a:srgbClr val="34D399"/>
                </a:solidFill>
                <a:latin typeface="Noto Sans"/>
                <a:ea typeface="Noto Sans"/>
                <a:cs typeface="Noto Sans"/>
                <a:sym typeface="Noto Sans"/>
              </a:rPr>
              <a:t>(Don't load test Google!)</a:t>
            </a:r>
            <a:br>
              <a:rPr b="1" i="0" lang="en-US" u="none" cap="none" strike="noStrike">
                <a:solidFill>
                  <a:srgbClr val="34D399"/>
                </a:solidFill>
                <a:latin typeface="Noto Sans"/>
                <a:ea typeface="Noto Sans"/>
                <a:cs typeface="Noto Sans"/>
                <a:sym typeface="Noto Sans"/>
              </a:rPr>
            </a:br>
            <a:r>
              <a:rPr b="0" i="0" lang="en-US" u="none" cap="none" strike="noStrike">
                <a:solidFill>
                  <a:srgbClr val="CBD5E1"/>
                </a:solidFill>
                <a:latin typeface="Noto Sans"/>
                <a:ea typeface="Noto Sans"/>
                <a:cs typeface="Noto Sans"/>
                <a:sym typeface="Noto Sans"/>
              </a:rPr>
              <a:t>並防止污染吞吐量報告。</a:t>
            </a:r>
            <a:endParaRPr sz="1600"/>
          </a:p>
        </p:txBody>
      </p:sp>
      <p:sp>
        <p:nvSpPr>
          <p:cNvPr id="114" name="Google Shape;114;p5"/>
          <p:cNvSpPr/>
          <p:nvPr/>
        </p:nvSpPr>
        <p:spPr>
          <a:xfrm>
            <a:off x="6698511" y="2678906"/>
            <a:ext cx="2847162" cy="809625"/>
          </a:xfrm>
          <a:prstGeom prst="roundRect">
            <a:avLst>
              <a:gd fmla="val 16667" name="adj"/>
            </a:avLst>
          </a:prstGeom>
          <a:solidFill>
            <a:srgbClr val="26292F"/>
          </a:solidFill>
          <a:ln cap="flat" cmpd="sng" w="12700">
            <a:solidFill>
              <a:srgbClr val="464B56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F1F5F9"/>
                </a:solidFill>
                <a:latin typeface="Noto Sans"/>
                <a:ea typeface="Noto Sans"/>
                <a:cs typeface="Noto Sans"/>
                <a:sym typeface="Noto Sans"/>
              </a:rPr>
              <a:t>② 動態 Token 關聯</a:t>
            </a:r>
            <a:br>
              <a:rPr b="1" i="0" lang="en-US" sz="1500" u="none" cap="none" strike="noStrike">
                <a:solidFill>
                  <a:srgbClr val="F1F5F9"/>
                </a:solidFill>
                <a:latin typeface="Noto Sans"/>
                <a:ea typeface="Noto Sans"/>
                <a:cs typeface="Noto Sans"/>
                <a:sym typeface="Noto Sans"/>
              </a:rPr>
            </a:br>
            <a:r>
              <a:rPr b="0" i="0" lang="en-US" sz="1300" u="none" cap="none" strike="noStrike">
                <a:solidFill>
                  <a:srgbClr val="94A3B8"/>
                </a:solidFill>
                <a:latin typeface="Noto Sans"/>
                <a:ea typeface="Noto Sans"/>
                <a:cs typeface="Noto Sans"/>
                <a:sym typeface="Noto Sans"/>
              </a:rPr>
              <a:t>(Dynamic Correlation)</a:t>
            </a:r>
            <a:endParaRPr sz="1600"/>
          </a:p>
        </p:txBody>
      </p:sp>
      <p:sp>
        <p:nvSpPr>
          <p:cNvPr id="115" name="Google Shape;115;p5"/>
          <p:cNvSpPr/>
          <p:nvPr/>
        </p:nvSpPr>
        <p:spPr>
          <a:xfrm>
            <a:off x="6698511" y="3595687"/>
            <a:ext cx="2847162" cy="1619250"/>
          </a:xfrm>
          <a:prstGeom prst="roundRect">
            <a:avLst>
              <a:gd fmla="val 16667" name="adj"/>
            </a:avLst>
          </a:prstGeom>
          <a:solidFill>
            <a:srgbClr val="1E2026"/>
          </a:solidFill>
          <a:ln cap="flat" cmpd="sng" w="12700">
            <a:solidFill>
              <a:srgbClr val="3C414B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101600" lIns="152400" spcFirstLastPara="1" rIns="127000" wrap="square" tIns="10160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50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動作：</a:t>
            </a:r>
            <a:r>
              <a:rPr b="0" i="0" lang="en-US" u="none" cap="none" strike="noStrike">
                <a:solidFill>
                  <a:srgbClr val="CBD5E1"/>
                </a:solidFill>
                <a:latin typeface="Noto Sans"/>
                <a:ea typeface="Noto Sans"/>
                <a:cs typeface="Noto Sans"/>
                <a:sym typeface="Noto Sans"/>
              </a:rPr>
              <a:t> 將寫死的 JWT 或 CSRF Token，改為從前置 API Response 動態提取。</a:t>
            </a:r>
            <a:endParaRPr sz="1600"/>
          </a:p>
        </p:txBody>
      </p:sp>
      <p:sp>
        <p:nvSpPr>
          <p:cNvPr id="116" name="Google Shape;116;p5"/>
          <p:cNvSpPr/>
          <p:nvPr/>
        </p:nvSpPr>
        <p:spPr>
          <a:xfrm>
            <a:off x="6698511" y="5334000"/>
            <a:ext cx="2847162" cy="1643062"/>
          </a:xfrm>
          <a:prstGeom prst="roundRect">
            <a:avLst>
              <a:gd fmla="val 16667" name="adj"/>
            </a:avLst>
          </a:prstGeom>
          <a:solidFill>
            <a:srgbClr val="121418"/>
          </a:solidFill>
          <a:ln cap="flat" cmpd="sng" w="12700">
            <a:solidFill>
              <a:srgbClr val="32374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203200" spcFirstLastPara="1" rIns="91425" wrap="square" tIns="127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4748B"/>
                </a:solidFill>
                <a:latin typeface="Verdana"/>
                <a:ea typeface="Verdana"/>
                <a:cs typeface="Verdana"/>
                <a:sym typeface="Verdana"/>
              </a:rPr>
              <a:t>● ● ●</a:t>
            </a:r>
            <a:endParaRPr sz="1600"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50" u="none" cap="none" strike="noStrike">
                <a:solidFill>
                  <a:srgbClr val="C084FC"/>
                </a:solidFill>
                <a:latin typeface="Verdana"/>
                <a:ea typeface="Verdana"/>
                <a:cs typeface="Verdana"/>
                <a:sym typeface="Verdana"/>
              </a:rPr>
              <a:t>let </a:t>
            </a:r>
            <a:r>
              <a:rPr b="0" i="0" lang="en-US" sz="1450" u="none" cap="none" strike="noStrike">
                <a:solidFill>
                  <a:srgbClr val="F1F5F9"/>
                </a:solidFill>
                <a:latin typeface="Verdana"/>
                <a:ea typeface="Verdana"/>
                <a:cs typeface="Verdana"/>
                <a:sym typeface="Verdana"/>
              </a:rPr>
              <a:t>token = </a:t>
            </a:r>
            <a:endParaRPr sz="1600"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50" u="none" cap="none" strike="noStrike">
                <a:solidFill>
                  <a:srgbClr val="FDE047"/>
                </a:solidFill>
                <a:latin typeface="Verdana"/>
                <a:ea typeface="Verdana"/>
                <a:cs typeface="Verdana"/>
                <a:sym typeface="Verdana"/>
              </a:rPr>
              <a:t>res.json(</a:t>
            </a:r>
            <a:endParaRPr sz="1600"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50" u="none" cap="none" strike="noStrike">
                <a:solidFill>
                  <a:srgbClr val="34D399"/>
                </a:solidFill>
                <a:latin typeface="Verdana"/>
                <a:ea typeface="Verdana"/>
                <a:cs typeface="Verdana"/>
                <a:sym typeface="Verdana"/>
              </a:rPr>
              <a:t>  'accessToken');</a:t>
            </a:r>
            <a:endParaRPr sz="1600"/>
          </a:p>
        </p:txBody>
      </p:sp>
      <p:sp>
        <p:nvSpPr>
          <p:cNvPr id="117" name="Google Shape;117;p5"/>
          <p:cNvSpPr/>
          <p:nvPr/>
        </p:nvSpPr>
        <p:spPr>
          <a:xfrm>
            <a:off x="10112744" y="2678906"/>
            <a:ext cx="2847162" cy="809625"/>
          </a:xfrm>
          <a:prstGeom prst="roundRect">
            <a:avLst>
              <a:gd fmla="val 16667" name="adj"/>
            </a:avLst>
          </a:prstGeom>
          <a:solidFill>
            <a:srgbClr val="26292F"/>
          </a:solidFill>
          <a:ln cap="flat" cmpd="sng" w="12700">
            <a:solidFill>
              <a:srgbClr val="464B56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F1F5F9"/>
                </a:solidFill>
                <a:latin typeface="Noto Sans"/>
                <a:ea typeface="Noto Sans"/>
                <a:cs typeface="Noto Sans"/>
                <a:sym typeface="Noto Sans"/>
              </a:rPr>
              <a:t>③ 補充結構化區塊</a:t>
            </a:r>
            <a:br>
              <a:rPr b="1" i="0" lang="en-US" sz="1500" u="none" cap="none" strike="noStrike">
                <a:solidFill>
                  <a:srgbClr val="F1F5F9"/>
                </a:solidFill>
                <a:latin typeface="Noto Sans"/>
                <a:ea typeface="Noto Sans"/>
                <a:cs typeface="Noto Sans"/>
                <a:sym typeface="Noto Sans"/>
              </a:rPr>
            </a:br>
            <a:r>
              <a:rPr b="0" i="0" lang="en-US" sz="1300" u="none" cap="none" strike="noStrike">
                <a:solidFill>
                  <a:srgbClr val="94A3B8"/>
                </a:solidFill>
                <a:latin typeface="Noto Sans"/>
                <a:ea typeface="Noto Sans"/>
                <a:cs typeface="Noto Sans"/>
                <a:sym typeface="Noto Sans"/>
              </a:rPr>
              <a:t>(Groups &amp; Checks)</a:t>
            </a:r>
            <a:endParaRPr sz="1600"/>
          </a:p>
        </p:txBody>
      </p:sp>
      <p:sp>
        <p:nvSpPr>
          <p:cNvPr id="118" name="Google Shape;118;p5"/>
          <p:cNvSpPr/>
          <p:nvPr/>
        </p:nvSpPr>
        <p:spPr>
          <a:xfrm>
            <a:off x="10112744" y="3595687"/>
            <a:ext cx="2847162" cy="1619250"/>
          </a:xfrm>
          <a:prstGeom prst="roundRect">
            <a:avLst>
              <a:gd fmla="val 16667" name="adj"/>
            </a:avLst>
          </a:prstGeom>
          <a:solidFill>
            <a:srgbClr val="1E2026"/>
          </a:solidFill>
          <a:ln cap="flat" cmpd="sng" w="12700">
            <a:solidFill>
              <a:srgbClr val="3C414B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101600" lIns="152400" spcFirstLastPara="1" rIns="127000" wrap="square" tIns="10160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50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動作：</a:t>
            </a:r>
            <a:r>
              <a:rPr b="0" i="0" lang="en-US" u="none" cap="none" strike="noStrike">
                <a:solidFill>
                  <a:srgbClr val="CBD5E1"/>
                </a:solidFill>
                <a:latin typeface="Noto Sans"/>
                <a:ea typeface="Noto Sans"/>
                <a:cs typeface="Noto Sans"/>
                <a:sym typeface="Noto Sans"/>
              </a:rPr>
              <a:t> 使用 </a:t>
            </a:r>
            <a:r>
              <a:rPr b="1" i="0" lang="en-US" sz="1300" u="none" cap="none" strike="noStrike">
                <a:solidFill>
                  <a:srgbClr val="34D399"/>
                </a:solidFill>
                <a:latin typeface="Verdana"/>
                <a:ea typeface="Verdana"/>
                <a:cs typeface="Verdana"/>
                <a:sym typeface="Verdana"/>
              </a:rPr>
              <a:t>group('Login') </a:t>
            </a:r>
            <a:r>
              <a:rPr b="0" i="0" lang="en-US" u="none" cap="none" strike="noStrike">
                <a:solidFill>
                  <a:srgbClr val="CBD5E1"/>
                </a:solidFill>
                <a:latin typeface="Noto Sans"/>
                <a:ea typeface="Noto Sans"/>
                <a:cs typeface="Noto Sans"/>
                <a:sym typeface="Noto Sans"/>
              </a:rPr>
              <a:t>將 API 邏輯分組，並加上 </a:t>
            </a:r>
            <a:r>
              <a:rPr b="1" i="0" lang="en-US" sz="1300" u="none" cap="none" strike="noStrike">
                <a:solidFill>
                  <a:srgbClr val="34D399"/>
                </a:solidFill>
                <a:latin typeface="Verdana"/>
                <a:ea typeface="Verdana"/>
                <a:cs typeface="Verdana"/>
                <a:sym typeface="Verdana"/>
              </a:rPr>
              <a:t>check() </a:t>
            </a:r>
            <a:r>
              <a:rPr b="0" i="0" lang="en-US" u="none" cap="none" strike="noStrike">
                <a:solidFill>
                  <a:srgbClr val="CBD5E1"/>
                </a:solidFill>
                <a:latin typeface="Noto Sans"/>
                <a:ea typeface="Noto Sans"/>
                <a:cs typeface="Noto Sans"/>
                <a:sym typeface="Noto Sans"/>
              </a:rPr>
              <a:t>驗證狀態碼。</a:t>
            </a:r>
            <a:endParaRPr sz="1600"/>
          </a:p>
        </p:txBody>
      </p:sp>
      <p:sp>
        <p:nvSpPr>
          <p:cNvPr id="119" name="Google Shape;119;p5"/>
          <p:cNvSpPr/>
          <p:nvPr/>
        </p:nvSpPr>
        <p:spPr>
          <a:xfrm>
            <a:off x="10112719" y="5406159"/>
            <a:ext cx="2847300" cy="1643100"/>
          </a:xfrm>
          <a:prstGeom prst="roundRect">
            <a:avLst>
              <a:gd fmla="val 16667" name="adj"/>
            </a:avLst>
          </a:prstGeom>
          <a:solidFill>
            <a:srgbClr val="1E2026"/>
          </a:solidFill>
          <a:ln cap="flat" cmpd="sng" w="12700">
            <a:solidFill>
              <a:srgbClr val="3C414B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101600" lIns="152400" spcFirstLastPara="1" rIns="127000" wrap="square" tIns="10160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50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目的：</a:t>
            </a:r>
            <a:r>
              <a:rPr b="0" i="0" lang="en-US" u="none" cap="none" strike="noStrike">
                <a:solidFill>
                  <a:srgbClr val="CBD5E1"/>
                </a:solidFill>
                <a:latin typeface="Noto Sans"/>
                <a:ea typeface="Noto Sans"/>
                <a:cs typeface="Noto Sans"/>
                <a:sym typeface="Noto Sans"/>
              </a:rPr>
              <a:t> 讓壓測報告具備真實業務意義，確保高負載下不但有回應，且業務邏輯完全正確。</a:t>
            </a:r>
            <a:endParaRPr sz="1600"/>
          </a:p>
        </p:txBody>
      </p:sp>
      <p:sp>
        <p:nvSpPr>
          <p:cNvPr id="120" name="Google Shape;120;p5">
            <a:hlinkClick r:id="rId4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>
              <a:gd fmla="val 16667" name="adj"/>
            </a:avLst>
          </a:prstGeom>
          <a:solidFill>
            <a:srgbClr val="141519"/>
          </a:solidFill>
          <a:ln cap="flat" cmpd="sng" w="12700">
            <a:solidFill>
              <a:srgbClr val="10B98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109725" spcFirstLastPara="1" rIns="109725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34D399"/>
                </a:solidFill>
                <a:latin typeface="Noto Sans"/>
                <a:ea typeface="Noto Sans"/>
                <a:cs typeface="Noto Sans"/>
                <a:sym typeface="Noto Sans"/>
              </a:rPr>
              <a:t>▶ 課程實戰 Codelabs：</a:t>
            </a:r>
            <a:r>
              <a:rPr b="0" i="0" lang="en-US" sz="850" u="none" cap="none" strike="noStrike">
                <a:solidFill>
                  <a:srgbClr val="6EE7B7"/>
                </a:solidFill>
                <a:latin typeface="Noto Sans"/>
                <a:ea typeface="Noto Sans"/>
                <a:cs typeface="Noto Sans"/>
                <a:sym typeface="Noto Sans"/>
              </a:rPr>
              <a:t>tedmax100.github.io/o11y_lab_for_dummies/k6-performance-testing/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lide_6.png" id="125" name="Google Shape;125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6256000" cy="9144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6">
            <a:hlinkClick r:id="rId4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>
              <a:gd fmla="val 16667" name="adj"/>
            </a:avLst>
          </a:prstGeom>
          <a:solidFill>
            <a:srgbClr val="141519"/>
          </a:solidFill>
          <a:ln cap="flat" cmpd="sng" w="12700">
            <a:solidFill>
              <a:srgbClr val="10B98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109725" spcFirstLastPara="1" rIns="109725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34D399"/>
                </a:solidFill>
                <a:latin typeface="Noto Sans"/>
                <a:ea typeface="Noto Sans"/>
                <a:cs typeface="Noto Sans"/>
                <a:sym typeface="Noto Sans"/>
              </a:rPr>
              <a:t>▶ 課程實戰 Codelabs：</a:t>
            </a:r>
            <a:r>
              <a:rPr b="0" i="0" lang="en-US" sz="850" u="none" cap="none" strike="noStrike">
                <a:solidFill>
                  <a:srgbClr val="6EE7B7"/>
                </a:solidFill>
                <a:latin typeface="Noto Sans"/>
                <a:ea typeface="Noto Sans"/>
                <a:cs typeface="Noto Sans"/>
                <a:sym typeface="Noto Sans"/>
              </a:rPr>
              <a:t>tedmax100.github.io/o11y_lab_for_dummies/k6-performance-testing/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lide_7.png" id="131" name="Google Shape;131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6256000" cy="9144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2" name="Google Shape;132;p7">
            <a:hlinkClick r:id="rId4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>
              <a:gd fmla="val 16667" name="adj"/>
            </a:avLst>
          </a:prstGeom>
          <a:solidFill>
            <a:srgbClr val="141519"/>
          </a:solidFill>
          <a:ln cap="flat" cmpd="sng" w="12700">
            <a:solidFill>
              <a:srgbClr val="10B98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109725" spcFirstLastPara="1" rIns="109725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34D399"/>
                </a:solidFill>
                <a:latin typeface="Noto Sans"/>
                <a:ea typeface="Noto Sans"/>
                <a:cs typeface="Noto Sans"/>
                <a:sym typeface="Noto Sans"/>
              </a:rPr>
              <a:t>▶ 課程實戰 Codelabs：</a:t>
            </a:r>
            <a:r>
              <a:rPr b="0" i="0" lang="en-US" sz="850" u="none" cap="none" strike="noStrike">
                <a:solidFill>
                  <a:srgbClr val="6EE7B7"/>
                </a:solidFill>
                <a:latin typeface="Noto Sans"/>
                <a:ea typeface="Noto Sans"/>
                <a:cs typeface="Noto Sans"/>
                <a:sym typeface="Noto Sans"/>
              </a:rPr>
              <a:t>tedmax100.github.io/o11y_lab_for_dummies/k6-performance-testing/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lide_8_clean.png" id="137" name="Google Shape;137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6256000" cy="9144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8"/>
          <p:cNvSpPr/>
          <p:nvPr/>
        </p:nvSpPr>
        <p:spPr>
          <a:xfrm>
            <a:off x="11223255" y="797718"/>
            <a:ext cx="4512930" cy="1214437"/>
          </a:xfrm>
          <a:prstGeom prst="rect">
            <a:avLst/>
          </a:prstGeom>
          <a:solidFill>
            <a:srgbClr val="222629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76200" lIns="177800" spcFirstLastPara="1" rIns="152400" wrap="square" tIns="10160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34D399"/>
                </a:solidFill>
                <a:latin typeface="Noto Sans"/>
                <a:ea typeface="Noto Sans"/>
                <a:cs typeface="Noto Sans"/>
                <a:sym typeface="Noto Sans"/>
              </a:rPr>
              <a:t>解決痛點：</a:t>
            </a:r>
            <a:r>
              <a:rPr b="0" i="0" lang="en-US" sz="1300" u="none" cap="none" strike="noStrike">
                <a:solidFill>
                  <a:srgbClr val="F1F5F9"/>
                </a:solidFill>
                <a:latin typeface="Noto Sans"/>
                <a:ea typeface="Noto Sans"/>
                <a:cs typeface="Noto Sans"/>
                <a:sym typeface="Noto Sans"/>
              </a:rPr>
              <a:t>純用 Browser 跑千人併發</a:t>
            </a:r>
            <a:endParaRPr/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F1F5F9"/>
                </a:solidFill>
                <a:latin typeface="Noto Sans"/>
                <a:ea typeface="Noto Sans"/>
                <a:cs typeface="Noto Sans"/>
                <a:sym typeface="Noto Sans"/>
              </a:rPr>
              <a:t>會瞬間吃爆壓測機成本；純用 API 跑</a:t>
            </a:r>
            <a:endParaRPr/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F1F5F9"/>
                </a:solidFill>
                <a:latin typeface="Noto Sans"/>
                <a:ea typeface="Noto Sans"/>
                <a:cs typeface="Noto Sans"/>
                <a:sym typeface="Noto Sans"/>
              </a:rPr>
              <a:t>則無法得知前端 UI 卡頓。</a:t>
            </a:r>
            <a:endParaRPr/>
          </a:p>
        </p:txBody>
      </p:sp>
      <p:sp>
        <p:nvSpPr>
          <p:cNvPr id="139" name="Google Shape;139;p8">
            <a:hlinkClick r:id="rId4"/>
          </p:cNvPr>
          <p:cNvSpPr/>
          <p:nvPr/>
        </p:nvSpPr>
        <p:spPr>
          <a:xfrm>
            <a:off x="4663440" y="1600200"/>
            <a:ext cx="6035040" cy="219456"/>
          </a:xfrm>
          <a:prstGeom prst="roundRect">
            <a:avLst>
              <a:gd fmla="val 16667" name="adj"/>
            </a:avLst>
          </a:prstGeom>
          <a:solidFill>
            <a:srgbClr val="141519"/>
          </a:solidFill>
          <a:ln cap="flat" cmpd="sng" w="12700">
            <a:solidFill>
              <a:srgbClr val="10B98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109725" spcFirstLastPara="1" rIns="109725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34D399"/>
                </a:solidFill>
                <a:latin typeface="Noto Sans"/>
                <a:ea typeface="Noto Sans"/>
                <a:cs typeface="Noto Sans"/>
                <a:sym typeface="Noto Sans"/>
              </a:rPr>
              <a:t>▶ 課程實戰 Codelabs：</a:t>
            </a:r>
            <a:r>
              <a:rPr b="0" i="0" lang="en-US" sz="850" u="none" cap="none" strike="noStrike">
                <a:solidFill>
                  <a:srgbClr val="6EE7B7"/>
                </a:solidFill>
                <a:latin typeface="Noto Sans"/>
                <a:ea typeface="Noto Sans"/>
                <a:cs typeface="Noto Sans"/>
                <a:sym typeface="Noto Sans"/>
              </a:rPr>
              <a:t>tedmax100.github.io/o11y_lab_for_dummies/k6-performance-testing/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lide_9.png" id="144" name="Google Shape;144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6256000" cy="9144000"/>
          </a:xfrm>
          <a:prstGeom prst="rect">
            <a:avLst/>
          </a:prstGeom>
          <a:noFill/>
          <a:ln>
            <a:noFill/>
          </a:ln>
        </p:spPr>
      </p:pic>
      <p:sp>
        <p:nvSpPr>
          <p:cNvPr id="145" name="Google Shape;145;p9">
            <a:hlinkClick r:id="rId4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>
              <a:gd fmla="val 16667" name="adj"/>
            </a:avLst>
          </a:prstGeom>
          <a:solidFill>
            <a:srgbClr val="141519"/>
          </a:solidFill>
          <a:ln cap="flat" cmpd="sng" w="12700">
            <a:solidFill>
              <a:srgbClr val="10B98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109725" spcFirstLastPara="1" rIns="109725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34D399"/>
                </a:solidFill>
                <a:latin typeface="Noto Sans"/>
                <a:ea typeface="Noto Sans"/>
                <a:cs typeface="Noto Sans"/>
                <a:sym typeface="Noto Sans"/>
              </a:rPr>
              <a:t>▶ 課程實戰 Codelabs：</a:t>
            </a:r>
            <a:r>
              <a:rPr b="0" i="0" lang="en-US" sz="850" u="none" cap="none" strike="noStrike">
                <a:solidFill>
                  <a:srgbClr val="6EE7B7"/>
                </a:solidFill>
                <a:latin typeface="Noto Sans"/>
                <a:ea typeface="Noto Sans"/>
                <a:cs typeface="Noto Sans"/>
                <a:sym typeface="Noto Sans"/>
              </a:rPr>
              <a:t>tedmax100.github.io/o11y_lab_for_dummies/k6-performance-testing/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lide_10.png" id="150" name="Google Shape;150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6256000" cy="9144000"/>
          </a:xfrm>
          <a:prstGeom prst="rect">
            <a:avLst/>
          </a:prstGeom>
          <a:noFill/>
          <a:ln>
            <a:noFill/>
          </a:ln>
        </p:spPr>
      </p:pic>
      <p:sp>
        <p:nvSpPr>
          <p:cNvPr id="151" name="Google Shape;151;p10">
            <a:hlinkClick r:id="rId4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>
              <a:gd fmla="val 16667" name="adj"/>
            </a:avLst>
          </a:prstGeom>
          <a:solidFill>
            <a:srgbClr val="141519"/>
          </a:solidFill>
          <a:ln cap="flat" cmpd="sng" w="12700">
            <a:solidFill>
              <a:srgbClr val="10B98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109725" spcFirstLastPara="1" rIns="109725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34D399"/>
                </a:solidFill>
                <a:latin typeface="Noto Sans"/>
                <a:ea typeface="Noto Sans"/>
                <a:cs typeface="Noto Sans"/>
                <a:sym typeface="Noto Sans"/>
              </a:rPr>
              <a:t>▶ 課程實戰 Codelabs：</a:t>
            </a:r>
            <a:r>
              <a:rPr b="0" i="0" lang="en-US" sz="850" u="none" cap="none" strike="noStrike">
                <a:solidFill>
                  <a:srgbClr val="6EE7B7"/>
                </a:solidFill>
                <a:latin typeface="Noto Sans"/>
                <a:ea typeface="Noto Sans"/>
                <a:cs typeface="Noto Sans"/>
                <a:sym typeface="Noto Sans"/>
              </a:rPr>
              <a:t>tedmax100.github.io/o11y_lab_for_dummies/k6-performance-testing/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lide_11.png" id="156" name="Google Shape;156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6256000" cy="9144000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11">
            <a:hlinkClick r:id="rId4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>
              <a:gd fmla="val 16667" name="adj"/>
            </a:avLst>
          </a:prstGeom>
          <a:solidFill>
            <a:srgbClr val="141519"/>
          </a:solidFill>
          <a:ln cap="flat" cmpd="sng" w="12700">
            <a:solidFill>
              <a:srgbClr val="10B98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109725" spcFirstLastPara="1" rIns="109725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34D399"/>
                </a:solidFill>
                <a:latin typeface="Noto Sans"/>
                <a:ea typeface="Noto Sans"/>
                <a:cs typeface="Noto Sans"/>
                <a:sym typeface="Noto Sans"/>
              </a:rPr>
              <a:t>▶ 課程實戰 Codelabs：</a:t>
            </a:r>
            <a:r>
              <a:rPr b="0" i="0" lang="en-US" sz="850" u="none" cap="none" strike="noStrike">
                <a:solidFill>
                  <a:srgbClr val="6EE7B7"/>
                </a:solidFill>
                <a:latin typeface="Noto Sans"/>
                <a:ea typeface="Noto Sans"/>
                <a:cs typeface="Noto Sans"/>
                <a:sym typeface="Noto Sans"/>
              </a:rPr>
              <a:t>tedmax100.github.io/o11y_lab_for_dummies/k6-performance-testing/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</cp:coreProperties>
</file>