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03348" y="7798593"/>
            <a:ext cx="14649302" cy="1012031"/>
          </a:xfrm>
          <a:prstGeom prst="rect">
            <a:avLst/>
          </a:prstGeom>
          <a:solidFill>
            <a:srgbClr val="352424"/>
          </a:solidFill>
          <a:ln w="12700">
            <a:solidFill>
              <a:srgbClr val="5F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177800" tIns="76200" bIns="76200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FF5F56"/>
                </a:solidFill>
                <a:latin typeface="Noto Sans CJK TC"/>
              </a:rPr>
              <a:t>⚠ 致命陷阱：</a:t>
            </a:r>
            <a:r>
              <a:rPr sz="1450">
                <a:solidFill>
                  <a:srgbClr val="F1F5F9"/>
                </a:solidFill>
                <a:latin typeface="Noto Sans CJK TC"/>
              </a:rPr>
              <a:t> 產出的腳本為「寫死的硬編碼 (Hardcoded)」！現狀無法直接用於高併發壓測。所有的 Token、Session ID</a:t>
            </a:r>
          </a:p>
          <a:p>
            <a:pPr algn="l">
              <a:lnSpc>
                <a:spcPct val="125000"/>
              </a:lnSpc>
            </a:pPr>
            <a:r>
              <a:rPr sz="1450">
                <a:solidFill>
                  <a:srgbClr val="CBD5E1"/>
                </a:solidFill>
                <a:latin typeface="Noto Sans CJK TC"/>
              </a:rPr>
              <a:t>都是錄製當下的死資料。幾千個 VU 用同一個過期 Token 打 API，只會引發大規模 401 Unauthorized 錯誤，結果嚴重失真。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03348" y="7798593"/>
            <a:ext cx="59069" cy="1012031"/>
          </a:xfrm>
          <a:prstGeom prst="rect">
            <a:avLst/>
          </a:prstGeom>
          <a:solidFill>
            <a:srgbClr val="ED4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72465" y="2678906"/>
            <a:ext cx="2858976" cy="809625"/>
          </a:xfrm>
          <a:prstGeom prst="roundRect">
            <a:avLst/>
          </a:prstGeom>
          <a:solidFill>
            <a:srgbClr val="26292F"/>
          </a:solidFill>
          <a:ln w="12700">
            <a:solidFill>
              <a:srgbClr val="46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1F5F9"/>
                </a:solidFill>
                <a:latin typeface="Noto Sans CJK TC"/>
              </a:rPr>
              <a:t>① 剔除靜態與第三方資源
</a:t>
            </a:r>
            <a:r>
              <a:rPr sz="1100">
                <a:solidFill>
                  <a:srgbClr val="94A3B8"/>
                </a:solidFill>
                <a:latin typeface="Noto Sans CJK TC"/>
              </a:rPr>
              <a:t>(Clean Static Assets)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72465" y="3595687"/>
            <a:ext cx="2858976" cy="1619250"/>
          </a:xfrm>
          <a:prstGeom prst="roundRect">
            <a:avLst/>
          </a:prstGeom>
          <a:solidFill>
            <a:srgbClr val="1E2026"/>
          </a:solidFill>
          <a:ln w="1270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動作：</a:t>
            </a:r>
            <a:r>
              <a:rPr sz="1200">
                <a:solidFill>
                  <a:srgbClr val="CBD5E1"/>
                </a:solidFill>
                <a:latin typeface="Noto Sans CJK TC"/>
              </a:rPr>
              <a:t> 刪除 .png, .css, .js, .woff 以及 GA、Facebook Pixel 等外部請求。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2465" y="5334000"/>
            <a:ext cx="2858976" cy="1643062"/>
          </a:xfrm>
          <a:prstGeom prst="roundRect">
            <a:avLst/>
          </a:prstGeom>
          <a:solidFill>
            <a:srgbClr val="1E2026"/>
          </a:solidFill>
          <a:ln w="1270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目的：</a:t>
            </a:r>
            <a:r>
              <a:rPr sz="1200">
                <a:solidFill>
                  <a:srgbClr val="CBD5E1"/>
                </a:solidFill>
                <a:latin typeface="Noto Sans CJK TC"/>
              </a:rPr>
              <a:t> 避免浪費資源打爆外部服務
</a:t>
            </a:r>
            <a:r>
              <a:rPr sz="1200" b="1">
                <a:solidFill>
                  <a:srgbClr val="34D399"/>
                </a:solidFill>
                <a:latin typeface="Noto Sans CJK TC"/>
              </a:rPr>
              <a:t>(Don't load test Google!)
</a:t>
            </a:r>
            <a:r>
              <a:rPr sz="1200">
                <a:solidFill>
                  <a:srgbClr val="CBD5E1"/>
                </a:solidFill>
                <a:latin typeface="Noto Sans CJK TC"/>
              </a:rPr>
              <a:t>並防止污染吞吐量報告。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98511" y="2678906"/>
            <a:ext cx="2847162" cy="809625"/>
          </a:xfrm>
          <a:prstGeom prst="roundRect">
            <a:avLst/>
          </a:prstGeom>
          <a:solidFill>
            <a:srgbClr val="26292F"/>
          </a:solidFill>
          <a:ln w="12700">
            <a:solidFill>
              <a:srgbClr val="46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1F5F9"/>
                </a:solidFill>
                <a:latin typeface="Noto Sans CJK TC"/>
              </a:rPr>
              <a:t>② 動態 Token 關聯
</a:t>
            </a:r>
            <a:r>
              <a:rPr sz="1100">
                <a:solidFill>
                  <a:srgbClr val="94A3B8"/>
                </a:solidFill>
                <a:latin typeface="Noto Sans CJK TC"/>
              </a:rPr>
              <a:t>(Dynamic Correlation)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98511" y="3595687"/>
            <a:ext cx="2847162" cy="1619250"/>
          </a:xfrm>
          <a:prstGeom prst="roundRect">
            <a:avLst/>
          </a:prstGeom>
          <a:solidFill>
            <a:srgbClr val="1E2026"/>
          </a:solidFill>
          <a:ln w="1270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動作：</a:t>
            </a:r>
            <a:r>
              <a:rPr sz="1200">
                <a:solidFill>
                  <a:srgbClr val="CBD5E1"/>
                </a:solidFill>
                <a:latin typeface="Noto Sans CJK TC"/>
              </a:rPr>
              <a:t> 將寫死的 JWT 或 CSRF Token，改為從前置 API Response 動態提取。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98511" y="5334000"/>
            <a:ext cx="2847162" cy="1643062"/>
          </a:xfrm>
          <a:prstGeom prst="roundRect">
            <a:avLst/>
          </a:prstGeom>
          <a:solidFill>
            <a:srgbClr val="121418"/>
          </a:solidFill>
          <a:ln w="12700">
            <a:solidFill>
              <a:srgbClr val="32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/>
          <a:lstStyle/>
          <a:p>
            <a:pPr algn="l"/>
            <a:r>
              <a:rPr sz="900">
                <a:solidFill>
                  <a:srgbClr val="64748B"/>
                </a:solidFill>
                <a:latin typeface="DejaVu Sans Mono"/>
              </a:rPr>
              <a:t>● ● ●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C084FC"/>
                </a:solidFill>
                <a:latin typeface="DejaVu Sans Mono"/>
              </a:rPr>
              <a:t>let </a:t>
            </a:r>
            <a:r>
              <a:rPr sz="1250">
                <a:solidFill>
                  <a:srgbClr val="F1F5F9"/>
                </a:solidFill>
                <a:latin typeface="DejaVu Sans Mono"/>
              </a:rPr>
              <a:t>token = 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FDE047"/>
                </a:solidFill>
                <a:latin typeface="DejaVu Sans Mono"/>
              </a:rPr>
              <a:t>res.json(</a:t>
            </a:r>
          </a:p>
          <a:p>
            <a:pPr algn="l">
              <a:lnSpc>
                <a:spcPct val="115000"/>
              </a:lnSpc>
            </a:pPr>
            <a:r>
              <a:rPr sz="1250">
                <a:solidFill>
                  <a:srgbClr val="34D399"/>
                </a:solidFill>
                <a:latin typeface="DejaVu Sans Mono"/>
              </a:rPr>
              <a:t>  'accessToken');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12744" y="2678906"/>
            <a:ext cx="2847162" cy="809625"/>
          </a:xfrm>
          <a:prstGeom prst="roundRect">
            <a:avLst/>
          </a:prstGeom>
          <a:solidFill>
            <a:srgbClr val="26292F"/>
          </a:solidFill>
          <a:ln w="12700">
            <a:solidFill>
              <a:srgbClr val="464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1F5F9"/>
                </a:solidFill>
                <a:latin typeface="Noto Sans CJK TC"/>
              </a:rPr>
              <a:t>③ 補充結構化區塊
</a:t>
            </a:r>
            <a:r>
              <a:rPr sz="1100">
                <a:solidFill>
                  <a:srgbClr val="94A3B8"/>
                </a:solidFill>
                <a:latin typeface="Noto Sans CJK TC"/>
              </a:rPr>
              <a:t>(Groups &amp; Checks)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2744" y="3595687"/>
            <a:ext cx="2847162" cy="1619250"/>
          </a:xfrm>
          <a:prstGeom prst="roundRect">
            <a:avLst/>
          </a:prstGeom>
          <a:solidFill>
            <a:srgbClr val="1E2026"/>
          </a:solidFill>
          <a:ln w="1270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動作：</a:t>
            </a:r>
            <a:r>
              <a:rPr sz="1200">
                <a:solidFill>
                  <a:srgbClr val="CBD5E1"/>
                </a:solidFill>
                <a:latin typeface="Noto Sans CJK TC"/>
              </a:rPr>
              <a:t> 使用 </a:t>
            </a:r>
            <a:r>
              <a:rPr sz="1100" b="1">
                <a:solidFill>
                  <a:srgbClr val="34D399"/>
                </a:solidFill>
                <a:latin typeface="DejaVu Sans Mono"/>
              </a:rPr>
              <a:t>group('Login') </a:t>
            </a:r>
            <a:r>
              <a:rPr sz="1200">
                <a:solidFill>
                  <a:srgbClr val="CBD5E1"/>
                </a:solidFill>
                <a:latin typeface="Noto Sans CJK TC"/>
              </a:rPr>
              <a:t>將 API 邏輯分組，並加上 </a:t>
            </a:r>
            <a:r>
              <a:rPr sz="1100" b="1">
                <a:solidFill>
                  <a:srgbClr val="34D399"/>
                </a:solidFill>
                <a:latin typeface="DejaVu Sans Mono"/>
              </a:rPr>
              <a:t>check() </a:t>
            </a:r>
            <a:r>
              <a:rPr sz="1200">
                <a:solidFill>
                  <a:srgbClr val="CBD5E1"/>
                </a:solidFill>
                <a:latin typeface="Noto Sans CJK TC"/>
              </a:rPr>
              <a:t>驗證狀態碼。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12744" y="5334000"/>
            <a:ext cx="2847162" cy="1643062"/>
          </a:xfrm>
          <a:prstGeom prst="roundRect">
            <a:avLst/>
          </a:prstGeom>
          <a:solidFill>
            <a:srgbClr val="1E2026"/>
          </a:solidFill>
          <a:ln w="1270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Noto Sans CJK TC"/>
              </a:rPr>
              <a:t>目的：</a:t>
            </a:r>
            <a:r>
              <a:rPr sz="1200">
                <a:solidFill>
                  <a:srgbClr val="CBD5E1"/>
                </a:solidFill>
                <a:latin typeface="Noto Sans CJK TC"/>
              </a:rPr>
              <a:t> 讓壓測報告具備真實業務意義，確保高負載下不但有回應，且業務邏輯完全正確。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223255" y="797718"/>
            <a:ext cx="4512930" cy="1214437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01600" bIns="76200"/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34D399"/>
                </a:solidFill>
                <a:latin typeface="Noto Sans CJK TC"/>
              </a:rPr>
              <a:t>解決痛點：</a:t>
            </a:r>
            <a:r>
              <a:rPr sz="1300">
                <a:solidFill>
                  <a:srgbClr val="F1F5F9"/>
                </a:solidFill>
                <a:latin typeface="Noto Sans CJK TC"/>
              </a:rPr>
              <a:t>純用 Browser 跑千人併發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Noto Sans CJK TC"/>
              </a:rPr>
              <a:t>會瞬間吃爆壓測機成本；純用 API 跑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F1F5F9"/>
                </a:solidFill>
                <a:latin typeface="Noto Sans CJK TC"/>
              </a:rPr>
              <a:t>則無法得知前端 UI 卡頓。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