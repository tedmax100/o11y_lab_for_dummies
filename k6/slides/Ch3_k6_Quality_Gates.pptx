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6" r:id="rId17"/>
    <p:sldId id="267" r:id="rId19"/>
    <p:sldId id="260" r:id="rId11"/>
    <p:sldId id="261" r:id="rId12"/>
    <p:sldId id="262" r:id="rId13"/>
    <p:sldId id="263" r:id="rId14"/>
    <p:sldId id="264" r:id="rId15"/>
    <p:sldId id="265" r:id="rId16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結尾摘要 5 步驟：① THRESHOLDS 判決 ② checks 正確性 ③ HTTP 分佈形狀 ④ EXECUTION 壓測有效性 ⑤ NETWORK 頻寬。範例：P95 違規、8 倍長尾、dropped_iterations=37、vus 碰到 vus_max → 後端在約 50 RPS 飽和。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官方定義 http_req_duration = sending + waiting + receiving。blocked、connecting、tls_handshaking 發生在請求送出前，只會拉長 iteration_duration。waiting 飆高是最常見的後端瓶頸，receiving 飆高代表 Payload 過大。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edmax100.github.io/o11y_lab_for_dummies/k6-performance-testing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tedmax100.github.io/o11y_lab_for_dummies/k6-performance-testing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tedmax100.github.io/o11y_lab_for_dummies/k6-performance-testing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tedmax100.github.io/o11y_lab_for_dummies/k6-performance-testing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tedmax100.github.io/o11y_lab_for_dummies/k6-performance-testing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tedmax100.github.io/o11y_lab_for_dummies/k6-performance-testing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tedmax100.github.io/o11y_lab_for_dummies/k6-performance-testing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tedmax100.github.io/o11y_lab_for_dummies/k6-performance-testing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hyperlink" Target="https://tedmax100.github.io/o11y_lab_for_dummies/k6-performance-testing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hyperlink" Target="https://tedmax100.github.io/o11y_lab_for_dummies/k6-performance-testing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edmax100.github.io/o11y_lab_for_dummies/k6-performance-testing/" TargetMode="External"/><Relationship Id="rId3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hyperlink" Target="https://tedmax100.github.io/o11y_lab_for_dummies/k6-performance-testing/" TargetMode="Externa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Codelabs_Link_Badge">
            <a:hlinkClick r:id="rId3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1E293B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2563EB"/>
                </a:solidFill>
                <a:latin typeface="Noto Sans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Codelabs_Link_Badge">
            <a:hlinkClick r:id="rId3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1E293B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2563EB"/>
                </a:solidFill>
                <a:latin typeface="Noto Sans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Codelabs_Link_Badge">
            <a:hlinkClick r:id="rId3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1E293B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2563EB"/>
                </a:solidFill>
                <a:latin typeface="Noto Sans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Codelabs_Link_Badge">
            <a:hlinkClick r:id="rId3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1E293B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2563EB"/>
                </a:solidFill>
                <a:latin typeface="Noto Sans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Codelabs_Link_Badge">
            <a:hlinkClick r:id="rId3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1E293B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2563EB"/>
                </a:solidFill>
                <a:latin typeface="Noto Sans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Codelabs_Link_Badge">
            <a:hlinkClick r:id="rId3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1E293B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2563EB"/>
                </a:solidFill>
                <a:latin typeface="Noto Sans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Codelabs_Link_Badge">
            <a:hlinkClick r:id="rId3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1E293B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2563EB"/>
                </a:solidFill>
                <a:latin typeface="Noto Sans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Codelabs_Link_Badge">
            <a:hlinkClick r:id="rId3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1E293B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2563EB"/>
                </a:solidFill>
                <a:latin typeface="Noto Sans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Codelabs_Link_Badge">
            <a:hlinkClick r:id="rId3"/>
          </p:cNvPr>
          <p:cNvSpPr/>
          <p:nvPr/>
        </p:nvSpPr>
        <p:spPr>
          <a:xfrm>
            <a:off x="9326880" y="320040"/>
            <a:ext cx="6035040" cy="21945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1E293B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2563EB"/>
                </a:solidFill>
                <a:latin typeface="Noto Sans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Codelabs_Link_Badge">
            <a:hlinkClick r:id="rId3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1E293B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2563EB"/>
                </a:solidFill>
                <a:latin typeface="Noto Sans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8837" y="333375"/>
            <a:ext cx="14838325" cy="66675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Noto Sans CJK TC"/>
                <a:ea typeface="Noto Sans CJK TC"/>
              </a:rPr>
              <a:t>看懂 k6 結尾摘要：5 步驟判讀 SOP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8837" y="1000125"/>
            <a:ext cx="14838325" cy="357187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Noto Sans CJK TC"/>
                <a:ea typeface="Noto Sans CJK TC"/>
              </a:rPr>
              <a:t>不要從第一行讀到最後一行，要帶著問題、依固定順序讀（範例：constant-arrival-rate 目標 50 RPS × 60 秒）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8837" y="1571625"/>
            <a:ext cx="7560930" cy="6310312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534" tIns="141767" rIns="189023" bIns="141767"/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E2E8F0"/>
                </a:solidFill>
                <a:latin typeface="Noto Sans Mono CJK TC"/>
                <a:ea typeface="Noto Sans Mono CJK TC"/>
              </a:rPr>
              <a:t>█ THRESHOLDS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94A3B8"/>
                </a:solidFill>
                <a:latin typeface="Noto Sans Mono CJK TC"/>
                <a:ea typeface="Noto Sans Mono CJK TC"/>
              </a:rPr>
              <a:t>  http_req_duration</a:t>
            </a:r>
          </a:p>
          <a:p>
            <a:pPr algn="l">
              <a:lnSpc>
                <a:spcPct val="112000"/>
              </a:lnSpc>
            </a:pPr>
            <a:r>
              <a:rPr sz="1400" b="1">
                <a:solidFill>
                  <a:srgbClr val="F87171"/>
                </a:solidFill>
                <a:latin typeface="Noto Sans Mono CJK TC"/>
                <a:ea typeface="Noto Sans Mono CJK TC"/>
              </a:rPr>
              <a:t>  ✗ 'p(95)&lt;500' p(95)=812.4ms</a:t>
            </a:r>
            <a:r>
              <a:rPr sz="1400" b="1">
                <a:solidFill>
                  <a:srgbClr val="FBBF24"/>
                </a:solidFill>
                <a:latin typeface="Noto Sans Mono CJK TC"/>
                <a:ea typeface="Noto Sans Mono CJK TC"/>
              </a:rPr>
              <a:t>  ◀①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94A3B8"/>
                </a:solidFill>
                <a:latin typeface="Noto Sans Mono CJK TC"/>
                <a:ea typeface="Noto Sans Mono CJK TC"/>
              </a:rPr>
              <a:t>  http_req_failed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4ADE80"/>
                </a:solidFill>
                <a:latin typeface="Noto Sans Mono CJK TC"/>
                <a:ea typeface="Noto Sans Mono CJK TC"/>
              </a:rPr>
              <a:t>  ✓ 'rate&lt;0.01' rate=0.84%</a:t>
            </a:r>
          </a:p>
          <a:p>
            <a:pPr algn="l">
              <a:lnSpc>
                <a:spcPct val="112000"/>
              </a:lnSpc>
            </a:pPr>
            <a:r>
              <a:rPr sz="600" b="0">
                <a:solidFill>
                  <a:srgbClr val="94A3B8"/>
                </a:solidFill>
                <a:latin typeface="Noto Sans Mono CJK TC"/>
                <a:ea typeface="Noto Sans Mono CJK TC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400" b="1">
                <a:solidFill>
                  <a:srgbClr val="E2E8F0"/>
                </a:solidFill>
                <a:latin typeface="Noto Sans Mono CJK TC"/>
                <a:ea typeface="Noto Sans Mono CJK TC"/>
              </a:rPr>
              <a:t>█ TOTAL RESULTS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2E8F0"/>
                </a:solidFill>
                <a:latin typeface="Noto Sans Mono CJK TC"/>
                <a:ea typeface="Noto Sans Mono CJK TC"/>
              </a:rPr>
              <a:t>  checks_succeeded: 99.58% 5895/5920</a:t>
            </a:r>
            <a:r>
              <a:rPr sz="1400" b="1">
                <a:solidFill>
                  <a:srgbClr val="FBBF24"/>
                </a:solidFill>
                <a:latin typeface="Noto Sans Mono CJK TC"/>
                <a:ea typeface="Noto Sans Mono CJK TC"/>
              </a:rPr>
              <a:t>  ◀②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F87171"/>
                </a:solidFill>
                <a:latin typeface="Noto Sans Mono CJK TC"/>
                <a:ea typeface="Noto Sans Mono CJK TC"/>
              </a:rPr>
              <a:t>  ✗ status is 200  ↳ ✓ 2935 / ✗ 25</a:t>
            </a:r>
          </a:p>
          <a:p>
            <a:pPr algn="l">
              <a:lnSpc>
                <a:spcPct val="112000"/>
              </a:lnSpc>
            </a:pPr>
            <a:r>
              <a:rPr sz="1400" b="1">
                <a:solidFill>
                  <a:srgbClr val="38BDF8"/>
                </a:solidFill>
                <a:latin typeface="Noto Sans Mono CJK TC"/>
                <a:ea typeface="Noto Sans Mono CJK TC"/>
              </a:rPr>
              <a:t>  HTTP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2E8F0"/>
                </a:solidFill>
                <a:latin typeface="Noto Sans Mono CJK TC"/>
                <a:ea typeface="Noto Sans Mono CJK TC"/>
              </a:rPr>
              <a:t>  http_req_duration: med=98ms</a:t>
            </a:r>
            <a:r>
              <a:rPr sz="1400" b="1">
                <a:solidFill>
                  <a:srgbClr val="FBBF24"/>
                </a:solidFill>
                <a:latin typeface="Noto Sans Mono CJK TC"/>
                <a:ea typeface="Noto Sans Mono CJK TC"/>
              </a:rPr>
              <a:t>  ◀③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2E8F0"/>
                </a:solidFill>
                <a:latin typeface="Noto Sans Mono CJK TC"/>
                <a:ea typeface="Noto Sans Mono CJK TC"/>
              </a:rPr>
              <a:t>     avg=231ms p(95)=812ms max=4.21s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2E8F0"/>
                </a:solidFill>
                <a:latin typeface="Noto Sans Mono CJK TC"/>
                <a:ea typeface="Noto Sans Mono CJK TC"/>
              </a:rPr>
              <a:t>  http_req_failed..: 0.84% 25/2960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2E8F0"/>
                </a:solidFill>
                <a:latin typeface="Noto Sans Mono CJK TC"/>
                <a:ea typeface="Noto Sans Mono CJK TC"/>
              </a:rPr>
              <a:t>  http_reqs........: 2960  49.3/s</a:t>
            </a:r>
          </a:p>
          <a:p>
            <a:pPr algn="l">
              <a:lnSpc>
                <a:spcPct val="112000"/>
              </a:lnSpc>
            </a:pPr>
            <a:r>
              <a:rPr sz="1400" b="1">
                <a:solidFill>
                  <a:srgbClr val="38BDF8"/>
                </a:solidFill>
                <a:latin typeface="Noto Sans Mono CJK TC"/>
                <a:ea typeface="Noto Sans Mono CJK TC"/>
              </a:rPr>
              <a:t>  EXECUTION</a:t>
            </a:r>
          </a:p>
          <a:p>
            <a:pPr algn="l">
              <a:lnSpc>
                <a:spcPct val="112000"/>
              </a:lnSpc>
            </a:pPr>
            <a:r>
              <a:rPr sz="1400" b="1">
                <a:solidFill>
                  <a:srgbClr val="F87171"/>
                </a:solidFill>
                <a:latin typeface="Noto Sans Mono CJK TC"/>
                <a:ea typeface="Noto Sans Mono CJK TC"/>
              </a:rPr>
              <a:t>  dropped_iterations: 37</a:t>
            </a:r>
            <a:r>
              <a:rPr sz="1400" b="1">
                <a:solidFill>
                  <a:srgbClr val="FBBF24"/>
                </a:solidFill>
                <a:latin typeface="Noto Sans Mono CJK TC"/>
                <a:ea typeface="Noto Sans Mono CJK TC"/>
              </a:rPr>
              <a:t>  ◀④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2E8F0"/>
                </a:solidFill>
                <a:latin typeface="Noto Sans Mono CJK TC"/>
                <a:ea typeface="Noto Sans Mono CJK TC"/>
              </a:rPr>
              <a:t>  vus..............: min=1 max=60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2E8F0"/>
                </a:solidFill>
                <a:latin typeface="Noto Sans Mono CJK TC"/>
                <a:ea typeface="Noto Sans Mono CJK TC"/>
              </a:rPr>
              <a:t>  vus_max..........: 60</a:t>
            </a:r>
          </a:p>
          <a:p>
            <a:pPr algn="l">
              <a:lnSpc>
                <a:spcPct val="112000"/>
              </a:lnSpc>
            </a:pPr>
            <a:r>
              <a:rPr sz="1400" b="1">
                <a:solidFill>
                  <a:srgbClr val="38BDF8"/>
                </a:solidFill>
                <a:latin typeface="Noto Sans Mono CJK TC"/>
                <a:ea typeface="Noto Sans Mono CJK TC"/>
              </a:rPr>
              <a:t>  NETWORK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2E8F0"/>
                </a:solidFill>
                <a:latin typeface="Noto Sans Mono CJK TC"/>
                <a:ea typeface="Noto Sans Mono CJK TC"/>
              </a:rPr>
              <a:t>  data_received....: 38 MB 630 kB/s</a:t>
            </a:r>
            <a:r>
              <a:rPr sz="1400" b="1">
                <a:solidFill>
                  <a:srgbClr val="FBBF24"/>
                </a:solidFill>
                <a:latin typeface="Noto Sans Mono CJK TC"/>
                <a:ea typeface="Noto Sans Mono CJK TC"/>
              </a:rPr>
              <a:t>  ◀⑤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53302" y="1571625"/>
            <a:ext cx="699386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42325" y="1881187"/>
            <a:ext cx="519813" cy="523875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TC"/>
                <a:ea typeface="Noto Sans CJK TC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51162" y="1666875"/>
            <a:ext cx="5954232" cy="97631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F172A"/>
                </a:solidFill>
                <a:latin typeface="Noto Sans CJK TC"/>
                <a:ea typeface="Noto Sans CJK TC"/>
              </a:rPr>
              <a:t>THRESHOLDS：判決書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334155"/>
                </a:solidFill>
                <a:latin typeface="Noto Sans CJK TC"/>
                <a:ea typeface="Noto Sans CJK TC"/>
              </a:rPr>
              <a:t>過關了沒？只要一個 ✗ → Exit Code 99。先記下違規的指標與統計量。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53302" y="2857500"/>
            <a:ext cx="699386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42325" y="3167062"/>
            <a:ext cx="519813" cy="523875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TC"/>
                <a:ea typeface="Noto Sans CJK TC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51162" y="2952750"/>
            <a:ext cx="5954232" cy="97631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F172A"/>
                </a:solidFill>
                <a:latin typeface="Noto Sans CJK TC"/>
                <a:ea typeface="Noto Sans CJK TC"/>
              </a:rPr>
              <a:t>checks：功能正確性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334155"/>
                </a:solidFill>
                <a:latin typeface="Noto Sans CJK TC"/>
                <a:ea typeface="Noto Sans CJK TC"/>
              </a:rPr>
              <a:t>哪條斷言失敗？check 是軟斷言，不會擋 CI → 要加 checks 門檻。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53302" y="4143375"/>
            <a:ext cx="699386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42325" y="4452937"/>
            <a:ext cx="519813" cy="523875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TC"/>
                <a:ea typeface="Noto Sans CJK TC"/>
              </a:rP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51162" y="4238625"/>
            <a:ext cx="5954232" cy="97631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F172A"/>
                </a:solidFill>
                <a:latin typeface="Noto Sans CJK TC"/>
                <a:ea typeface="Noto Sans CJK TC"/>
              </a:rPr>
              <a:t>HTTP：分佈形狀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334155"/>
                </a:solidFill>
                <a:latin typeface="Noto Sans CJK TC"/>
                <a:ea typeface="Noto Sans CJK TC"/>
              </a:rPr>
              <a:t>p(95) ÷ med &gt; 3 倍＝長尾；整體比 expected_response 還快＝錯誤在「快速失敗」。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53302" y="5429250"/>
            <a:ext cx="699386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42325" y="5738812"/>
            <a:ext cx="519813" cy="523875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TC"/>
                <a:ea typeface="Noto Sans CJK TC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51162" y="5524500"/>
            <a:ext cx="5954232" cy="97631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F172A"/>
                </a:solidFill>
                <a:latin typeface="Noto Sans CJK TC"/>
                <a:ea typeface="Noto Sans CJK TC"/>
              </a:rPr>
              <a:t>EXECUTION：壓測有效嗎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334155"/>
                </a:solidFill>
                <a:latin typeface="Noto Sans CJK TC"/>
                <a:ea typeface="Noto Sans CJK TC"/>
              </a:rPr>
              <a:t>dropped_iterations &gt; 0 或 vus 碰到 vus_max → 目標流量沒打滿，結論作廢。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53302" y="6715125"/>
            <a:ext cx="699386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42325" y="7024687"/>
            <a:ext cx="519813" cy="523875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TC"/>
                <a:ea typeface="Noto Sans CJK TC"/>
              </a:rPr>
              <a:t>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1162" y="6810375"/>
            <a:ext cx="5954232" cy="97631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F172A"/>
                </a:solidFill>
                <a:latin typeface="Noto Sans CJK TC"/>
                <a:ea typeface="Noto Sans CJK TC"/>
              </a:rPr>
              <a:t>NETWORK：頻寬與 Payload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334155"/>
                </a:solidFill>
                <a:latin typeface="Noto Sans CJK TC"/>
                <a:ea typeface="Noto Sans CJK TC"/>
              </a:rPr>
              <a:t>data_received ÷ 請求數＝回應大小；逼近網卡上限＝瓶頸在壓測機。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837" y="8096250"/>
            <a:ext cx="14838325" cy="595312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6279" tIns="0" rIns="236279" bIns="0"/>
          <a:lstStyle/>
          <a:p>
            <a:pPr algn="l"/>
            <a:r>
              <a:rPr sz="1400" b="1">
                <a:solidFill>
                  <a:srgbClr val="4F46E5"/>
                </a:solidFill>
                <a:latin typeface="Noto Sans CJK TC"/>
                <a:ea typeface="Noto Sans CJK TC"/>
              </a:rPr>
              <a:t>本例結論  </a:t>
            </a:r>
            <a:r>
              <a:rPr sz="1350" b="0">
                <a:solidFill>
                  <a:srgbClr val="0F172A"/>
                </a:solidFill>
                <a:latin typeface="Noto Sans CJK TC"/>
                <a:ea typeface="Noto Sans CJK TC"/>
              </a:rPr>
              <a:t>P95 違規 ① ＋ med→p(95) 差 8 倍長尾 ③ ＋ 丟 37 次迭代、VU 池見底 ④ → 後端約 50 RPS 已飽和，下一步去儀表板找拐點</a:t>
            </a:r>
          </a:p>
        </p:txBody>
      </p:sp>
      <p:sp>
        <p:nvSpPr>
          <p:cNvPr id="3" name="Codelabs_Link_Badge">
            <a:hlinkClick r:id="rId2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1E293B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2563EB"/>
                </a:solidFill>
                <a:latin typeface="Noto Sans CJK TC"/>
              </a:rPr>
              <a:t>tedmax100.github.io/o11y_lab_for_dummies/k6-performance-testing/</a:t>
            </a:r>
          </a:p>
        </p:txBody>
      </p:sp>
      <p:sp>
        <p:nvSpPr>
          <p:cNvPr id="22" name="MetricReading_Marker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8837" y="333375"/>
            <a:ext cx="14838325" cy="66675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Noto Sans CJK TC"/>
                <a:ea typeface="Noto Sans CJK TC"/>
              </a:rPr>
              <a:t>延遲拆解：http_req_duration 只算後 3 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8837" y="1000125"/>
            <a:ext cx="14838325" cy="357187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Noto Sans CJK TC"/>
                <a:ea typeface="Noto Sans CJK TC"/>
              </a:rPr>
              <a:t>blocked / connecting / tls_handshaking 不計入 duration，只盯 duration 的話，連線層問題會完全隱形</a:t>
            </a:r>
          </a:p>
        </p:txBody>
      </p:sp>
      <p:pic>
        <p:nvPicPr>
          <p:cNvPr id="5" name="Picture 4" descr="latency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37" y="1500187"/>
            <a:ext cx="14838325" cy="219329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08837" y="3857625"/>
            <a:ext cx="3532372" cy="31670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7860" y="4024312"/>
            <a:ext cx="2008372" cy="33337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64748B"/>
                </a:solidFill>
                <a:latin typeface="Noto Sans CJK TC"/>
                <a:ea typeface="Noto Sans CJK TC"/>
              </a:rPr>
              <a:t>duration 看不到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7860" y="4452937"/>
            <a:ext cx="3154325" cy="47625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Noto Sans Mono CJK TC"/>
                <a:ea typeface="Noto Sans Mono CJK TC"/>
              </a:rPr>
              <a:t>blocked 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7860" y="5000625"/>
            <a:ext cx="3154325" cy="195262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4748B"/>
                </a:solidFill>
                <a:latin typeface="Noto Sans CJK TC"/>
                <a:ea typeface="Noto Sans CJK TC"/>
              </a:rPr>
              <a:t>可能病因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334155"/>
                </a:solidFill>
                <a:latin typeface="Noto Sans CJK TC"/>
                <a:ea typeface="Noto Sans CJK TC"/>
              </a:rPr>
              <a:t>壓測機本機埠耗盡、DNS 慢、沒有連線複用</a:t>
            </a:r>
          </a:p>
          <a:p>
            <a:pPr algn="l">
              <a:spcAft>
                <a:spcPts val="300"/>
              </a:spcAft>
            </a:pPr>
            <a:r>
              <a:rPr sz="600" b="0">
                <a:solidFill>
                  <a:srgbClr val="334155"/>
                </a:solidFill>
                <a:latin typeface="Noto Sans CJK TC"/>
                <a:ea typeface="Noto Sans CJK TC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64748B"/>
                </a:solidFill>
                <a:latin typeface="Noto Sans CJK TC"/>
                <a:ea typeface="Noto Sans CJK TC"/>
              </a:rPr>
              <a:t>解法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334155"/>
                </a:solidFill>
                <a:latin typeface="Noto Sans CJK TC"/>
                <a:ea typeface="Noto Sans CJK TC"/>
              </a:rPr>
              <a:t>調整 ip_local_port_range、確認 Keep-Alive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77488" y="3857625"/>
            <a:ext cx="3532372" cy="31670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66511" y="4024312"/>
            <a:ext cx="2008372" cy="33337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64748B"/>
                </a:solidFill>
                <a:latin typeface="Noto Sans CJK TC"/>
                <a:ea typeface="Noto Sans CJK TC"/>
              </a:rPr>
              <a:t>duration 看不到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6511" y="4452937"/>
            <a:ext cx="3154325" cy="47625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Noto Sans Mono CJK TC"/>
                <a:ea typeface="Noto Sans Mono CJK TC"/>
              </a:rPr>
              <a:t>connecting / tls 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6511" y="5000625"/>
            <a:ext cx="3154325" cy="195262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4748B"/>
                </a:solidFill>
                <a:latin typeface="Noto Sans CJK TC"/>
                <a:ea typeface="Noto Sans CJK TC"/>
              </a:rPr>
              <a:t>可能病因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334155"/>
                </a:solidFill>
                <a:latin typeface="Noto Sans CJK TC"/>
                <a:ea typeface="Noto Sans CJK TC"/>
              </a:rPr>
              <a:t>每次請求都重建連線；壓測機與受測端 RTT 過高</a:t>
            </a:r>
          </a:p>
          <a:p>
            <a:pPr algn="l">
              <a:spcAft>
                <a:spcPts val="300"/>
              </a:spcAft>
            </a:pPr>
            <a:r>
              <a:rPr sz="600" b="0">
                <a:solidFill>
                  <a:srgbClr val="334155"/>
                </a:solidFill>
                <a:latin typeface="Noto Sans CJK TC"/>
                <a:ea typeface="Noto Sans CJK TC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64748B"/>
                </a:solidFill>
                <a:latin typeface="Noto Sans CJK TC"/>
                <a:ea typeface="Noto Sans CJK TC"/>
              </a:rPr>
              <a:t>解法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334155"/>
                </a:solidFill>
                <a:latin typeface="Noto Sans CJK TC"/>
                <a:ea typeface="Noto Sans CJK TC"/>
              </a:rPr>
              <a:t>啟用 Keep-Alive 與 TLS Session Resumption，壓測機靠近受測端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6139" y="3857625"/>
            <a:ext cx="3532372" cy="31670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35162" y="4024312"/>
            <a:ext cx="1772093" cy="333375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4F46E5"/>
                </a:solidFill>
                <a:latin typeface="Noto Sans CJK TC"/>
                <a:ea typeface="Noto Sans CJK TC"/>
              </a:rPr>
              <a:t>推高 duration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5162" y="4452937"/>
            <a:ext cx="3154325" cy="47625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Noto Sans Mono CJK TC"/>
                <a:ea typeface="Noto Sans Mono CJK TC"/>
              </a:rPr>
              <a:t>waiting (TTFB) 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5162" y="5000625"/>
            <a:ext cx="3154325" cy="195262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4748B"/>
                </a:solidFill>
                <a:latin typeface="Noto Sans CJK TC"/>
                <a:ea typeface="Noto Sans CJK TC"/>
              </a:rPr>
              <a:t>可能病因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334155"/>
                </a:solidFill>
                <a:latin typeface="Noto Sans CJK TC"/>
                <a:ea typeface="Noto Sans CJK TC"/>
              </a:rPr>
              <a:t>最常見的後端瓶頸：慢查詢、DB 連線池耗盡、CPU 飽和、下游 RPC 卡住</a:t>
            </a:r>
          </a:p>
          <a:p>
            <a:pPr algn="l">
              <a:spcAft>
                <a:spcPts val="300"/>
              </a:spcAft>
            </a:pPr>
            <a:r>
              <a:rPr sz="600" b="0">
                <a:solidFill>
                  <a:srgbClr val="334155"/>
                </a:solidFill>
                <a:latin typeface="Noto Sans CJK TC"/>
                <a:ea typeface="Noto Sans CJK TC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64748B"/>
                </a:solidFill>
                <a:latin typeface="Noto Sans CJK TC"/>
                <a:ea typeface="Noto Sans CJK TC"/>
              </a:rPr>
              <a:t>解法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334155"/>
                </a:solidFill>
                <a:latin typeface="Noto Sans CJK TC"/>
                <a:ea typeface="Noto Sans CJK TC"/>
              </a:rPr>
              <a:t>用 Distributed Tracing 找出最慢的 Span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14790" y="3857625"/>
            <a:ext cx="3532372" cy="31670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203813" y="4024312"/>
            <a:ext cx="1772093" cy="333375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4F46E5"/>
                </a:solidFill>
                <a:latin typeface="Noto Sans CJK TC"/>
                <a:ea typeface="Noto Sans CJK TC"/>
              </a:rPr>
              <a:t>推高 duration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03813" y="4452937"/>
            <a:ext cx="3154325" cy="47625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Noto Sans Mono CJK TC"/>
                <a:ea typeface="Noto Sans Mono CJK TC"/>
              </a:rPr>
              <a:t>receiving 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03813" y="5000625"/>
            <a:ext cx="3154325" cy="195262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4748B"/>
                </a:solidFill>
                <a:latin typeface="Noto Sans CJK TC"/>
                <a:ea typeface="Noto Sans CJK TC"/>
              </a:rPr>
              <a:t>可能病因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334155"/>
                </a:solidFill>
                <a:latin typeface="Noto Sans CJK TC"/>
                <a:ea typeface="Noto Sans CJK TC"/>
              </a:rPr>
              <a:t>回應 Payload 過大，頻寬被打滿</a:t>
            </a:r>
          </a:p>
          <a:p>
            <a:pPr algn="l">
              <a:spcAft>
                <a:spcPts val="300"/>
              </a:spcAft>
            </a:pPr>
            <a:r>
              <a:rPr sz="600" b="0">
                <a:solidFill>
                  <a:srgbClr val="334155"/>
                </a:solidFill>
                <a:latin typeface="Noto Sans CJK TC"/>
                <a:ea typeface="Noto Sans CJK TC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64748B"/>
                </a:solidFill>
                <a:latin typeface="Noto Sans CJK TC"/>
                <a:ea typeface="Noto Sans CJK TC"/>
              </a:rPr>
              <a:t>解法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334155"/>
                </a:solidFill>
                <a:latin typeface="Noto Sans CJK TC"/>
                <a:ea typeface="Noto Sans CJK TC"/>
              </a:rPr>
              <a:t>分頁、精簡欄位、開啟 Gzip / Brotli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837" y="7191375"/>
            <a:ext cx="14838325" cy="1309687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9906" tIns="0" rIns="259906" bIns="0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8BDF8"/>
                </a:solidFill>
                <a:latin typeface="Noto Sans Mono CJK TC"/>
                <a:ea typeface="Noto Sans Mono CJK TC"/>
              </a:rPr>
              <a:t>$ k6 run --summary-mode=full script.js</a:t>
            </a:r>
            <a:r>
              <a:rPr sz="1400" b="0">
                <a:solidFill>
                  <a:srgbClr val="94A3B8"/>
                </a:solidFill>
                <a:latin typeface="Noto Sans Mono CJK TC"/>
                <a:ea typeface="Noto Sans Mono CJK TC"/>
              </a:rPr>
              <a:t>     # 預設 compact 模式不會列出這 6 個細分指標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BBF24"/>
                </a:solidFill>
                <a:latin typeface="Noto Sans CJK TC"/>
                <a:ea typeface="Noto Sans CJK TC"/>
              </a:rPr>
              <a:t>驗證：</a:t>
            </a:r>
            <a:r>
              <a:rPr sz="1400" b="0">
                <a:solidFill>
                  <a:srgbClr val="E2E8F0"/>
                </a:solidFill>
                <a:latin typeface="Noto Sans CJK TC"/>
                <a:ea typeface="Noto Sans CJK TC"/>
              </a:rPr>
              <a:t>sending + waiting + receiving 三個 avg 相加，剛好等於 http_req_duration 的 avg；Web Dashboard 的 Timings 分頁可看隨時間變化</a:t>
            </a:r>
          </a:p>
        </p:txBody>
      </p:sp>
      <p:sp>
        <p:nvSpPr>
          <p:cNvPr id="3" name="Codelabs_Link_Badge">
            <a:hlinkClick r:id="rId3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1E293B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2563EB"/>
                </a:solidFill>
                <a:latin typeface="Noto Sans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