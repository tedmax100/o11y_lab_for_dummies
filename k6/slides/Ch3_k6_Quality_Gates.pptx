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9144000" cx="16256000"/>
  <p:notesSz cx="6858000" cy="9144000"/>
  <p:embeddedFontLst>
    <p:embeddedFont>
      <p:font typeface="Noto Sans Mono"/>
      <p:regular r:id="rId19"/>
      <p:bold r:id="rId20"/>
    </p:embeddedFont>
    <p:embeddedFont>
      <p:font typeface="Noto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5" roundtripDataSignature="AMtx7mifxcmktc56UnKfWlyGHqqy0KCFE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AF7008-8884-462E-AD7F-BDAC13E9D6C0}">
  <a:tblStyle styleId="{94AF7008-8884-462E-AD7F-BDAC13E9D6C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otoSansMono-bold.fntdata"/><Relationship Id="rId22" Type="http://schemas.openxmlformats.org/officeDocument/2006/relationships/font" Target="fonts/NotoSans-bold.fntdata"/><Relationship Id="rId21" Type="http://schemas.openxmlformats.org/officeDocument/2006/relationships/font" Target="fonts/NotoSans-regular.fntdata"/><Relationship Id="rId24" Type="http://schemas.openxmlformats.org/officeDocument/2006/relationships/font" Target="fonts/NotoSans-boldItalic.fntdata"/><Relationship Id="rId23" Type="http://schemas.openxmlformats.org/officeDocument/2006/relationships/font" Target="fonts/NotoSans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NotoSansMono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6" name="Google Shape;256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結尾摘要 5 步驟：① THRESHOLDS 判決 ② checks 正確性 ③ HTTP 分佈形狀 ④ EXECUTION 壓測有效性 ⑤ NETWORK 頻寬。範例：P95 違規、8 倍長尾、dropped_iterations=37、vus 碰到 vus_max → 後端在約 50 RPS 飽和。</a:t>
            </a:r>
            <a:endParaRPr/>
          </a:p>
        </p:txBody>
      </p:sp>
      <p:sp>
        <p:nvSpPr>
          <p:cNvPr id="257" name="Google Shape;257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3" name="Google Shape;283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官方定義 http_req_duration = sending + waiting + receiving。blocked、connecting、tls_handshaking 發生在請求送出前，只會拉長 iteration_duration。waiting 飆高是最常見的後端瓶頸，receiving 飆高代表 Payload 過大。</a:t>
            </a:r>
            <a:endParaRPr/>
          </a:p>
        </p:txBody>
      </p:sp>
      <p:sp>
        <p:nvSpPr>
          <p:cNvPr id="284" name="Google Shape;284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42325" y="0"/>
            <a:ext cx="7513674" cy="6250781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826976" y="1309687"/>
            <a:ext cx="7797209" cy="2976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讓數據說話：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從指標解讀到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CI/CD 效能品質防線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850604" y="4524375"/>
            <a:ext cx="7797209" cy="1071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Module 3：效能指標解讀與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SLO 門檻自動化（22～25 分鐘）</a:t>
            </a:r>
            <a:endParaRPr/>
          </a:p>
        </p:txBody>
      </p:sp>
      <p:sp>
        <p:nvSpPr>
          <p:cNvPr id="88" name="Google Shape;88;p1"/>
          <p:cNvSpPr/>
          <p:nvPr/>
        </p:nvSpPr>
        <p:spPr>
          <a:xfrm>
            <a:off x="708837" y="6667500"/>
            <a:ext cx="4784651" cy="1785937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992372" y="6881812"/>
            <a:ext cx="4253023" cy="1381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8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觀測力 Observe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39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讀懂 k6 結尾摘要、RED Method 與延遲拆解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5729767" y="6667500"/>
            <a:ext cx="4784651" cy="1785937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6013302" y="6881812"/>
            <a:ext cx="4253023" cy="1381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8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攔截規則 Define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39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擺脫平均值陷阱，自訂指標與 p95 / p99 門檻</a:t>
            </a:r>
            <a:endParaRPr/>
          </a:p>
        </p:txBody>
      </p:sp>
      <p:sp>
        <p:nvSpPr>
          <p:cNvPr id="92" name="Google Shape;92;p1"/>
          <p:cNvSpPr/>
          <p:nvPr/>
        </p:nvSpPr>
        <p:spPr>
          <a:xfrm>
            <a:off x="10750697" y="6667500"/>
            <a:ext cx="4784651" cy="1785937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1034232" y="6881812"/>
            <a:ext cx="4253023" cy="1381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80" u="none" cap="none" strike="noStrike">
                <a:solidFill>
                  <a:srgbClr val="6D28D9"/>
                </a:solidFill>
                <a:latin typeface="Noto Sans"/>
                <a:ea typeface="Noto Sans"/>
                <a:cs typeface="Noto Sans"/>
                <a:sym typeface="Noto Sans"/>
              </a:rPr>
              <a:t>自動化機關 Automate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39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Thresholds 觸發 Exit Code 99，守住 CI/CD</a:t>
            </a:r>
            <a:endParaRPr/>
          </a:p>
        </p:txBody>
      </p:sp>
      <p:sp>
        <p:nvSpPr>
          <p:cNvPr id="94" name="Google Shape;94;p1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一眼看穿系統健康度：k6 摘要與 RED Method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結尾摘要裡最重要的三行，剛好對應微服務的 RED Method：Rate、Errors、Duration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708837" y="1571625"/>
            <a:ext cx="8151627" cy="6667500"/>
          </a:xfrm>
          <a:prstGeom prst="roundRect">
            <a:avLst>
              <a:gd fmla="val 3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41750" lIns="259900" spcFirstLastPara="1" rIns="189000" wrap="square" tIns="1890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█ THRESHOLDS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http_req_duration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✓ 'p(95)&lt;500' p(95)=312.4ms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http_req_failed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✓ 'rate&lt;0.01' rate=0.20%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█ TOTAL RESULTS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2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http_req_duration: med=121ms p(95)=312ms</a:t>
            </a:r>
            <a:r>
              <a:rPr b="1" i="0" lang="en-US" sz="162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◀ Duration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http_req_failed..: 0.20%  6 out of 3000</a:t>
            </a:r>
            <a:r>
              <a:rPr b="1" i="0" lang="en-US" sz="1620" u="none" cap="none" strike="noStrike">
                <a:solidFill>
                  <a:srgbClr val="F8717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◀ Errors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http_reqs........: 3000   49.9/s</a:t>
            </a:r>
            <a:r>
              <a:rPr b="1" i="0" lang="en-US" sz="162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◀ Rate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2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EXECUTION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iterations.......: 3000   49.9/s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vus..............: 50     min=50 max=50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2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NETWORK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data_received....: 12 MB  200 kB/s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9144000" y="1571625"/>
            <a:ext cx="6403162" cy="180975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9403906" y="1690687"/>
            <a:ext cx="5906976" cy="157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6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Rate（吞吐量）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http_reqs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每秒發出多少請求（RPS），衡量系統承載的流量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9144000" y="3500437"/>
            <a:ext cx="6403162" cy="180975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9403906" y="3619500"/>
            <a:ext cx="5906976" cy="157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60" u="none" cap="none" strike="noStrike">
                <a:solidFill>
                  <a:srgbClr val="DC2626"/>
                </a:solidFill>
                <a:latin typeface="Noto Sans"/>
                <a:ea typeface="Noto Sans"/>
                <a:cs typeface="Noto Sans"/>
                <a:sym typeface="Noto Sans"/>
              </a:rPr>
              <a:t>Errors（錯誤率）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http_req_failed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非 2xx / 3xx 回應的比例，直接反映可用性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9144000" y="5429250"/>
            <a:ext cx="6403162" cy="180975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9403906" y="5548312"/>
            <a:ext cx="5906976" cy="157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6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Duration（延遲）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http_req_duration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送出請求到收完回應的耗時；看 p95 / p99，不看平均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9144000" y="7358062"/>
            <a:ext cx="6403162" cy="881062"/>
          </a:xfrm>
          <a:prstGeom prst="roundRect">
            <a:avLst>
              <a:gd fmla="val 12000" name="adj"/>
            </a:avLst>
          </a:prstGeom>
          <a:solidFill>
            <a:srgbClr val="EEF2FF"/>
          </a:solidFill>
          <a:ln cap="flat" cmpd="sng" w="127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0875" lIns="212650" spcFirstLastPara="1" rIns="212650" wrap="square" tIns="708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Saturation（飽和度）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看 vus 是否碰到 vus_max、有沒有 dropped_iterations；延遲慢在哪一段，見第 6 頁的延遲拆解</a:t>
            </a:r>
            <a:endParaRPr/>
          </a:p>
        </p:txBody>
      </p:sp>
      <p:sp>
        <p:nvSpPr>
          <p:cNvPr id="110" name="Google Shape;110;p2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擺脫平均值謊言：專注於 p95 / p99 尾端延遲</a:t>
            </a:r>
            <a:endParaRPr/>
          </a:p>
        </p:txBody>
      </p:sp>
      <p:sp>
        <p:nvSpPr>
          <p:cNvPr id="117" name="Google Shape;117;p3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平均值會把少數極慢的請求「攤平」——而那往往是正在結帳的使用者</a:t>
            </a:r>
            <a:endParaRPr/>
          </a:p>
        </p:txBody>
      </p:sp>
      <p:sp>
        <p:nvSpPr>
          <p:cNvPr id="118" name="Google Shape;118;p3"/>
          <p:cNvSpPr/>
          <p:nvPr/>
        </p:nvSpPr>
        <p:spPr>
          <a:xfrm>
            <a:off x="708837" y="1571625"/>
            <a:ext cx="5552558" cy="666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992372" y="1738312"/>
            <a:ext cx="5080000" cy="404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6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100 個請求</a:t>
            </a:r>
            <a:endParaRPr/>
          </a:p>
        </p:txBody>
      </p:sp>
      <p:sp>
        <p:nvSpPr>
          <p:cNvPr id="120" name="Google Shape;120;p3"/>
          <p:cNvSpPr/>
          <p:nvPr/>
        </p:nvSpPr>
        <p:spPr>
          <a:xfrm>
            <a:off x="1275906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1724837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2173767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2622697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3071627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3520558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3969488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4418418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4867348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5316279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1275906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1724837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2173767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2622697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3071627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3"/>
          <p:cNvSpPr/>
          <p:nvPr/>
        </p:nvSpPr>
        <p:spPr>
          <a:xfrm>
            <a:off x="3520558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/>
          <p:nvPr/>
        </p:nvSpPr>
        <p:spPr>
          <a:xfrm>
            <a:off x="3969488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/>
          <p:nvPr/>
        </p:nvSpPr>
        <p:spPr>
          <a:xfrm>
            <a:off x="4418418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3"/>
          <p:cNvSpPr/>
          <p:nvPr/>
        </p:nvSpPr>
        <p:spPr>
          <a:xfrm>
            <a:off x="4867348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5316279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1275906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1724837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2173767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2622697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3071627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520558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3969488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4418418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4867348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5316279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1275906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1724837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3"/>
          <p:cNvSpPr/>
          <p:nvPr/>
        </p:nvSpPr>
        <p:spPr>
          <a:xfrm>
            <a:off x="2173767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3"/>
          <p:cNvSpPr/>
          <p:nvPr/>
        </p:nvSpPr>
        <p:spPr>
          <a:xfrm>
            <a:off x="2622697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3"/>
          <p:cNvSpPr/>
          <p:nvPr/>
        </p:nvSpPr>
        <p:spPr>
          <a:xfrm>
            <a:off x="3071627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3"/>
          <p:cNvSpPr/>
          <p:nvPr/>
        </p:nvSpPr>
        <p:spPr>
          <a:xfrm>
            <a:off x="3520558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3"/>
          <p:cNvSpPr/>
          <p:nvPr/>
        </p:nvSpPr>
        <p:spPr>
          <a:xfrm>
            <a:off x="3969488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4418418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3"/>
          <p:cNvSpPr/>
          <p:nvPr/>
        </p:nvSpPr>
        <p:spPr>
          <a:xfrm>
            <a:off x="4867348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3"/>
          <p:cNvSpPr/>
          <p:nvPr/>
        </p:nvSpPr>
        <p:spPr>
          <a:xfrm>
            <a:off x="5316279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3"/>
          <p:cNvSpPr/>
          <p:nvPr/>
        </p:nvSpPr>
        <p:spPr>
          <a:xfrm>
            <a:off x="1275906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3"/>
          <p:cNvSpPr/>
          <p:nvPr/>
        </p:nvSpPr>
        <p:spPr>
          <a:xfrm>
            <a:off x="1724837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3"/>
          <p:cNvSpPr/>
          <p:nvPr/>
        </p:nvSpPr>
        <p:spPr>
          <a:xfrm>
            <a:off x="2173767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/>
          <p:nvPr/>
        </p:nvSpPr>
        <p:spPr>
          <a:xfrm>
            <a:off x="2622697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3"/>
          <p:cNvSpPr/>
          <p:nvPr/>
        </p:nvSpPr>
        <p:spPr>
          <a:xfrm>
            <a:off x="3071627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3520558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3"/>
          <p:cNvSpPr/>
          <p:nvPr/>
        </p:nvSpPr>
        <p:spPr>
          <a:xfrm>
            <a:off x="3969488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3"/>
          <p:cNvSpPr/>
          <p:nvPr/>
        </p:nvSpPr>
        <p:spPr>
          <a:xfrm>
            <a:off x="4418418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3"/>
          <p:cNvSpPr/>
          <p:nvPr/>
        </p:nvSpPr>
        <p:spPr>
          <a:xfrm>
            <a:off x="4867348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3"/>
          <p:cNvSpPr/>
          <p:nvPr/>
        </p:nvSpPr>
        <p:spPr>
          <a:xfrm>
            <a:off x="5316279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3"/>
          <p:cNvSpPr/>
          <p:nvPr/>
        </p:nvSpPr>
        <p:spPr>
          <a:xfrm>
            <a:off x="1275906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3"/>
          <p:cNvSpPr/>
          <p:nvPr/>
        </p:nvSpPr>
        <p:spPr>
          <a:xfrm>
            <a:off x="1724837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3"/>
          <p:cNvSpPr/>
          <p:nvPr/>
        </p:nvSpPr>
        <p:spPr>
          <a:xfrm>
            <a:off x="2173767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3"/>
          <p:cNvSpPr/>
          <p:nvPr/>
        </p:nvSpPr>
        <p:spPr>
          <a:xfrm>
            <a:off x="2622697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3"/>
          <p:cNvSpPr/>
          <p:nvPr/>
        </p:nvSpPr>
        <p:spPr>
          <a:xfrm>
            <a:off x="3071627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3"/>
          <p:cNvSpPr/>
          <p:nvPr/>
        </p:nvSpPr>
        <p:spPr>
          <a:xfrm>
            <a:off x="3520558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3"/>
          <p:cNvSpPr/>
          <p:nvPr/>
        </p:nvSpPr>
        <p:spPr>
          <a:xfrm>
            <a:off x="3969488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3"/>
          <p:cNvSpPr/>
          <p:nvPr/>
        </p:nvSpPr>
        <p:spPr>
          <a:xfrm>
            <a:off x="4418418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3"/>
          <p:cNvSpPr/>
          <p:nvPr/>
        </p:nvSpPr>
        <p:spPr>
          <a:xfrm>
            <a:off x="4867348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3"/>
          <p:cNvSpPr/>
          <p:nvPr/>
        </p:nvSpPr>
        <p:spPr>
          <a:xfrm>
            <a:off x="5316279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3"/>
          <p:cNvSpPr/>
          <p:nvPr/>
        </p:nvSpPr>
        <p:spPr>
          <a:xfrm>
            <a:off x="1275906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3"/>
          <p:cNvSpPr/>
          <p:nvPr/>
        </p:nvSpPr>
        <p:spPr>
          <a:xfrm>
            <a:off x="1724837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3"/>
          <p:cNvSpPr/>
          <p:nvPr/>
        </p:nvSpPr>
        <p:spPr>
          <a:xfrm>
            <a:off x="2173767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3"/>
          <p:cNvSpPr/>
          <p:nvPr/>
        </p:nvSpPr>
        <p:spPr>
          <a:xfrm>
            <a:off x="2622697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3"/>
          <p:cNvSpPr/>
          <p:nvPr/>
        </p:nvSpPr>
        <p:spPr>
          <a:xfrm>
            <a:off x="3071627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3"/>
          <p:cNvSpPr/>
          <p:nvPr/>
        </p:nvSpPr>
        <p:spPr>
          <a:xfrm>
            <a:off x="3520558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3"/>
          <p:cNvSpPr/>
          <p:nvPr/>
        </p:nvSpPr>
        <p:spPr>
          <a:xfrm>
            <a:off x="3969488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3"/>
          <p:cNvSpPr/>
          <p:nvPr/>
        </p:nvSpPr>
        <p:spPr>
          <a:xfrm>
            <a:off x="4418418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3"/>
          <p:cNvSpPr/>
          <p:nvPr/>
        </p:nvSpPr>
        <p:spPr>
          <a:xfrm>
            <a:off x="4867348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3"/>
          <p:cNvSpPr/>
          <p:nvPr/>
        </p:nvSpPr>
        <p:spPr>
          <a:xfrm>
            <a:off x="5316279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3"/>
          <p:cNvSpPr/>
          <p:nvPr/>
        </p:nvSpPr>
        <p:spPr>
          <a:xfrm>
            <a:off x="1275906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3"/>
          <p:cNvSpPr/>
          <p:nvPr/>
        </p:nvSpPr>
        <p:spPr>
          <a:xfrm>
            <a:off x="1724837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3"/>
          <p:cNvSpPr/>
          <p:nvPr/>
        </p:nvSpPr>
        <p:spPr>
          <a:xfrm>
            <a:off x="2173767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3"/>
          <p:cNvSpPr/>
          <p:nvPr/>
        </p:nvSpPr>
        <p:spPr>
          <a:xfrm>
            <a:off x="2622697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3"/>
          <p:cNvSpPr/>
          <p:nvPr/>
        </p:nvSpPr>
        <p:spPr>
          <a:xfrm>
            <a:off x="3071627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"/>
          <p:cNvSpPr/>
          <p:nvPr/>
        </p:nvSpPr>
        <p:spPr>
          <a:xfrm>
            <a:off x="3520558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"/>
          <p:cNvSpPr/>
          <p:nvPr/>
        </p:nvSpPr>
        <p:spPr>
          <a:xfrm>
            <a:off x="3969488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3"/>
          <p:cNvSpPr/>
          <p:nvPr/>
        </p:nvSpPr>
        <p:spPr>
          <a:xfrm>
            <a:off x="4418418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3"/>
          <p:cNvSpPr/>
          <p:nvPr/>
        </p:nvSpPr>
        <p:spPr>
          <a:xfrm>
            <a:off x="4867348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3"/>
          <p:cNvSpPr/>
          <p:nvPr/>
        </p:nvSpPr>
        <p:spPr>
          <a:xfrm>
            <a:off x="5316279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>
            <a:off x="1275906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724837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3"/>
          <p:cNvSpPr/>
          <p:nvPr/>
        </p:nvSpPr>
        <p:spPr>
          <a:xfrm>
            <a:off x="2173767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3"/>
          <p:cNvSpPr/>
          <p:nvPr/>
        </p:nvSpPr>
        <p:spPr>
          <a:xfrm>
            <a:off x="2622697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3"/>
          <p:cNvSpPr/>
          <p:nvPr/>
        </p:nvSpPr>
        <p:spPr>
          <a:xfrm>
            <a:off x="3071627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"/>
          <p:cNvSpPr/>
          <p:nvPr/>
        </p:nvSpPr>
        <p:spPr>
          <a:xfrm>
            <a:off x="3520558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"/>
          <p:cNvSpPr/>
          <p:nvPr/>
        </p:nvSpPr>
        <p:spPr>
          <a:xfrm>
            <a:off x="3969488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"/>
          <p:cNvSpPr/>
          <p:nvPr/>
        </p:nvSpPr>
        <p:spPr>
          <a:xfrm>
            <a:off x="4418418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"/>
          <p:cNvSpPr/>
          <p:nvPr/>
        </p:nvSpPr>
        <p:spPr>
          <a:xfrm>
            <a:off x="4867348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"/>
          <p:cNvSpPr/>
          <p:nvPr/>
        </p:nvSpPr>
        <p:spPr>
          <a:xfrm>
            <a:off x="5316279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3"/>
          <p:cNvSpPr/>
          <p:nvPr/>
        </p:nvSpPr>
        <p:spPr>
          <a:xfrm>
            <a:off x="1275906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3"/>
          <p:cNvSpPr/>
          <p:nvPr/>
        </p:nvSpPr>
        <p:spPr>
          <a:xfrm>
            <a:off x="1724837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3"/>
          <p:cNvSpPr/>
          <p:nvPr/>
        </p:nvSpPr>
        <p:spPr>
          <a:xfrm>
            <a:off x="2173767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3"/>
          <p:cNvSpPr/>
          <p:nvPr/>
        </p:nvSpPr>
        <p:spPr>
          <a:xfrm>
            <a:off x="2622697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"/>
          <p:cNvSpPr/>
          <p:nvPr/>
        </p:nvSpPr>
        <p:spPr>
          <a:xfrm>
            <a:off x="3071627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"/>
          <p:cNvSpPr/>
          <p:nvPr/>
        </p:nvSpPr>
        <p:spPr>
          <a:xfrm>
            <a:off x="3520558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"/>
          <p:cNvSpPr/>
          <p:nvPr/>
        </p:nvSpPr>
        <p:spPr>
          <a:xfrm>
            <a:off x="3969488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3"/>
          <p:cNvSpPr/>
          <p:nvPr/>
        </p:nvSpPr>
        <p:spPr>
          <a:xfrm>
            <a:off x="4418418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3"/>
          <p:cNvSpPr/>
          <p:nvPr/>
        </p:nvSpPr>
        <p:spPr>
          <a:xfrm>
            <a:off x="4867348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3"/>
          <p:cNvSpPr/>
          <p:nvPr/>
        </p:nvSpPr>
        <p:spPr>
          <a:xfrm>
            <a:off x="5316279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DC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3"/>
          <p:cNvSpPr txBox="1"/>
          <p:nvPr/>
        </p:nvSpPr>
        <p:spPr>
          <a:xfrm>
            <a:off x="992372" y="6953250"/>
            <a:ext cx="5080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94A3B8"/>
                </a:solidFill>
                <a:latin typeface="Noto Sans"/>
                <a:ea typeface="Noto Sans"/>
                <a:cs typeface="Noto Sans"/>
                <a:sym typeface="Noto Sans"/>
              </a:rPr>
              <a:t>■ </a:t>
            </a:r>
            <a:r>
              <a:rPr b="0" i="0" lang="en-US" sz="1739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99 個請求：10ms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DC2626"/>
                </a:solidFill>
                <a:latin typeface="Noto Sans"/>
                <a:ea typeface="Noto Sans"/>
                <a:cs typeface="Noto Sans"/>
                <a:sym typeface="Noto Sans"/>
              </a:rPr>
              <a:t>■ </a:t>
            </a:r>
            <a:r>
              <a:rPr b="0" i="0" lang="en-US" sz="1739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1 個請求：10,000ms（資料庫鎖卡住的結帳）</a:t>
            </a:r>
            <a:endParaRPr/>
          </a:p>
        </p:txBody>
      </p:sp>
      <p:sp>
        <p:nvSpPr>
          <p:cNvPr id="221" name="Google Shape;221;p3"/>
          <p:cNvSpPr/>
          <p:nvPr/>
        </p:nvSpPr>
        <p:spPr>
          <a:xfrm>
            <a:off x="6544930" y="1571625"/>
            <a:ext cx="4382976" cy="2333625"/>
          </a:xfrm>
          <a:prstGeom prst="roundRect">
            <a:avLst>
              <a:gd fmla="val 8000" name="adj"/>
            </a:avLst>
          </a:prstGeom>
          <a:solidFill>
            <a:srgbClr val="EEF2FF"/>
          </a:solidFill>
          <a:ln cap="flat" cmpd="sng" w="127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3"/>
          <p:cNvSpPr txBox="1"/>
          <p:nvPr/>
        </p:nvSpPr>
        <p:spPr>
          <a:xfrm>
            <a:off x="6804837" y="1738312"/>
            <a:ext cx="3863162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平均值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109.9 ms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(99 × 10 + 10,000) ÷ 100——看起來很快</a:t>
            </a:r>
            <a:endParaRPr/>
          </a:p>
        </p:txBody>
      </p:sp>
      <p:sp>
        <p:nvSpPr>
          <p:cNvPr id="223" name="Google Shape;223;p3"/>
          <p:cNvSpPr/>
          <p:nvPr/>
        </p:nvSpPr>
        <p:spPr>
          <a:xfrm>
            <a:off x="11164186" y="1571625"/>
            <a:ext cx="4382976" cy="2333625"/>
          </a:xfrm>
          <a:prstGeom prst="roundRect">
            <a:avLst>
              <a:gd fmla="val 8000" name="adj"/>
            </a:avLst>
          </a:prstGeom>
          <a:solidFill>
            <a:srgbClr val="FEF2F2"/>
          </a:solidFill>
          <a:ln cap="flat" cmpd="sng" w="12700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"/>
          <p:cNvSpPr txBox="1"/>
          <p:nvPr/>
        </p:nvSpPr>
        <p:spPr>
          <a:xfrm>
            <a:off x="11424093" y="1738312"/>
            <a:ext cx="3863162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C2626"/>
                </a:solidFill>
                <a:latin typeface="Noto Sans"/>
                <a:ea typeface="Noto Sans"/>
                <a:cs typeface="Noto Sans"/>
                <a:sym typeface="Noto Sans"/>
              </a:rPr>
              <a:t>最慢的那 1 個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10,000 ms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平均值完全看不出來，只有看尾端才抓得到</a:t>
            </a:r>
            <a:endParaRPr/>
          </a:p>
        </p:txBody>
      </p:sp>
      <p:sp>
        <p:nvSpPr>
          <p:cNvPr id="225" name="Google Shape;225;p3"/>
          <p:cNvSpPr/>
          <p:nvPr/>
        </p:nvSpPr>
        <p:spPr>
          <a:xfrm>
            <a:off x="6544930" y="4095750"/>
            <a:ext cx="9002232" cy="4143375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"/>
          <p:cNvSpPr txBox="1"/>
          <p:nvPr/>
        </p:nvSpPr>
        <p:spPr>
          <a:xfrm>
            <a:off x="6828465" y="4333875"/>
            <a:ext cx="8458790" cy="3714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i="0" lang="en-US" sz="192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平均值會掩蓋極端值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8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  少數極慢的請求被多數快請求攤平，報表上看不到真實痛點。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i="0" lang="en-US" sz="192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p(95)：常用的發版門檻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8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  95% 的請求都要在門檻內，允許少量突波但不失控。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i="0" lang="en-US" sz="192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p(99)：尾端延遲的防線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8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  捕捉 GC 停頓、DB Lock、連線排隊這類只影響少數請求的問題。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i="0" lang="en-US" sz="192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微服務會放大尾端延遲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8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  一個頁面呼叫 10 個服務、每個有 1% 變慢，就有 1 − 0.99¹⁰ ≈ 9.6% 的頁面會卡。</a:t>
            </a:r>
            <a:endParaRPr/>
          </a:p>
        </p:txBody>
      </p:sp>
      <p:sp>
        <p:nvSpPr>
          <p:cNvPr id="227" name="Google Shape;227;p3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4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k6 內建核心指標全覽 (Built-in Metrics)</a:t>
            </a:r>
            <a:endParaRPr/>
          </a:p>
        </p:txBody>
      </p:sp>
      <p:sp>
        <p:nvSpPr>
          <p:cNvPr id="234" name="Google Shape;234;p4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不用寫任何程式，每次測試結束都會自動輸出，也是設定 Thresholds 的主要標的</a:t>
            </a:r>
            <a:endParaRPr/>
          </a:p>
        </p:txBody>
      </p:sp>
      <p:sp>
        <p:nvSpPr>
          <p:cNvPr id="235" name="Google Shape;235;p4"/>
          <p:cNvSpPr/>
          <p:nvPr/>
        </p:nvSpPr>
        <p:spPr>
          <a:xfrm>
            <a:off x="708837" y="1571625"/>
            <a:ext cx="4772837" cy="5595937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4"/>
          <p:cNvSpPr txBox="1"/>
          <p:nvPr/>
        </p:nvSpPr>
        <p:spPr>
          <a:xfrm>
            <a:off x="992372" y="1762125"/>
            <a:ext cx="4205767" cy="8334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4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HTTP 狀態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6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HTTP Category</a:t>
            </a:r>
            <a:endParaRPr/>
          </a:p>
        </p:txBody>
      </p:sp>
      <p:cxnSp>
        <p:nvCxnSpPr>
          <p:cNvPr id="237" name="Google Shape;237;p4"/>
          <p:cNvCxnSpPr/>
          <p:nvPr/>
        </p:nvCxnSpPr>
        <p:spPr>
          <a:xfrm>
            <a:off x="992372" y="2738437"/>
            <a:ext cx="4205767" cy="0"/>
          </a:xfrm>
          <a:prstGeom prst="straightConnector1">
            <a:avLst/>
          </a:prstGeom>
          <a:noFill/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38" name="Google Shape;238;p4"/>
          <p:cNvSpPr txBox="1"/>
          <p:nvPr/>
        </p:nvSpPr>
        <p:spPr>
          <a:xfrm>
            <a:off x="992372" y="29765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http_reqs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總請求數與 RPS（RED：Rate）</a:t>
            </a:r>
            <a:endParaRPr/>
          </a:p>
        </p:txBody>
      </p:sp>
      <p:sp>
        <p:nvSpPr>
          <p:cNvPr id="239" name="Google Shape;239;p4"/>
          <p:cNvSpPr txBox="1"/>
          <p:nvPr/>
        </p:nvSpPr>
        <p:spPr>
          <a:xfrm>
            <a:off x="992372" y="43100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http_req_failed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失敗率（RED：Errors）</a:t>
            </a:r>
            <a:endParaRPr/>
          </a:p>
        </p:txBody>
      </p:sp>
      <p:sp>
        <p:nvSpPr>
          <p:cNvPr id="240" name="Google Shape;240;p4"/>
          <p:cNvSpPr txBox="1"/>
          <p:nvPr/>
        </p:nvSpPr>
        <p:spPr>
          <a:xfrm>
            <a:off x="992372" y="56435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http_req_duration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請求耗時（RED：Duration）</a:t>
            </a:r>
            <a:endParaRPr/>
          </a:p>
        </p:txBody>
      </p:sp>
      <p:sp>
        <p:nvSpPr>
          <p:cNvPr id="241" name="Google Shape;241;p4"/>
          <p:cNvSpPr/>
          <p:nvPr/>
        </p:nvSpPr>
        <p:spPr>
          <a:xfrm>
            <a:off x="5741581" y="1571625"/>
            <a:ext cx="4772837" cy="5595937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4"/>
          <p:cNvSpPr txBox="1"/>
          <p:nvPr/>
        </p:nvSpPr>
        <p:spPr>
          <a:xfrm>
            <a:off x="6025116" y="1762125"/>
            <a:ext cx="4205767" cy="8334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40" u="none" cap="none" strike="noStrike">
                <a:solidFill>
                  <a:srgbClr val="0F766E"/>
                </a:solidFill>
                <a:latin typeface="Noto Sans"/>
                <a:ea typeface="Noto Sans"/>
                <a:cs typeface="Noto Sans"/>
                <a:sym typeface="Noto Sans"/>
              </a:rPr>
              <a:t>流量與網路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6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Network Category</a:t>
            </a:r>
            <a:endParaRPr/>
          </a:p>
        </p:txBody>
      </p:sp>
      <p:cxnSp>
        <p:nvCxnSpPr>
          <p:cNvPr id="243" name="Google Shape;243;p4"/>
          <p:cNvCxnSpPr/>
          <p:nvPr/>
        </p:nvCxnSpPr>
        <p:spPr>
          <a:xfrm>
            <a:off x="6025116" y="2738437"/>
            <a:ext cx="4205767" cy="0"/>
          </a:xfrm>
          <a:prstGeom prst="straightConnector1">
            <a:avLst/>
          </a:prstGeom>
          <a:noFill/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44" name="Google Shape;244;p4"/>
          <p:cNvSpPr txBox="1"/>
          <p:nvPr/>
        </p:nvSpPr>
        <p:spPr>
          <a:xfrm>
            <a:off x="6025116" y="29765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data_sent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送出的資料量</a:t>
            </a:r>
            <a:endParaRPr/>
          </a:p>
        </p:txBody>
      </p:sp>
      <p:sp>
        <p:nvSpPr>
          <p:cNvPr id="245" name="Google Shape;245;p4"/>
          <p:cNvSpPr txBox="1"/>
          <p:nvPr/>
        </p:nvSpPr>
        <p:spPr>
          <a:xfrm>
            <a:off x="6025116" y="43100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data_received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收到的資料量：回應是否太肥、網卡是否快滿</a:t>
            </a:r>
            <a:endParaRPr/>
          </a:p>
        </p:txBody>
      </p:sp>
      <p:sp>
        <p:nvSpPr>
          <p:cNvPr id="246" name="Google Shape;246;p4"/>
          <p:cNvSpPr/>
          <p:nvPr/>
        </p:nvSpPr>
        <p:spPr>
          <a:xfrm>
            <a:off x="10774325" y="1571625"/>
            <a:ext cx="4772837" cy="5595937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4"/>
          <p:cNvSpPr txBox="1"/>
          <p:nvPr/>
        </p:nvSpPr>
        <p:spPr>
          <a:xfrm>
            <a:off x="11057860" y="1762125"/>
            <a:ext cx="4205767" cy="8334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40" u="none" cap="none" strike="noStrike">
                <a:solidFill>
                  <a:srgbClr val="6D28D9"/>
                </a:solidFill>
                <a:latin typeface="Noto Sans"/>
                <a:ea typeface="Noto Sans"/>
                <a:cs typeface="Noto Sans"/>
                <a:sym typeface="Noto Sans"/>
              </a:rPr>
              <a:t>執行進度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6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Execution Category</a:t>
            </a:r>
            <a:endParaRPr/>
          </a:p>
        </p:txBody>
      </p:sp>
      <p:cxnSp>
        <p:nvCxnSpPr>
          <p:cNvPr id="248" name="Google Shape;248;p4"/>
          <p:cNvCxnSpPr/>
          <p:nvPr/>
        </p:nvCxnSpPr>
        <p:spPr>
          <a:xfrm>
            <a:off x="11057860" y="2738437"/>
            <a:ext cx="4205767" cy="0"/>
          </a:xfrm>
          <a:prstGeom prst="straightConnector1">
            <a:avLst/>
          </a:prstGeom>
          <a:noFill/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49" name="Google Shape;249;p4"/>
          <p:cNvSpPr txBox="1"/>
          <p:nvPr/>
        </p:nvSpPr>
        <p:spPr>
          <a:xfrm>
            <a:off x="11057860" y="29765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vus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當下的虛擬用戶數</a:t>
            </a:r>
            <a:endParaRPr/>
          </a:p>
        </p:txBody>
      </p:sp>
      <p:sp>
        <p:nvSpPr>
          <p:cNvPr id="250" name="Google Shape;250;p4"/>
          <p:cNvSpPr txBox="1"/>
          <p:nvPr/>
        </p:nvSpPr>
        <p:spPr>
          <a:xfrm>
            <a:off x="11057860" y="43100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vus_max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虛擬用戶數上限</a:t>
            </a:r>
            <a:endParaRPr/>
          </a:p>
        </p:txBody>
      </p:sp>
      <p:sp>
        <p:nvSpPr>
          <p:cNvPr id="251" name="Google Shape;251;p4"/>
          <p:cNvSpPr txBox="1"/>
          <p:nvPr/>
        </p:nvSpPr>
        <p:spPr>
          <a:xfrm>
            <a:off x="11057860" y="56435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iterations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完整跑完腳本的次數</a:t>
            </a:r>
            <a:endParaRPr/>
          </a:p>
        </p:txBody>
      </p:sp>
      <p:sp>
        <p:nvSpPr>
          <p:cNvPr id="252" name="Google Shape;252;p4"/>
          <p:cNvSpPr/>
          <p:nvPr/>
        </p:nvSpPr>
        <p:spPr>
          <a:xfrm>
            <a:off x="708837" y="7405687"/>
            <a:ext cx="14838325" cy="904875"/>
          </a:xfrm>
          <a:prstGeom prst="roundRect">
            <a:avLst>
              <a:gd fmla="val 20000" name="adj"/>
            </a:avLst>
          </a:prstGeom>
          <a:solidFill>
            <a:srgbClr val="EEF2FF"/>
          </a:solidFill>
          <a:ln cap="flat" cmpd="sng" w="127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HTTP 三兄弟直接對應 RED；執行進度這一類回答的是「這次壓測本身有沒有照計畫執行」</a:t>
            </a:r>
            <a:endParaRPr/>
          </a:p>
        </p:txBody>
      </p:sp>
      <p:sp>
        <p:nvSpPr>
          <p:cNvPr id="253" name="Google Shape;253;p4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5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5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看懂 k6 結尾摘要：5 步驟判讀 SOP</a:t>
            </a:r>
            <a:endParaRPr/>
          </a:p>
        </p:txBody>
      </p:sp>
      <p:sp>
        <p:nvSpPr>
          <p:cNvPr id="261" name="Google Shape;261;p5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不要從第一行讀到最後一行，要帶著問題、依固定順序讀（範例：constant-arrival-rate 目標 50 RPS × 60 秒）</a:t>
            </a:r>
            <a:endParaRPr/>
          </a:p>
        </p:txBody>
      </p:sp>
      <p:sp>
        <p:nvSpPr>
          <p:cNvPr id="262" name="Google Shape;262;p5"/>
          <p:cNvSpPr/>
          <p:nvPr/>
        </p:nvSpPr>
        <p:spPr>
          <a:xfrm>
            <a:off x="708837" y="1571625"/>
            <a:ext cx="7560930" cy="6310312"/>
          </a:xfrm>
          <a:prstGeom prst="roundRect">
            <a:avLst>
              <a:gd fmla="val 3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41750" lIns="283525" spcFirstLastPara="1" rIns="189000" wrap="square" tIns="1417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█ THRESHOLDS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http_req_duration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8717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✗ 'p(95)&lt;500' p(95)=812.4ms</a:t>
            </a:r>
            <a:r>
              <a:rPr b="1" i="0" lang="en-US" sz="16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◀①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http_req_failed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✓ 'rate&lt;0.01' rate=0.84%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█ TOTAL RESULTS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checks_succeeded: 99.58% 5895/5920</a:t>
            </a:r>
            <a:r>
              <a:rPr b="1" i="0" lang="en-US" sz="16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◀②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8717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✗ status is 200  ↳ ✓ 2935 / ✗ 25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http_req_duration: med=98ms</a:t>
            </a:r>
            <a:r>
              <a:rPr b="1" i="0" lang="en-US" sz="16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◀③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avg=231ms p(95)=812ms max=4.21s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http_req_failed..: 0.84% 25/2960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http_reqs........: 2960  49.3/s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EXECUTION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8717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dropped_iterations: 37</a:t>
            </a:r>
            <a:r>
              <a:rPr b="1" i="0" lang="en-US" sz="16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◀④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vus..............: min=1 max=60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vus_max..........: 60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NETWORK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data_received....: 38 MB 630 kB/s</a:t>
            </a:r>
            <a:r>
              <a:rPr b="1" i="0" lang="en-US" sz="16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◀⑤</a:t>
            </a:r>
            <a:endParaRPr sz="1600"/>
          </a:p>
        </p:txBody>
      </p:sp>
      <p:sp>
        <p:nvSpPr>
          <p:cNvPr id="263" name="Google Shape;263;p5"/>
          <p:cNvSpPr/>
          <p:nvPr/>
        </p:nvSpPr>
        <p:spPr>
          <a:xfrm>
            <a:off x="8553302" y="1571625"/>
            <a:ext cx="6993860" cy="11430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5"/>
          <p:cNvSpPr/>
          <p:nvPr/>
        </p:nvSpPr>
        <p:spPr>
          <a:xfrm>
            <a:off x="8742325" y="1881187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①</a:t>
            </a:r>
            <a:endParaRPr/>
          </a:p>
        </p:txBody>
      </p:sp>
      <p:sp>
        <p:nvSpPr>
          <p:cNvPr id="265" name="Google Shape;265;p5"/>
          <p:cNvSpPr txBox="1"/>
          <p:nvPr/>
        </p:nvSpPr>
        <p:spPr>
          <a:xfrm>
            <a:off x="9451162" y="1666875"/>
            <a:ext cx="5954232" cy="976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THRESHOLDS：判決書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過關了沒？只要一個 ✗ → Exit Code 99。先記下違規的指標與統計量。</a:t>
            </a:r>
            <a:endParaRPr/>
          </a:p>
        </p:txBody>
      </p:sp>
      <p:sp>
        <p:nvSpPr>
          <p:cNvPr id="266" name="Google Shape;266;p5"/>
          <p:cNvSpPr/>
          <p:nvPr/>
        </p:nvSpPr>
        <p:spPr>
          <a:xfrm>
            <a:off x="8553302" y="2857500"/>
            <a:ext cx="6993860" cy="11430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5"/>
          <p:cNvSpPr/>
          <p:nvPr/>
        </p:nvSpPr>
        <p:spPr>
          <a:xfrm>
            <a:off x="8742325" y="3167062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②</a:t>
            </a:r>
            <a:endParaRPr/>
          </a:p>
        </p:txBody>
      </p:sp>
      <p:sp>
        <p:nvSpPr>
          <p:cNvPr id="268" name="Google Shape;268;p5"/>
          <p:cNvSpPr txBox="1"/>
          <p:nvPr/>
        </p:nvSpPr>
        <p:spPr>
          <a:xfrm>
            <a:off x="9451162" y="2952750"/>
            <a:ext cx="5954232" cy="976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checks：功能正確性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哪條斷言失敗？check 是軟斷言，不會擋 CI → 要加 checks 門檻。</a:t>
            </a:r>
            <a:endParaRPr/>
          </a:p>
        </p:txBody>
      </p:sp>
      <p:sp>
        <p:nvSpPr>
          <p:cNvPr id="269" name="Google Shape;269;p5"/>
          <p:cNvSpPr/>
          <p:nvPr/>
        </p:nvSpPr>
        <p:spPr>
          <a:xfrm>
            <a:off x="8553302" y="4143375"/>
            <a:ext cx="6993860" cy="11430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5"/>
          <p:cNvSpPr/>
          <p:nvPr/>
        </p:nvSpPr>
        <p:spPr>
          <a:xfrm>
            <a:off x="8742325" y="4452937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③</a:t>
            </a:r>
            <a:endParaRPr/>
          </a:p>
        </p:txBody>
      </p:sp>
      <p:sp>
        <p:nvSpPr>
          <p:cNvPr id="271" name="Google Shape;271;p5"/>
          <p:cNvSpPr txBox="1"/>
          <p:nvPr/>
        </p:nvSpPr>
        <p:spPr>
          <a:xfrm>
            <a:off x="9451162" y="4238625"/>
            <a:ext cx="5954232" cy="976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HTTP：分佈形狀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p(95) ÷ med &gt; 3 倍＝長尾；整體比 expected_response 還快＝錯誤在「快速失敗」。</a:t>
            </a:r>
            <a:endParaRPr/>
          </a:p>
        </p:txBody>
      </p:sp>
      <p:sp>
        <p:nvSpPr>
          <p:cNvPr id="272" name="Google Shape;272;p5"/>
          <p:cNvSpPr/>
          <p:nvPr/>
        </p:nvSpPr>
        <p:spPr>
          <a:xfrm>
            <a:off x="8553302" y="5429250"/>
            <a:ext cx="6993860" cy="11430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5"/>
          <p:cNvSpPr/>
          <p:nvPr/>
        </p:nvSpPr>
        <p:spPr>
          <a:xfrm>
            <a:off x="8742325" y="5738812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④</a:t>
            </a:r>
            <a:endParaRPr/>
          </a:p>
        </p:txBody>
      </p:sp>
      <p:sp>
        <p:nvSpPr>
          <p:cNvPr id="274" name="Google Shape;274;p5"/>
          <p:cNvSpPr txBox="1"/>
          <p:nvPr/>
        </p:nvSpPr>
        <p:spPr>
          <a:xfrm>
            <a:off x="9451162" y="5524500"/>
            <a:ext cx="5954232" cy="976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EXECUTION：壓測有效嗎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dropped_iterations &gt; 0 或 vus 碰到 vus_max → 目標流量沒打滿，結論作廢。</a:t>
            </a:r>
            <a:endParaRPr/>
          </a:p>
        </p:txBody>
      </p:sp>
      <p:sp>
        <p:nvSpPr>
          <p:cNvPr id="275" name="Google Shape;275;p5"/>
          <p:cNvSpPr/>
          <p:nvPr/>
        </p:nvSpPr>
        <p:spPr>
          <a:xfrm>
            <a:off x="8553302" y="6715125"/>
            <a:ext cx="6993860" cy="11430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5"/>
          <p:cNvSpPr/>
          <p:nvPr/>
        </p:nvSpPr>
        <p:spPr>
          <a:xfrm>
            <a:off x="8742325" y="7024687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⑤</a:t>
            </a:r>
            <a:endParaRPr/>
          </a:p>
        </p:txBody>
      </p:sp>
      <p:sp>
        <p:nvSpPr>
          <p:cNvPr id="277" name="Google Shape;277;p5"/>
          <p:cNvSpPr txBox="1"/>
          <p:nvPr/>
        </p:nvSpPr>
        <p:spPr>
          <a:xfrm>
            <a:off x="9451162" y="6810375"/>
            <a:ext cx="5954232" cy="976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NETWORK：頻寬與 Payload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data_received ÷ 請求數＝回應大小；逼近網卡上限＝瓶頸在壓測機。</a:t>
            </a:r>
            <a:endParaRPr/>
          </a:p>
        </p:txBody>
      </p:sp>
      <p:sp>
        <p:nvSpPr>
          <p:cNvPr id="278" name="Google Shape;278;p5"/>
          <p:cNvSpPr/>
          <p:nvPr/>
        </p:nvSpPr>
        <p:spPr>
          <a:xfrm>
            <a:off x="708837" y="8096250"/>
            <a:ext cx="14838325" cy="595312"/>
          </a:xfrm>
          <a:prstGeom prst="roundRect">
            <a:avLst>
              <a:gd fmla="val 20000" name="adj"/>
            </a:avLst>
          </a:prstGeom>
          <a:solidFill>
            <a:srgbClr val="EEF2FF"/>
          </a:solidFill>
          <a:ln cap="flat" cmpd="sng" w="127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36275" spcFirstLastPara="1" rIns="2362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本例結論  </a:t>
            </a:r>
            <a:r>
              <a:rPr b="0" i="0" lang="en-US" sz="13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P95 違規 ① ＋ med→p(95) 差 8 倍長尾 ③ ＋ 丟 37 次迭代、VU 池見底 ④ → 後端約 50 RPS 已飽和，下一步去儀表板找拐點</a:t>
            </a:r>
            <a:endParaRPr/>
          </a:p>
        </p:txBody>
      </p:sp>
      <p:sp>
        <p:nvSpPr>
          <p:cNvPr id="279" name="Google Shape;279;p5"/>
          <p:cNvSpPr txBox="1"/>
          <p:nvPr/>
        </p:nvSpPr>
        <p:spPr>
          <a:xfrm>
            <a:off x="0" y="0"/>
            <a:ext cx="1" cy="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5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6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6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延遲拆解：http_req_duration 只算後 3 段</a:t>
            </a:r>
            <a:endParaRPr/>
          </a:p>
        </p:txBody>
      </p:sp>
      <p:sp>
        <p:nvSpPr>
          <p:cNvPr id="288" name="Google Shape;288;p6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blocked / connecting / tls_handshaking 不計入 duration，只盯 duration 的話，連線層問題會完全隱形</a:t>
            </a:r>
            <a:endParaRPr/>
          </a:p>
        </p:txBody>
      </p:sp>
      <p:pic>
        <p:nvPicPr>
          <p:cNvPr descr="latency_timeline.png" id="289" name="Google Shape;28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8837" y="1500187"/>
            <a:ext cx="14838325" cy="219329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6"/>
          <p:cNvSpPr/>
          <p:nvPr/>
        </p:nvSpPr>
        <p:spPr>
          <a:xfrm>
            <a:off x="708837" y="3857625"/>
            <a:ext cx="3532372" cy="3167062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6"/>
          <p:cNvSpPr/>
          <p:nvPr/>
        </p:nvSpPr>
        <p:spPr>
          <a:xfrm>
            <a:off x="897860" y="4024312"/>
            <a:ext cx="2008372" cy="333375"/>
          </a:xfrm>
          <a:prstGeom prst="roundRect">
            <a:avLst>
              <a:gd fmla="val 50000" name="adj"/>
            </a:avLst>
          </a:prstGeom>
          <a:solidFill>
            <a:srgbClr val="F1F5F9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duration 看不到</a:t>
            </a:r>
            <a:endParaRPr/>
          </a:p>
        </p:txBody>
      </p:sp>
      <p:sp>
        <p:nvSpPr>
          <p:cNvPr id="292" name="Google Shape;292;p6"/>
          <p:cNvSpPr txBox="1"/>
          <p:nvPr/>
        </p:nvSpPr>
        <p:spPr>
          <a:xfrm>
            <a:off x="897860" y="4452937"/>
            <a:ext cx="31543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blocked ↑</a:t>
            </a:r>
            <a:endParaRPr/>
          </a:p>
        </p:txBody>
      </p:sp>
      <p:sp>
        <p:nvSpPr>
          <p:cNvPr id="293" name="Google Shape;293;p6"/>
          <p:cNvSpPr txBox="1"/>
          <p:nvPr/>
        </p:nvSpPr>
        <p:spPr>
          <a:xfrm>
            <a:off x="897860" y="5000625"/>
            <a:ext cx="3154325" cy="1952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可能病因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壓測機本機埠耗盡、DNS 慢、沒有連線複用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6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解法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調整 ip_local_port_range、確認 Keep-Alive</a:t>
            </a:r>
            <a:endParaRPr/>
          </a:p>
        </p:txBody>
      </p:sp>
      <p:sp>
        <p:nvSpPr>
          <p:cNvPr id="294" name="Google Shape;294;p6"/>
          <p:cNvSpPr/>
          <p:nvPr/>
        </p:nvSpPr>
        <p:spPr>
          <a:xfrm>
            <a:off x="4477488" y="3857625"/>
            <a:ext cx="3532372" cy="3167062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6"/>
          <p:cNvSpPr/>
          <p:nvPr/>
        </p:nvSpPr>
        <p:spPr>
          <a:xfrm>
            <a:off x="4666511" y="4024312"/>
            <a:ext cx="2008372" cy="333375"/>
          </a:xfrm>
          <a:prstGeom prst="roundRect">
            <a:avLst>
              <a:gd fmla="val 50000" name="adj"/>
            </a:avLst>
          </a:prstGeom>
          <a:solidFill>
            <a:srgbClr val="F1F5F9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duration 看不到</a:t>
            </a:r>
            <a:endParaRPr/>
          </a:p>
        </p:txBody>
      </p:sp>
      <p:sp>
        <p:nvSpPr>
          <p:cNvPr id="296" name="Google Shape;296;p6"/>
          <p:cNvSpPr txBox="1"/>
          <p:nvPr/>
        </p:nvSpPr>
        <p:spPr>
          <a:xfrm>
            <a:off x="4666511" y="4452937"/>
            <a:ext cx="31543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connecting / tls ↑</a:t>
            </a:r>
            <a:endParaRPr/>
          </a:p>
        </p:txBody>
      </p:sp>
      <p:sp>
        <p:nvSpPr>
          <p:cNvPr id="297" name="Google Shape;297;p6"/>
          <p:cNvSpPr txBox="1"/>
          <p:nvPr/>
        </p:nvSpPr>
        <p:spPr>
          <a:xfrm>
            <a:off x="4666511" y="5000625"/>
            <a:ext cx="3154325" cy="1952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可能病因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每次請求都重建連線；壓測機與受測端 RTT 過高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6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解法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啟用 Keep-Alive 與 TLS Session Resumption，壓測機靠近受測端</a:t>
            </a:r>
            <a:endParaRPr/>
          </a:p>
        </p:txBody>
      </p:sp>
      <p:sp>
        <p:nvSpPr>
          <p:cNvPr id="298" name="Google Shape;298;p6"/>
          <p:cNvSpPr/>
          <p:nvPr/>
        </p:nvSpPr>
        <p:spPr>
          <a:xfrm>
            <a:off x="8246139" y="3857625"/>
            <a:ext cx="3532372" cy="3167062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6"/>
          <p:cNvSpPr/>
          <p:nvPr/>
        </p:nvSpPr>
        <p:spPr>
          <a:xfrm>
            <a:off x="8435162" y="4024312"/>
            <a:ext cx="1772093" cy="33337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 cap="flat" cmpd="sng" w="127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推高 duration</a:t>
            </a:r>
            <a:endParaRPr/>
          </a:p>
        </p:txBody>
      </p:sp>
      <p:sp>
        <p:nvSpPr>
          <p:cNvPr id="300" name="Google Shape;300;p6"/>
          <p:cNvSpPr txBox="1"/>
          <p:nvPr/>
        </p:nvSpPr>
        <p:spPr>
          <a:xfrm>
            <a:off x="8435162" y="4452937"/>
            <a:ext cx="31543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waiting (TTFB) ↑</a:t>
            </a:r>
            <a:endParaRPr/>
          </a:p>
        </p:txBody>
      </p:sp>
      <p:sp>
        <p:nvSpPr>
          <p:cNvPr id="301" name="Google Shape;301;p6"/>
          <p:cNvSpPr txBox="1"/>
          <p:nvPr/>
        </p:nvSpPr>
        <p:spPr>
          <a:xfrm>
            <a:off x="8435162" y="5000625"/>
            <a:ext cx="3154325" cy="1952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可能病因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最常見的後端瓶頸：慢查詢、DB 連線池耗盡、CPU 飽和、下游 RPC 卡住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6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解法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用 Distributed Tracing 找出最慢的 Span</a:t>
            </a:r>
            <a:endParaRPr/>
          </a:p>
        </p:txBody>
      </p:sp>
      <p:sp>
        <p:nvSpPr>
          <p:cNvPr id="302" name="Google Shape;302;p6"/>
          <p:cNvSpPr/>
          <p:nvPr/>
        </p:nvSpPr>
        <p:spPr>
          <a:xfrm>
            <a:off x="12014790" y="3857625"/>
            <a:ext cx="3532372" cy="3167062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6"/>
          <p:cNvSpPr/>
          <p:nvPr/>
        </p:nvSpPr>
        <p:spPr>
          <a:xfrm>
            <a:off x="12203813" y="4024312"/>
            <a:ext cx="1772093" cy="33337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 cap="flat" cmpd="sng" w="127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推高 duration</a:t>
            </a:r>
            <a:endParaRPr/>
          </a:p>
        </p:txBody>
      </p:sp>
      <p:sp>
        <p:nvSpPr>
          <p:cNvPr id="304" name="Google Shape;304;p6"/>
          <p:cNvSpPr txBox="1"/>
          <p:nvPr/>
        </p:nvSpPr>
        <p:spPr>
          <a:xfrm>
            <a:off x="12203813" y="4452937"/>
            <a:ext cx="31543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receiving ↑</a:t>
            </a:r>
            <a:endParaRPr/>
          </a:p>
        </p:txBody>
      </p:sp>
      <p:sp>
        <p:nvSpPr>
          <p:cNvPr id="305" name="Google Shape;305;p6"/>
          <p:cNvSpPr txBox="1"/>
          <p:nvPr/>
        </p:nvSpPr>
        <p:spPr>
          <a:xfrm>
            <a:off x="12203813" y="5000625"/>
            <a:ext cx="3154325" cy="1952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可能病因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回應 Payload 過大，頻寬被打滿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6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解法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分頁、精簡欄位、開啟 Gzip / Brotli</a:t>
            </a:r>
            <a:endParaRPr/>
          </a:p>
        </p:txBody>
      </p:sp>
      <p:sp>
        <p:nvSpPr>
          <p:cNvPr id="306" name="Google Shape;306;p6"/>
          <p:cNvSpPr/>
          <p:nvPr/>
        </p:nvSpPr>
        <p:spPr>
          <a:xfrm>
            <a:off x="708837" y="7191375"/>
            <a:ext cx="14838325" cy="1309687"/>
          </a:xfrm>
          <a:prstGeom prst="roundRect">
            <a:avLst>
              <a:gd fmla="val 10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59900" spcFirstLastPara="1" rIns="2599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$ k6 run --summary-mode=full script.js</a:t>
            </a:r>
            <a:r>
              <a:rPr b="0" lang="en-US" sz="150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# 預設 compact 模式不會列出這 6 個細分指標</a:t>
            </a:r>
            <a:endParaRPr sz="15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BBF24"/>
                </a:solidFill>
                <a:latin typeface="Noto Sans"/>
                <a:ea typeface="Noto Sans"/>
                <a:cs typeface="Noto Sans"/>
                <a:sym typeface="Noto Sans"/>
              </a:rPr>
              <a:t>驗證：</a:t>
            </a:r>
            <a:r>
              <a:rPr b="0" lang="en-US" sz="1500">
                <a:solidFill>
                  <a:srgbClr val="E2E8F0"/>
                </a:solidFill>
                <a:latin typeface="Noto Sans"/>
                <a:ea typeface="Noto Sans"/>
                <a:cs typeface="Noto Sans"/>
                <a:sym typeface="Noto Sans"/>
              </a:rPr>
              <a:t>sending + waiting + receiving 三個 avg 相加，剛好等於 http_req_duration 的 avg；Web Dashboard 的 Timings 分頁可看隨時間變化</a:t>
            </a:r>
            <a:endParaRPr sz="1500"/>
          </a:p>
        </p:txBody>
      </p:sp>
      <p:sp>
        <p:nvSpPr>
          <p:cNvPr id="307" name="Google Shape;307;p6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7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7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監控業務專屬數據：4 大自訂指標型態</a:t>
            </a:r>
            <a:endParaRPr/>
          </a:p>
        </p:txBody>
      </p:sp>
      <p:sp>
        <p:nvSpPr>
          <p:cNvPr id="314" name="Google Shape;314;p7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內建指標只看得到 HTTP；業務語意（結帳次數、佇列長度、業務失敗率）要自己宣告</a:t>
            </a:r>
            <a:endParaRPr/>
          </a:p>
        </p:txBody>
      </p:sp>
      <p:sp>
        <p:nvSpPr>
          <p:cNvPr id="315" name="Google Shape;315;p7"/>
          <p:cNvSpPr/>
          <p:nvPr/>
        </p:nvSpPr>
        <p:spPr>
          <a:xfrm>
            <a:off x="708837" y="1571625"/>
            <a:ext cx="7301023" cy="3238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7"/>
          <p:cNvSpPr txBox="1"/>
          <p:nvPr/>
        </p:nvSpPr>
        <p:spPr>
          <a:xfrm>
            <a:off x="992372" y="1738312"/>
            <a:ext cx="6733953" cy="1785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80">
                <a:solidFill>
                  <a:srgbClr val="2563EB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Counter</a:t>
            </a:r>
            <a:r>
              <a:rPr b="1" lang="en-US" sz="18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   累積計數器（像里程表）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只會往上加總的數字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適用：累積業務發生次數，例如成功結帳數</a:t>
            </a:r>
            <a:endParaRPr/>
          </a:p>
        </p:txBody>
      </p:sp>
      <p:sp>
        <p:nvSpPr>
          <p:cNvPr id="317" name="Google Shape;317;p7"/>
          <p:cNvSpPr/>
          <p:nvPr/>
        </p:nvSpPr>
        <p:spPr>
          <a:xfrm>
            <a:off x="992372" y="3714750"/>
            <a:ext cx="6733953" cy="833437"/>
          </a:xfrm>
          <a:prstGeom prst="roundRect">
            <a:avLst>
              <a:gd fmla="val 12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36275" spcFirstLastPara="1" rIns="2362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9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checkout_count.add(1);</a:t>
            </a:r>
            <a:endParaRPr/>
          </a:p>
        </p:txBody>
      </p:sp>
      <p:sp>
        <p:nvSpPr>
          <p:cNvPr id="318" name="Google Shape;318;p7"/>
          <p:cNvSpPr/>
          <p:nvPr/>
        </p:nvSpPr>
        <p:spPr>
          <a:xfrm>
            <a:off x="8246139" y="1571625"/>
            <a:ext cx="7301023" cy="3238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7"/>
          <p:cNvSpPr txBox="1"/>
          <p:nvPr/>
        </p:nvSpPr>
        <p:spPr>
          <a:xfrm>
            <a:off x="8529674" y="1738312"/>
            <a:ext cx="6733953" cy="1785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80">
                <a:solidFill>
                  <a:srgbClr val="0F766E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Gauge</a:t>
            </a:r>
            <a:r>
              <a:rPr b="1" lang="en-US" sz="18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   即時數值（像時速表）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只保留最新的一個值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適用：追蹤佇列長度、連線數等即時狀態</a:t>
            </a:r>
            <a:endParaRPr/>
          </a:p>
        </p:txBody>
      </p:sp>
      <p:sp>
        <p:nvSpPr>
          <p:cNvPr id="320" name="Google Shape;320;p7"/>
          <p:cNvSpPr/>
          <p:nvPr/>
        </p:nvSpPr>
        <p:spPr>
          <a:xfrm>
            <a:off x="8529674" y="3714750"/>
            <a:ext cx="6733953" cy="833437"/>
          </a:xfrm>
          <a:prstGeom prst="roundRect">
            <a:avLst>
              <a:gd fmla="val 12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36275" spcFirstLastPara="1" rIns="2362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9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queue_size.add(currentLen);</a:t>
            </a:r>
            <a:endParaRPr/>
          </a:p>
        </p:txBody>
      </p:sp>
      <p:sp>
        <p:nvSpPr>
          <p:cNvPr id="321" name="Google Shape;321;p7"/>
          <p:cNvSpPr/>
          <p:nvPr/>
        </p:nvSpPr>
        <p:spPr>
          <a:xfrm>
            <a:off x="708837" y="5024437"/>
            <a:ext cx="7301023" cy="3238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7"/>
          <p:cNvSpPr txBox="1"/>
          <p:nvPr/>
        </p:nvSpPr>
        <p:spPr>
          <a:xfrm>
            <a:off x="992372" y="5191125"/>
            <a:ext cx="6733953" cy="1785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80">
                <a:solidFill>
                  <a:srgbClr val="DC262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Rate</a:t>
            </a:r>
            <a:r>
              <a:rPr b="1" lang="en-US" sz="18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   成功 / 失敗比率（像紅綠燈）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統計 true（非零）出現的比例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適用：業務邏輯失敗率，例如付款失敗比例</a:t>
            </a:r>
            <a:endParaRPr/>
          </a:p>
        </p:txBody>
      </p:sp>
      <p:sp>
        <p:nvSpPr>
          <p:cNvPr id="323" name="Google Shape;323;p7"/>
          <p:cNvSpPr/>
          <p:nvPr/>
        </p:nvSpPr>
        <p:spPr>
          <a:xfrm>
            <a:off x="992372" y="7167562"/>
            <a:ext cx="6733953" cy="833437"/>
          </a:xfrm>
          <a:prstGeom prst="roundRect">
            <a:avLst>
              <a:gd fmla="val 12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36275" spcFirstLastPara="1" rIns="2362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9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biz_fail_rate.add(!isSuccess);</a:t>
            </a:r>
            <a:endParaRPr/>
          </a:p>
        </p:txBody>
      </p:sp>
      <p:sp>
        <p:nvSpPr>
          <p:cNvPr id="324" name="Google Shape;324;p7"/>
          <p:cNvSpPr/>
          <p:nvPr/>
        </p:nvSpPr>
        <p:spPr>
          <a:xfrm>
            <a:off x="8246139" y="5024437"/>
            <a:ext cx="7301023" cy="3238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7"/>
          <p:cNvSpPr txBox="1"/>
          <p:nvPr/>
        </p:nvSpPr>
        <p:spPr>
          <a:xfrm>
            <a:off x="8529674" y="5191125"/>
            <a:ext cx="6733953" cy="1785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80">
                <a:solidFill>
                  <a:srgbClr val="B45309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Trend</a:t>
            </a:r>
            <a:r>
              <a:rPr b="1" lang="en-US" sz="18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   耗時分佈（像趨勢圖）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可計算 avg / med / p95 / p99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適用：統計特定區塊的耗時分佈，例如 DB 查詢</a:t>
            </a:r>
            <a:endParaRPr/>
          </a:p>
        </p:txBody>
      </p:sp>
      <p:sp>
        <p:nvSpPr>
          <p:cNvPr id="326" name="Google Shape;326;p7"/>
          <p:cNvSpPr/>
          <p:nvPr/>
        </p:nvSpPr>
        <p:spPr>
          <a:xfrm>
            <a:off x="8529674" y="7167562"/>
            <a:ext cx="6733953" cy="833437"/>
          </a:xfrm>
          <a:prstGeom prst="roundRect">
            <a:avLst>
              <a:gd fmla="val 12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36275" spcFirstLastPara="1" rIns="2362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9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db_query_time.add(duration);</a:t>
            </a:r>
            <a:endParaRPr/>
          </a:p>
        </p:txBody>
      </p:sp>
      <p:sp>
        <p:nvSpPr>
          <p:cNvPr id="327" name="Google Shape;327;p7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8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8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釐清斷言選擇：k6 斷言三部曲完整對照</a:t>
            </a:r>
            <a:endParaRPr/>
          </a:p>
        </p:txBody>
      </p:sp>
      <p:sp>
        <p:nvSpPr>
          <p:cNvPr id="334" name="Google Shape;334;p8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check() 看單次回應、thresholds 看整場統計、expect() 是 BDD 風格語法</a:t>
            </a:r>
            <a:endParaRPr/>
          </a:p>
        </p:txBody>
      </p:sp>
      <p:graphicFrame>
        <p:nvGraphicFramePr>
          <p:cNvPr id="335" name="Google Shape;335;p8"/>
          <p:cNvGraphicFramePr/>
          <p:nvPr/>
        </p:nvGraphicFramePr>
        <p:xfrm>
          <a:off x="708837" y="15716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{94AF7008-8884-462E-AD7F-BDAC13E9D6C0}</a:tableStyleId>
              </a:tblPr>
              <a:tblGrid>
                <a:gridCol w="2599075"/>
                <a:gridCol w="4075825"/>
                <a:gridCol w="4075825"/>
                <a:gridCol w="4087625"/>
              </a:tblGrid>
              <a:tr h="1309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200" u="none" cap="none" strike="noStrike">
                          <a:solidFill>
                            <a:srgbClr val="0F172A"/>
                          </a:solidFill>
                          <a:latin typeface="Noto Sans Mono"/>
                          <a:ea typeface="Noto Sans Mono"/>
                          <a:cs typeface="Noto Sans Mono"/>
                          <a:sym typeface="Noto Sans Mono"/>
                        </a:rPr>
                        <a:t>check()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F172A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請求級軟斷言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200" u="none" cap="none" strike="noStrike">
                          <a:solidFill>
                            <a:srgbClr val="0F172A"/>
                          </a:solidFill>
                          <a:latin typeface="Noto Sans Mono"/>
                          <a:ea typeface="Noto Sans Mono"/>
                          <a:cs typeface="Noto Sans Mono"/>
                          <a:sym typeface="Noto Sans Mono"/>
                        </a:rPr>
                        <a:t>thresholds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F172A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全域效能門檻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200" u="none" cap="none" strike="noStrike">
                          <a:solidFill>
                            <a:srgbClr val="0F172A"/>
                          </a:solidFill>
                          <a:latin typeface="Noto Sans Mono"/>
                          <a:ea typeface="Noto Sans Mono"/>
                          <a:cs typeface="Noto Sans Mono"/>
                          <a:sym typeface="Noto Sans Mono"/>
                        </a:rPr>
                        <a:t>expect()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F172A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BDD 風格斷言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3E8FF"/>
                    </a:solidFill>
                  </a:tcPr>
                </a:tc>
              </a:tr>
              <a:tr h="1309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F172A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作用層級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單次請求回應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（Status / Body）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整場測試的聚合統計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（例如 p95）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程式碼單元 / 局部邏輯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AF5FF"/>
                    </a:solidFill>
                  </a:tcPr>
                </a:tc>
              </a:tr>
              <a:tr h="1309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F172A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失敗後果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記錄失敗比率，測試繼續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不影響 Exit Code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門檻未達標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→ Exit Code 99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拋出例外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中斷當前迭代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AF5FF"/>
                    </a:solidFill>
                  </a:tcPr>
                </a:tc>
              </a:tr>
              <a:tr h="1309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F172A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核心用途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驗證回應內容正確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CI/CD 自動卡關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（Performance Gate）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類 Jest / Chai 的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流暢斷言語法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AF5FF"/>
                    </a:solidFill>
                  </a:tcPr>
                </a:tc>
              </a:tr>
            </a:tbl>
          </a:graphicData>
        </a:graphic>
      </p:graphicFrame>
      <p:sp>
        <p:nvSpPr>
          <p:cNvPr id="336" name="Google Shape;336;p8"/>
          <p:cNvSpPr/>
          <p:nvPr/>
        </p:nvSpPr>
        <p:spPr>
          <a:xfrm>
            <a:off x="708837" y="7072312"/>
            <a:ext cx="14838325" cy="1238250"/>
          </a:xfrm>
          <a:prstGeom prst="roundRect">
            <a:avLst>
              <a:gd fmla="val 12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30775" spcFirstLastPara="1" rIns="3307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20">
                <a:solidFill>
                  <a:srgbClr val="FBBF24"/>
                </a:solidFill>
                <a:latin typeface="Noto Sans"/>
                <a:ea typeface="Noto Sans"/>
                <a:cs typeface="Noto Sans"/>
                <a:sym typeface="Noto Sans"/>
              </a:rPr>
              <a:t>最佳實踐：</a:t>
            </a:r>
            <a:r>
              <a:rPr b="0" lang="en-US" sz="1920">
                <a:solidFill>
                  <a:srgbClr val="E2E8F0"/>
                </a:solidFill>
                <a:latin typeface="Noto Sans"/>
                <a:ea typeface="Noto Sans"/>
                <a:cs typeface="Noto Sans"/>
                <a:sym typeface="Noto Sans"/>
              </a:rPr>
              <a:t>用 check() 驗證回應正確性，再在 thresholds 宣告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2039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'checks': ['rate&gt;0.99']</a:t>
            </a:r>
            <a:r>
              <a:rPr b="0" lang="en-US" sz="1920">
                <a:solidFill>
                  <a:srgbClr val="E2E8F0"/>
                </a:solidFill>
                <a:latin typeface="Noto Sans"/>
                <a:ea typeface="Noto Sans"/>
                <a:cs typeface="Noto Sans"/>
                <a:sym typeface="Noto Sans"/>
              </a:rPr>
              <a:t>   ——讓資料錯誤也能讓 CI/CD 卡關</a:t>
            </a:r>
            <a:endParaRPr/>
          </a:p>
        </p:txBody>
      </p:sp>
      <p:sp>
        <p:nvSpPr>
          <p:cNvPr id="337" name="Google Shape;337;p8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9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精準控制各 API 門檻：Thresholds 與 Tags 過濾</a:t>
            </a:r>
            <a:endParaRPr/>
          </a:p>
        </p:txBody>
      </p:sp>
      <p:sp>
        <p:nvSpPr>
          <p:cNvPr id="344" name="Google Shape;344;p9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替請求貼上標籤，就能對不同端點設定不同的門檻，次要端點變慢不會誤殺整條發版流水線</a:t>
            </a:r>
            <a:endParaRPr/>
          </a:p>
        </p:txBody>
      </p:sp>
      <p:sp>
        <p:nvSpPr>
          <p:cNvPr id="345" name="Google Shape;345;p9"/>
          <p:cNvSpPr/>
          <p:nvPr/>
        </p:nvSpPr>
        <p:spPr>
          <a:xfrm>
            <a:off x="708837" y="1595437"/>
            <a:ext cx="7206511" cy="833437"/>
          </a:xfrm>
          <a:prstGeom prst="roundRect">
            <a:avLst>
              <a:gd fmla="val 20000" name="adj"/>
            </a:avLst>
          </a:prstGeom>
          <a:solidFill>
            <a:srgbClr val="F1F5F9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2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原始 http_req_duration 數據（所有請求）</a:t>
            </a:r>
            <a:endParaRPr/>
          </a:p>
        </p:txBody>
      </p:sp>
      <p:cxnSp>
        <p:nvCxnSpPr>
          <p:cNvPr id="346" name="Google Shape;346;p9"/>
          <p:cNvCxnSpPr/>
          <p:nvPr/>
        </p:nvCxnSpPr>
        <p:spPr>
          <a:xfrm>
            <a:off x="2244651" y="2452687"/>
            <a:ext cx="0" cy="666750"/>
          </a:xfrm>
          <a:prstGeom prst="straightConnector1">
            <a:avLst/>
          </a:prstGeom>
          <a:noFill/>
          <a:ln cap="flat" cmpd="sng" w="22225">
            <a:solidFill>
              <a:srgbClr val="DC2626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47" name="Google Shape;347;p9"/>
          <p:cNvSpPr/>
          <p:nvPr/>
        </p:nvSpPr>
        <p:spPr>
          <a:xfrm>
            <a:off x="708837" y="3143250"/>
            <a:ext cx="3071627" cy="1023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22225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6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Tag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DC262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{api_type:critical}</a:t>
            </a:r>
            <a:endParaRPr/>
          </a:p>
        </p:txBody>
      </p:sp>
      <p:cxnSp>
        <p:nvCxnSpPr>
          <p:cNvPr id="348" name="Google Shape;348;p9"/>
          <p:cNvCxnSpPr/>
          <p:nvPr/>
        </p:nvCxnSpPr>
        <p:spPr>
          <a:xfrm>
            <a:off x="2244651" y="4191000"/>
            <a:ext cx="0" cy="1404937"/>
          </a:xfrm>
          <a:prstGeom prst="straightConnector1">
            <a:avLst/>
          </a:prstGeom>
          <a:noFill/>
          <a:ln cap="flat" cmpd="sng" w="22225">
            <a:solidFill>
              <a:srgbClr val="DC2626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49" name="Google Shape;349;p9"/>
          <p:cNvSpPr/>
          <p:nvPr/>
        </p:nvSpPr>
        <p:spPr>
          <a:xfrm>
            <a:off x="708837" y="5619750"/>
            <a:ext cx="3071627" cy="1095375"/>
          </a:xfrm>
          <a:prstGeom prst="roundRect">
            <a:avLst>
              <a:gd fmla="val 12000" name="adj"/>
            </a:avLst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60">
                <a:solidFill>
                  <a:srgbClr val="E0E7FF"/>
                </a:solidFill>
                <a:latin typeface="Noto Sans"/>
                <a:ea typeface="Noto Sans"/>
                <a:cs typeface="Noto Sans"/>
                <a:sym typeface="Noto Sans"/>
              </a:rPr>
              <a:t>門檻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39">
                <a:solidFill>
                  <a:srgbClr val="FFFFFF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p(95) &lt; 300ms</a:t>
            </a:r>
            <a:endParaRPr/>
          </a:p>
        </p:txBody>
      </p:sp>
      <p:cxnSp>
        <p:nvCxnSpPr>
          <p:cNvPr id="350" name="Google Shape;350;p9"/>
          <p:cNvCxnSpPr/>
          <p:nvPr/>
        </p:nvCxnSpPr>
        <p:spPr>
          <a:xfrm>
            <a:off x="6379534" y="2452687"/>
            <a:ext cx="0" cy="666750"/>
          </a:xfrm>
          <a:prstGeom prst="straightConnector1">
            <a:avLst/>
          </a:prstGeom>
          <a:noFill/>
          <a:ln cap="flat" cmpd="sng" w="22225">
            <a:solidFill>
              <a:srgbClr val="0F766E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51" name="Google Shape;351;p9"/>
          <p:cNvSpPr/>
          <p:nvPr/>
        </p:nvSpPr>
        <p:spPr>
          <a:xfrm>
            <a:off x="4843720" y="3143250"/>
            <a:ext cx="3071627" cy="1023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22225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6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Tag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766E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{api_type:background}</a:t>
            </a:r>
            <a:endParaRPr/>
          </a:p>
        </p:txBody>
      </p:sp>
      <p:cxnSp>
        <p:nvCxnSpPr>
          <p:cNvPr id="352" name="Google Shape;352;p9"/>
          <p:cNvCxnSpPr/>
          <p:nvPr/>
        </p:nvCxnSpPr>
        <p:spPr>
          <a:xfrm>
            <a:off x="6379534" y="4191000"/>
            <a:ext cx="0" cy="1404937"/>
          </a:xfrm>
          <a:prstGeom prst="straightConnector1">
            <a:avLst/>
          </a:prstGeom>
          <a:noFill/>
          <a:ln cap="flat" cmpd="sng" w="22225">
            <a:solidFill>
              <a:srgbClr val="0F766E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53" name="Google Shape;353;p9"/>
          <p:cNvSpPr/>
          <p:nvPr/>
        </p:nvSpPr>
        <p:spPr>
          <a:xfrm>
            <a:off x="4843720" y="5619750"/>
            <a:ext cx="3071627" cy="1095375"/>
          </a:xfrm>
          <a:prstGeom prst="roundRect">
            <a:avLst>
              <a:gd fmla="val 12000" name="adj"/>
            </a:avLst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60">
                <a:solidFill>
                  <a:srgbClr val="E0E7FF"/>
                </a:solidFill>
                <a:latin typeface="Noto Sans"/>
                <a:ea typeface="Noto Sans"/>
                <a:cs typeface="Noto Sans"/>
                <a:sym typeface="Noto Sans"/>
              </a:rPr>
              <a:t>門檻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39">
                <a:solidFill>
                  <a:srgbClr val="FFFFFF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p(95) &lt; 5000ms</a:t>
            </a:r>
            <a:endParaRPr/>
          </a:p>
        </p:txBody>
      </p:sp>
      <p:sp>
        <p:nvSpPr>
          <p:cNvPr id="354" name="Google Shape;354;p9"/>
          <p:cNvSpPr/>
          <p:nvPr/>
        </p:nvSpPr>
        <p:spPr>
          <a:xfrm>
            <a:off x="708837" y="7024687"/>
            <a:ext cx="7206511" cy="1238250"/>
          </a:xfrm>
          <a:prstGeom prst="roundRect">
            <a:avLst>
              <a:gd fmla="val 12000" name="adj"/>
            </a:avLst>
          </a:prstGeom>
          <a:solidFill>
            <a:srgbClr val="FFF7ED"/>
          </a:solidFill>
          <a:ln cap="flat" cmpd="sng" w="12700">
            <a:solidFill>
              <a:srgbClr val="FED7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59900" spcFirstLastPara="1" rIns="2599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Group 也能過濾：</a:t>
            </a:r>
            <a:r>
              <a:rPr b="1" lang="en-US" sz="1800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{group:::01_核心結帳交易}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用 group() 包起來的整段流程，可以一起設門檻</a:t>
            </a:r>
            <a:endParaRPr/>
          </a:p>
        </p:txBody>
      </p:sp>
      <p:sp>
        <p:nvSpPr>
          <p:cNvPr id="355" name="Google Shape;355;p9"/>
          <p:cNvSpPr/>
          <p:nvPr/>
        </p:nvSpPr>
        <p:spPr>
          <a:xfrm>
            <a:off x="8198883" y="1595437"/>
            <a:ext cx="7348279" cy="6667500"/>
          </a:xfrm>
          <a:prstGeom prst="roundRect">
            <a:avLst>
              <a:gd fmla="val 3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41750" lIns="259900" spcFirstLastPara="1" rIns="189000" wrap="square" tIns="1890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export const </a:t>
            </a:r>
            <a:r>
              <a:rPr b="0" lang="en-US" sz="1739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options = {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thresholds: {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'http_req_duration</a:t>
            </a:r>
            <a:r>
              <a:rPr b="0" lang="en-US" sz="1739">
                <a:solidFill>
                  <a:srgbClr val="FCA5A5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{api_type:critical}</a:t>
            </a:r>
            <a:r>
              <a:rPr b="0" lang="en-US" sz="1739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':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['p(95)&lt;300'],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39">
              <a:solidFill>
                <a:srgbClr val="FBBF24"/>
              </a:solidFill>
              <a:latin typeface="Noto Sans Mono"/>
              <a:ea typeface="Noto Sans Mono"/>
              <a:cs typeface="Noto Sans Mono"/>
              <a:sym typeface="Noto Sans Mon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'http_req_duration</a:t>
            </a:r>
            <a:r>
              <a:rPr b="0" lang="en-US" sz="1739">
                <a:solidFill>
                  <a:srgbClr val="5EEAD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{api_type:background}</a:t>
            </a:r>
            <a:r>
              <a:rPr b="0" lang="en-US" sz="1739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':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['p(95)&lt;5000'],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39">
              <a:solidFill>
                <a:srgbClr val="FBBF24"/>
              </a:solidFill>
              <a:latin typeface="Noto Sans Mono"/>
              <a:ea typeface="Noto Sans Mono"/>
              <a:cs typeface="Noto Sans Mono"/>
              <a:sym typeface="Noto Sans Mon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'http_req_duration</a:t>
            </a:r>
            <a:r>
              <a:rPr b="0" lang="en-US" sz="1739">
                <a:solidFill>
                  <a:srgbClr val="FDBA7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{group:::01_核心結帳交易}</a:t>
            </a:r>
            <a:r>
              <a:rPr b="0" lang="en-US" sz="1739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':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['p(95)&lt;1000'],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},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};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39">
              <a:solidFill>
                <a:srgbClr val="E2E8F0"/>
              </a:solidFill>
              <a:latin typeface="Noto Sans Mono"/>
              <a:ea typeface="Noto Sans Mono"/>
              <a:cs typeface="Noto Sans Mono"/>
              <a:sym typeface="Noto Sans Mon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// 發送請求時貼上標籤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http.get(url, { tags: { api_type: 'critical' } });</a:t>
            </a:r>
            <a:endParaRPr/>
          </a:p>
        </p:txBody>
      </p:sp>
      <p:sp>
        <p:nvSpPr>
          <p:cNvPr id="356" name="Google Shape;356;p9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CI/CD 自動卡關實務：Exit Code 99 傳遞鏈</a:t>
            </a:r>
            <a:endParaRPr/>
          </a:p>
        </p:txBody>
      </p:sp>
      <p:sp>
        <p:nvSpPr>
          <p:cNvPr id="363" name="Google Shape;363;p10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k6 門檻失敗會回傳 99，但只要 Exit Code 在途中被吃掉，CI 就會亮綠燈放行</a:t>
            </a:r>
            <a:endParaRPr/>
          </a:p>
        </p:txBody>
      </p:sp>
      <p:sp>
        <p:nvSpPr>
          <p:cNvPr id="364" name="Google Shape;364;p10"/>
          <p:cNvSpPr/>
          <p:nvPr/>
        </p:nvSpPr>
        <p:spPr>
          <a:xfrm>
            <a:off x="708837" y="1571625"/>
            <a:ext cx="7301023" cy="6738937"/>
          </a:xfrm>
          <a:prstGeom prst="roundRect">
            <a:avLst>
              <a:gd fmla="val 4000" name="adj"/>
            </a:avLst>
          </a:prstGeom>
          <a:solidFill>
            <a:srgbClr val="FEF2F2"/>
          </a:solidFill>
          <a:ln cap="flat" cmpd="sng" w="12700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0"/>
          <p:cNvSpPr txBox="1"/>
          <p:nvPr/>
        </p:nvSpPr>
        <p:spPr>
          <a:xfrm>
            <a:off x="992372" y="1714500"/>
            <a:ext cx="6733953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0">
                <a:solidFill>
                  <a:srgbClr val="DC2626"/>
                </a:solidFill>
                <a:latin typeface="Noto Sans"/>
                <a:ea typeface="Noto Sans"/>
                <a:cs typeface="Noto Sans"/>
                <a:sym typeface="Noto Sans"/>
              </a:rPr>
              <a:t>×  錯誤示範：退出碼被遮蔽</a:t>
            </a:r>
            <a:endParaRPr/>
          </a:p>
        </p:txBody>
      </p:sp>
      <p:sp>
        <p:nvSpPr>
          <p:cNvPr id="366" name="Google Shape;366;p10"/>
          <p:cNvSpPr/>
          <p:nvPr/>
        </p:nvSpPr>
        <p:spPr>
          <a:xfrm>
            <a:off x="2480930" y="2333625"/>
            <a:ext cx="3756837" cy="1023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k6 結束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（Exit Code 99）</a:t>
            </a:r>
            <a:endParaRPr/>
          </a:p>
        </p:txBody>
      </p:sp>
      <p:cxnSp>
        <p:nvCxnSpPr>
          <p:cNvPr id="367" name="Google Shape;367;p10"/>
          <p:cNvCxnSpPr/>
          <p:nvPr/>
        </p:nvCxnSpPr>
        <p:spPr>
          <a:xfrm>
            <a:off x="4359348" y="3381375"/>
            <a:ext cx="0" cy="357187"/>
          </a:xfrm>
          <a:prstGeom prst="straightConnector1">
            <a:avLst/>
          </a:prstGeom>
          <a:noFill/>
          <a:ln cap="flat" cmpd="sng" w="22225">
            <a:solidFill>
              <a:srgbClr val="DC2626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68" name="Google Shape;368;p10"/>
          <p:cNvSpPr/>
          <p:nvPr/>
        </p:nvSpPr>
        <p:spPr>
          <a:xfrm>
            <a:off x="2480930" y="3762375"/>
            <a:ext cx="3756837" cy="1023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後面接著 echo 等指令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最後一個指令成功 → 回傳 0</a:t>
            </a:r>
            <a:endParaRPr/>
          </a:p>
        </p:txBody>
      </p:sp>
      <p:cxnSp>
        <p:nvCxnSpPr>
          <p:cNvPr id="369" name="Google Shape;369;p10"/>
          <p:cNvCxnSpPr/>
          <p:nvPr/>
        </p:nvCxnSpPr>
        <p:spPr>
          <a:xfrm>
            <a:off x="4359348" y="4810125"/>
            <a:ext cx="0" cy="357187"/>
          </a:xfrm>
          <a:prstGeom prst="straightConnector1">
            <a:avLst/>
          </a:prstGeom>
          <a:noFill/>
          <a:ln cap="flat" cmpd="sng" w="22225">
            <a:solidFill>
              <a:srgbClr val="DC2626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0" name="Google Shape;370;p10"/>
          <p:cNvSpPr/>
          <p:nvPr/>
        </p:nvSpPr>
        <p:spPr>
          <a:xfrm>
            <a:off x="2480930" y="5191125"/>
            <a:ext cx="3756837" cy="1023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CI/CD Pipeline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顯示 PASS</a:t>
            </a:r>
            <a:endParaRPr/>
          </a:p>
        </p:txBody>
      </p:sp>
      <p:sp>
        <p:nvSpPr>
          <p:cNvPr id="371" name="Google Shape;371;p10"/>
          <p:cNvSpPr/>
          <p:nvPr/>
        </p:nvSpPr>
        <p:spPr>
          <a:xfrm>
            <a:off x="992372" y="6691312"/>
            <a:ext cx="6733953" cy="595312"/>
          </a:xfrm>
          <a:prstGeom prst="roundRect">
            <a:avLst>
              <a:gd fmla="val 15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890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$ k6 run test.js; echo "done"</a:t>
            </a:r>
            <a:endParaRPr/>
          </a:p>
        </p:txBody>
      </p:sp>
      <p:sp>
        <p:nvSpPr>
          <p:cNvPr id="372" name="Google Shape;372;p10"/>
          <p:cNvSpPr txBox="1"/>
          <p:nvPr/>
        </p:nvSpPr>
        <p:spPr>
          <a:xfrm>
            <a:off x="992372" y="7453312"/>
            <a:ext cx="6733953" cy="595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39">
                <a:solidFill>
                  <a:srgbClr val="DC2626"/>
                </a:solidFill>
                <a:latin typeface="Noto Sans"/>
                <a:ea typeface="Noto Sans"/>
                <a:cs typeface="Noto Sans"/>
                <a:sym typeface="Noto Sans"/>
              </a:rPr>
              <a:t>未爆彈混入生產環境</a:t>
            </a:r>
            <a:endParaRPr/>
          </a:p>
        </p:txBody>
      </p:sp>
      <p:sp>
        <p:nvSpPr>
          <p:cNvPr id="373" name="Google Shape;373;p10"/>
          <p:cNvSpPr/>
          <p:nvPr/>
        </p:nvSpPr>
        <p:spPr>
          <a:xfrm>
            <a:off x="8246139" y="1571625"/>
            <a:ext cx="7301023" cy="6738937"/>
          </a:xfrm>
          <a:prstGeom prst="roundRect">
            <a:avLst>
              <a:gd fmla="val 4000" name="adj"/>
            </a:avLst>
          </a:prstGeom>
          <a:solidFill>
            <a:srgbClr val="F0FDF4"/>
          </a:solidFill>
          <a:ln cap="flat" cmpd="sng" w="12700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0"/>
          <p:cNvSpPr txBox="1"/>
          <p:nvPr/>
        </p:nvSpPr>
        <p:spPr>
          <a:xfrm>
            <a:off x="8529674" y="1714500"/>
            <a:ext cx="6733953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0">
                <a:solidFill>
                  <a:srgbClr val="15803D"/>
                </a:solidFill>
                <a:latin typeface="Noto Sans"/>
                <a:ea typeface="Noto Sans"/>
                <a:cs typeface="Noto Sans"/>
                <a:sym typeface="Noto Sans"/>
              </a:rPr>
              <a:t>✓  正確示範：明確捕捉與傳遞</a:t>
            </a:r>
            <a:endParaRPr/>
          </a:p>
        </p:txBody>
      </p:sp>
      <p:sp>
        <p:nvSpPr>
          <p:cNvPr id="375" name="Google Shape;375;p10"/>
          <p:cNvSpPr/>
          <p:nvPr/>
        </p:nvSpPr>
        <p:spPr>
          <a:xfrm>
            <a:off x="10018232" y="2333625"/>
            <a:ext cx="3756837" cy="85725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k6 結束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（Exit Code 99）</a:t>
            </a:r>
            <a:endParaRPr/>
          </a:p>
        </p:txBody>
      </p:sp>
      <p:cxnSp>
        <p:nvCxnSpPr>
          <p:cNvPr id="376" name="Google Shape;376;p10"/>
          <p:cNvCxnSpPr/>
          <p:nvPr/>
        </p:nvCxnSpPr>
        <p:spPr>
          <a:xfrm>
            <a:off x="11896651" y="3214687"/>
            <a:ext cx="0" cy="214313"/>
          </a:xfrm>
          <a:prstGeom prst="straightConnector1">
            <a:avLst/>
          </a:prstGeom>
          <a:noFill/>
          <a:ln cap="flat" cmpd="sng" w="22225">
            <a:solidFill>
              <a:srgbClr val="15803D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7" name="Google Shape;377;p10"/>
          <p:cNvSpPr/>
          <p:nvPr/>
        </p:nvSpPr>
        <p:spPr>
          <a:xfrm>
            <a:off x="10018232" y="3452812"/>
            <a:ext cx="3756837" cy="85725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code=$?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立即捕捉退出碼</a:t>
            </a:r>
            <a:endParaRPr/>
          </a:p>
        </p:txBody>
      </p:sp>
      <p:cxnSp>
        <p:nvCxnSpPr>
          <p:cNvPr id="378" name="Google Shape;378;p10"/>
          <p:cNvCxnSpPr/>
          <p:nvPr/>
        </p:nvCxnSpPr>
        <p:spPr>
          <a:xfrm>
            <a:off x="11896651" y="4333875"/>
            <a:ext cx="0" cy="214312"/>
          </a:xfrm>
          <a:prstGeom prst="straightConnector1">
            <a:avLst/>
          </a:prstGeom>
          <a:noFill/>
          <a:ln cap="flat" cmpd="sng" w="22225">
            <a:solidFill>
              <a:srgbClr val="15803D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9" name="Google Shape;379;p10"/>
          <p:cNvSpPr/>
          <p:nvPr/>
        </p:nvSpPr>
        <p:spPr>
          <a:xfrm>
            <a:off x="10018232" y="4572000"/>
            <a:ext cx="3756837" cy="85725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exit $code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把 99 傳下去</a:t>
            </a:r>
            <a:endParaRPr/>
          </a:p>
        </p:txBody>
      </p:sp>
      <p:cxnSp>
        <p:nvCxnSpPr>
          <p:cNvPr id="380" name="Google Shape;380;p10"/>
          <p:cNvCxnSpPr/>
          <p:nvPr/>
        </p:nvCxnSpPr>
        <p:spPr>
          <a:xfrm>
            <a:off x="11896651" y="5453062"/>
            <a:ext cx="0" cy="214313"/>
          </a:xfrm>
          <a:prstGeom prst="straightConnector1">
            <a:avLst/>
          </a:prstGeom>
          <a:noFill/>
          <a:ln cap="flat" cmpd="sng" w="22225">
            <a:solidFill>
              <a:srgbClr val="15803D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81" name="Google Shape;381;p10"/>
          <p:cNvSpPr/>
          <p:nvPr/>
        </p:nvSpPr>
        <p:spPr>
          <a:xfrm>
            <a:off x="10018232" y="5691187"/>
            <a:ext cx="3756837" cy="85725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CI/CD Pipeline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顯示 BLOCKED</a:t>
            </a:r>
            <a:endParaRPr/>
          </a:p>
        </p:txBody>
      </p:sp>
      <p:sp>
        <p:nvSpPr>
          <p:cNvPr id="382" name="Google Shape;382;p10"/>
          <p:cNvSpPr/>
          <p:nvPr/>
        </p:nvSpPr>
        <p:spPr>
          <a:xfrm>
            <a:off x="8529674" y="6691312"/>
            <a:ext cx="6733953" cy="595312"/>
          </a:xfrm>
          <a:prstGeom prst="roundRect">
            <a:avLst>
              <a:gd fmla="val 15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890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$ k6 run test.js; code=$?; echo "done"; exit $code</a:t>
            </a:r>
            <a:endParaRPr/>
          </a:p>
        </p:txBody>
      </p:sp>
      <p:sp>
        <p:nvSpPr>
          <p:cNvPr id="383" name="Google Shape;383;p10"/>
          <p:cNvSpPr txBox="1"/>
          <p:nvPr/>
        </p:nvSpPr>
        <p:spPr>
          <a:xfrm>
            <a:off x="8529674" y="7453312"/>
            <a:ext cx="6733953" cy="595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39">
                <a:solidFill>
                  <a:srgbClr val="15803D"/>
                </a:solidFill>
                <a:latin typeface="Noto Sans"/>
                <a:ea typeface="Noto Sans"/>
                <a:cs typeface="Noto Sans"/>
                <a:sym typeface="Noto Sans"/>
              </a:rPr>
              <a:t>成功阻擋有效能缺陷的 PR 合併</a:t>
            </a:r>
            <a:endParaRPr/>
          </a:p>
        </p:txBody>
      </p:sp>
      <p:sp>
        <p:nvSpPr>
          <p:cNvPr id="384" name="Google Shape;384;p10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模組綜合實戰：門檻、熔斷與自訂指標</a:t>
            </a:r>
            <a:endParaRPr/>
          </a:p>
        </p:txBody>
      </p:sp>
      <p:sp>
        <p:nvSpPr>
          <p:cNvPr id="391" name="Google Shape;391;p11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把自訂指標、Tags、Thresholds 與 abortOnFail 熔斷組裝成一台自動化效能測試引擎</a:t>
            </a:r>
            <a:endParaRPr/>
          </a:p>
        </p:txBody>
      </p:sp>
      <p:sp>
        <p:nvSpPr>
          <p:cNvPr id="392" name="Google Shape;392;p11"/>
          <p:cNvSpPr/>
          <p:nvPr/>
        </p:nvSpPr>
        <p:spPr>
          <a:xfrm>
            <a:off x="708837" y="1571625"/>
            <a:ext cx="10632558" cy="6738937"/>
          </a:xfrm>
          <a:prstGeom prst="roundRect">
            <a:avLst>
              <a:gd fmla="val 3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41750" lIns="259900" spcFirstLastPara="1" rIns="189000" wrap="square" tIns="2126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1 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import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http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from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'k6/http';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2 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import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{ check }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from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'k6';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3 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import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{ Rate }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from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'k6/metrics';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4  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5 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const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bizSuccess =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new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Rate(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'business_transaction_success'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);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6  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7 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export const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options = {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8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thresholds: {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9  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'http_req_duration{api_type:critical}'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: [</a:t>
            </a:r>
            <a:r>
              <a:rPr b="0" lang="en-US" sz="1680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'p(95)&lt;300'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],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10  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'business_transaction_success'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: [{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11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threshold: </a:t>
            </a:r>
            <a:r>
              <a:rPr b="0" lang="en-US" sz="1680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'rate&gt;=0.95'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12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abortOnFail: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true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13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delayAbortEval: </a:t>
            </a:r>
            <a:r>
              <a:rPr b="0" lang="en-US" sz="1680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'5s'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14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}],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15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},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16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};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17  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18 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export default function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() {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19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const res = http.get(url, { tags: { api_type: 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'critical'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 });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20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bizSuccess.add(check(res, { 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'status 200'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: (r) =&gt; r.status === 200 }));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21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}</a:t>
            </a: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11813953" y="1666875"/>
            <a:ext cx="3733209" cy="1404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12650" spcFirstLastPara="1" rIns="141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64748B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Line 3・5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宣告 Rate 自訂指標</a:t>
            </a:r>
            <a:endParaRPr/>
          </a:p>
        </p:txBody>
      </p:sp>
      <p:cxnSp>
        <p:nvCxnSpPr>
          <p:cNvPr id="394" name="Google Shape;394;p11"/>
          <p:cNvCxnSpPr/>
          <p:nvPr/>
        </p:nvCxnSpPr>
        <p:spPr>
          <a:xfrm flipH="1" rot="10800000">
            <a:off x="11365023" y="2369343"/>
            <a:ext cx="425302" cy="507330"/>
          </a:xfrm>
          <a:prstGeom prst="straightConnector1">
            <a:avLst/>
          </a:prstGeom>
          <a:noFill/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95" name="Google Shape;395;p11"/>
          <p:cNvSpPr/>
          <p:nvPr/>
        </p:nvSpPr>
        <p:spPr>
          <a:xfrm>
            <a:off x="11813953" y="3357562"/>
            <a:ext cx="3733209" cy="1404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12650" spcFirstLastPara="1" rIns="141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64748B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Line 9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Tags 過濾門檻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未達標 → Exit Code 99</a:t>
            </a:r>
            <a:endParaRPr/>
          </a:p>
        </p:txBody>
      </p:sp>
      <p:cxnSp>
        <p:nvCxnSpPr>
          <p:cNvPr id="396" name="Google Shape;396;p11"/>
          <p:cNvCxnSpPr/>
          <p:nvPr/>
        </p:nvCxnSpPr>
        <p:spPr>
          <a:xfrm flipH="1" rot="10800000">
            <a:off x="11365023" y="4060031"/>
            <a:ext cx="425302" cy="251822"/>
          </a:xfrm>
          <a:prstGeom prst="straightConnector1">
            <a:avLst/>
          </a:prstGeom>
          <a:noFill/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97" name="Google Shape;397;p11"/>
          <p:cNvSpPr/>
          <p:nvPr/>
        </p:nvSpPr>
        <p:spPr>
          <a:xfrm>
            <a:off x="11813953" y="5048250"/>
            <a:ext cx="3733209" cy="1404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12650" spcFirstLastPara="1" rIns="141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64748B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Line 10–14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abortOnFail 即時熔斷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delayAbortEval 暖機寬限</a:t>
            </a:r>
            <a:endParaRPr/>
          </a:p>
        </p:txBody>
      </p:sp>
      <p:cxnSp>
        <p:nvCxnSpPr>
          <p:cNvPr id="398" name="Google Shape;398;p11"/>
          <p:cNvCxnSpPr/>
          <p:nvPr/>
        </p:nvCxnSpPr>
        <p:spPr>
          <a:xfrm>
            <a:off x="11365023" y="5172960"/>
            <a:ext cx="425302" cy="577758"/>
          </a:xfrm>
          <a:prstGeom prst="straightConnector1">
            <a:avLst/>
          </a:prstGeom>
          <a:noFill/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99" name="Google Shape;399;p11"/>
          <p:cNvSpPr/>
          <p:nvPr/>
        </p:nvSpPr>
        <p:spPr>
          <a:xfrm>
            <a:off x="11813953" y="6738937"/>
            <a:ext cx="3733209" cy="1404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12650" spcFirstLastPara="1" rIns="141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64748B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Line 19・20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貼標籤＋check 結果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寫入業務成功率</a:t>
            </a:r>
            <a:endParaRPr/>
          </a:p>
        </p:txBody>
      </p:sp>
      <p:cxnSp>
        <p:nvCxnSpPr>
          <p:cNvPr id="400" name="Google Shape;400;p11"/>
          <p:cNvCxnSpPr/>
          <p:nvPr/>
        </p:nvCxnSpPr>
        <p:spPr>
          <a:xfrm>
            <a:off x="11365023" y="7325729"/>
            <a:ext cx="425302" cy="115677"/>
          </a:xfrm>
          <a:prstGeom prst="straightConnector1">
            <a:avLst/>
          </a:prstGeom>
          <a:noFill/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01" name="Google Shape;401;p11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2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Module 3 實作練習：打造你的自動化防線 (Lab Guide)</a:t>
            </a:r>
            <a:endParaRPr/>
          </a:p>
        </p:txBody>
      </p:sp>
      <p:sp>
        <p:nvSpPr>
          <p:cNvPr id="408" name="Google Shape;408;p12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同一支腳本 k6/demos/ch3_quality_gates_exit99.js，靠環境變數切出三種情境（目標：QuickPizza）</a:t>
            </a:r>
            <a:endParaRPr/>
          </a:p>
        </p:txBody>
      </p:sp>
      <p:sp>
        <p:nvSpPr>
          <p:cNvPr id="409" name="Google Shape;409;p12"/>
          <p:cNvSpPr/>
          <p:nvPr/>
        </p:nvSpPr>
        <p:spPr>
          <a:xfrm>
            <a:off x="708837" y="1595437"/>
            <a:ext cx="14838325" cy="1857375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2"/>
          <p:cNvSpPr txBox="1"/>
          <p:nvPr/>
        </p:nvSpPr>
        <p:spPr>
          <a:xfrm>
            <a:off x="992372" y="1738312"/>
            <a:ext cx="14271255" cy="404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6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任務一：通過情境</a:t>
            </a:r>
            <a:endParaRPr/>
          </a:p>
        </p:txBody>
      </p:sp>
      <p:sp>
        <p:nvSpPr>
          <p:cNvPr id="411" name="Google Shape;411;p12"/>
          <p:cNvSpPr/>
          <p:nvPr/>
        </p:nvSpPr>
        <p:spPr>
          <a:xfrm>
            <a:off x="992372" y="2214562"/>
            <a:ext cx="14271255" cy="547687"/>
          </a:xfrm>
          <a:prstGeom prst="roundRect">
            <a:avLst>
              <a:gd fmla="val 15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890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$ k6 run -e FAIL_SLO=false k6/demos/ch3_quality_gates_exit99.js ; echo "CI Exit Code: $?"</a:t>
            </a:r>
            <a:endParaRPr/>
          </a:p>
        </p:txBody>
      </p:sp>
      <p:sp>
        <p:nvSpPr>
          <p:cNvPr id="412" name="Google Shape;412;p12"/>
          <p:cNvSpPr txBox="1"/>
          <p:nvPr/>
        </p:nvSpPr>
        <p:spPr>
          <a:xfrm>
            <a:off x="992372" y="2857500"/>
            <a:ext cx="1427125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8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觀察：</a:t>
            </a: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觀察 Tags / Group 各自的 p95 與四大自訂指標；用 5 步驟判讀這份摘要 → Exit Code 0</a:t>
            </a:r>
            <a:endParaRPr/>
          </a:p>
        </p:txBody>
      </p:sp>
      <p:sp>
        <p:nvSpPr>
          <p:cNvPr id="413" name="Google Shape;413;p12"/>
          <p:cNvSpPr/>
          <p:nvPr/>
        </p:nvSpPr>
        <p:spPr>
          <a:xfrm>
            <a:off x="708837" y="3595687"/>
            <a:ext cx="14838325" cy="1857375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2"/>
          <p:cNvSpPr txBox="1"/>
          <p:nvPr/>
        </p:nvSpPr>
        <p:spPr>
          <a:xfrm>
            <a:off x="992372" y="3738562"/>
            <a:ext cx="14271255" cy="404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6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任務二：門檻違規</a:t>
            </a:r>
            <a:endParaRPr/>
          </a:p>
        </p:txBody>
      </p:sp>
      <p:sp>
        <p:nvSpPr>
          <p:cNvPr id="415" name="Google Shape;415;p12"/>
          <p:cNvSpPr/>
          <p:nvPr/>
        </p:nvSpPr>
        <p:spPr>
          <a:xfrm>
            <a:off x="992372" y="4214812"/>
            <a:ext cx="14271255" cy="547687"/>
          </a:xfrm>
          <a:prstGeom prst="roundRect">
            <a:avLst>
              <a:gd fmla="val 15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890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$ k6 run -e FAIL_SLO=true k6/demos/ch3_quality_gates_exit99.js ; echo "CI Exit Code: $?"</a:t>
            </a:r>
            <a:endParaRPr/>
          </a:p>
        </p:txBody>
      </p:sp>
      <p:sp>
        <p:nvSpPr>
          <p:cNvPr id="416" name="Google Shape;416;p12"/>
          <p:cNvSpPr txBox="1"/>
          <p:nvPr/>
        </p:nvSpPr>
        <p:spPr>
          <a:xfrm>
            <a:off x="992372" y="4857750"/>
            <a:ext cx="1427125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8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觀察：</a:t>
            </a: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只有 critical 端點打紅叉，background 仍是綠的 → Exit Code 99</a:t>
            </a:r>
            <a:endParaRPr/>
          </a:p>
        </p:txBody>
      </p:sp>
      <p:sp>
        <p:nvSpPr>
          <p:cNvPr id="417" name="Google Shape;417;p12"/>
          <p:cNvSpPr/>
          <p:nvPr/>
        </p:nvSpPr>
        <p:spPr>
          <a:xfrm>
            <a:off x="708837" y="5595937"/>
            <a:ext cx="14838325" cy="1857375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2"/>
          <p:cNvSpPr txBox="1"/>
          <p:nvPr/>
        </p:nvSpPr>
        <p:spPr>
          <a:xfrm>
            <a:off x="992372" y="5738812"/>
            <a:ext cx="14271255" cy="404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6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任務三：即時熔斷</a:t>
            </a:r>
            <a:endParaRPr/>
          </a:p>
        </p:txBody>
      </p:sp>
      <p:sp>
        <p:nvSpPr>
          <p:cNvPr id="419" name="Google Shape;419;p12"/>
          <p:cNvSpPr/>
          <p:nvPr/>
        </p:nvSpPr>
        <p:spPr>
          <a:xfrm>
            <a:off x="992372" y="6215062"/>
            <a:ext cx="14271255" cy="547687"/>
          </a:xfrm>
          <a:prstGeom prst="roundRect">
            <a:avLst>
              <a:gd fmla="val 15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890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$ k6 run -e ABORT_TEST=true k6/demos/ch3_quality_gates_exit99.js ; echo "CI Exit Code: $?"</a:t>
            </a:r>
            <a:endParaRPr/>
          </a:p>
        </p:txBody>
      </p:sp>
      <p:sp>
        <p:nvSpPr>
          <p:cNvPr id="420" name="Google Shape;420;p12"/>
          <p:cNvSpPr txBox="1"/>
          <p:nvPr/>
        </p:nvSpPr>
        <p:spPr>
          <a:xfrm>
            <a:off x="992372" y="6858000"/>
            <a:ext cx="1427125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8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觀察：</a:t>
            </a: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abortOnFail 觸發，測試在幾秒內提前中止 → Exit Code 99</a:t>
            </a:r>
            <a:endParaRPr/>
          </a:p>
        </p:txBody>
      </p:sp>
      <p:sp>
        <p:nvSpPr>
          <p:cNvPr id="421" name="Google Shape;421;p12"/>
          <p:cNvSpPr/>
          <p:nvPr/>
        </p:nvSpPr>
        <p:spPr>
          <a:xfrm>
            <a:off x="4253023" y="7715250"/>
            <a:ext cx="7749953" cy="690562"/>
          </a:xfrm>
          <a:prstGeom prst="roundRect">
            <a:avLst>
              <a:gd fmla="val 30000" name="adj"/>
            </a:avLst>
          </a:prstGeom>
          <a:solidFill>
            <a:srgbClr val="0F172A"/>
          </a:solidFill>
          <a:ln cap="flat" cmpd="sng" w="25400">
            <a:solidFill>
              <a:srgbClr val="FBBF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BBF24"/>
                </a:solidFill>
                <a:latin typeface="Noto Sans"/>
                <a:ea typeface="Noto Sans"/>
                <a:cs typeface="Noto Sans"/>
                <a:sym typeface="Noto Sans"/>
              </a:rPr>
              <a:t>準備好你的 Terminal，我們實作見！</a:t>
            </a:r>
            <a:endParaRPr/>
          </a:p>
        </p:txBody>
      </p:sp>
      <p:sp>
        <p:nvSpPr>
          <p:cNvPr id="422" name="Google Shape;422;p12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