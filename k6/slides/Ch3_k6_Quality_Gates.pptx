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結尾摘要 5 步驟：① THRESHOLDS 判決 ② checks 正確性 ③ HTTP 分佈形狀 ④ EXECUTION 壓測有效性 ⑤ NETWORK 頻寬。範例：P95 違規、8 倍長尾、dropped_iterations=37、vus 碰到 vus_max → 後端在約 50 RPS 飽和。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官方定義 http_req_duration = sending + waiting + receiving。blocked、connecting、tls_handshaking 發生在請求送出前，只會拉長 iteration_duration。waiting 飆高是最常見的後端瓶頸，receiving 飆高代表 Payload 過大。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Relationship Id="rId3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325" y="0"/>
            <a:ext cx="7513674" cy="62507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6976" y="1309687"/>
            <a:ext cx="7797209" cy="297656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>
                <a:solidFill>
                  <a:srgbClr val="0F172A"/>
                </a:solidFill>
                <a:latin typeface="Noto Sans CJK TC"/>
                <a:ea typeface="Noto Sans CJK TC"/>
              </a:rPr>
              <a:t>讓數據說話：</a:t>
            </a:r>
          </a:p>
          <a:p>
            <a:pPr algn="l">
              <a:lnSpc>
                <a:spcPct val="105000"/>
              </a:lnSpc>
            </a:pPr>
            <a:r>
              <a:rPr sz="4600" b="1">
                <a:solidFill>
                  <a:srgbClr val="0F172A"/>
                </a:solidFill>
                <a:latin typeface="Noto Sans CJK TC"/>
                <a:ea typeface="Noto Sans CJK TC"/>
              </a:rPr>
              <a:t>從指標解讀到</a:t>
            </a:r>
          </a:p>
          <a:p>
            <a:pPr algn="l">
              <a:lnSpc>
                <a:spcPct val="105000"/>
              </a:lnSpc>
            </a:pPr>
            <a:r>
              <a:rPr sz="4600" b="1">
                <a:solidFill>
                  <a:srgbClr val="0F172A"/>
                </a:solidFill>
                <a:latin typeface="Noto Sans CJK TC"/>
                <a:ea typeface="Noto Sans CJK TC"/>
              </a:rPr>
              <a:t>CI/CD 效能品質防線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604" y="4524375"/>
            <a:ext cx="7797209" cy="1071562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64748B"/>
                </a:solidFill>
                <a:latin typeface="Noto Sans CJK TC"/>
                <a:ea typeface="Noto Sans CJK TC"/>
              </a:rPr>
              <a:t>Module 3：效能指標解讀與</a:t>
            </a:r>
          </a:p>
          <a:p>
            <a:pPr algn="l">
              <a:lnSpc>
                <a:spcPct val="110000"/>
              </a:lnSpc>
            </a:pPr>
            <a:r>
              <a:rPr sz="2400" b="1">
                <a:solidFill>
                  <a:srgbClr val="64748B"/>
                </a:solidFill>
                <a:latin typeface="Noto Sans CJK TC"/>
                <a:ea typeface="Noto Sans CJK TC"/>
              </a:rPr>
              <a:t>SLO 門檻自動化（22～25 分鐘）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837" y="6667500"/>
            <a:ext cx="4784651" cy="1785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372" y="6881812"/>
            <a:ext cx="4253023" cy="13811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80" b="1">
                <a:solidFill>
                  <a:srgbClr val="2563EB"/>
                </a:solidFill>
                <a:latin typeface="Noto Sans CJK TC"/>
                <a:ea typeface="Noto Sans CJK TC"/>
              </a:rPr>
              <a:t>觀測力 Observe</a:t>
            </a:r>
          </a:p>
          <a:p>
            <a:pPr algn="l">
              <a:spcAft>
                <a:spcPts val="600"/>
              </a:spcAft>
            </a:pPr>
            <a:r>
              <a:rPr sz="1739" b="0">
                <a:solidFill>
                  <a:srgbClr val="334155"/>
                </a:solidFill>
                <a:latin typeface="Noto Sans CJK TC"/>
                <a:ea typeface="Noto Sans CJK TC"/>
              </a:rPr>
              <a:t>讀懂 k6 結尾摘要、RED Method 與延遲拆解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29767" y="6667500"/>
            <a:ext cx="4784651" cy="1785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3302" y="6881812"/>
            <a:ext cx="4253023" cy="13811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80" b="1">
                <a:solidFill>
                  <a:srgbClr val="B45309"/>
                </a:solidFill>
                <a:latin typeface="Noto Sans CJK TC"/>
                <a:ea typeface="Noto Sans CJK TC"/>
              </a:rPr>
              <a:t>攔截規則 Define</a:t>
            </a:r>
          </a:p>
          <a:p>
            <a:pPr algn="l">
              <a:spcAft>
                <a:spcPts val="600"/>
              </a:spcAft>
            </a:pPr>
            <a:r>
              <a:rPr sz="1739" b="0">
                <a:solidFill>
                  <a:srgbClr val="334155"/>
                </a:solidFill>
                <a:latin typeface="Noto Sans CJK TC"/>
                <a:ea typeface="Noto Sans CJK TC"/>
              </a:rPr>
              <a:t>擺脫平均值陷阱，自訂指標與 p95 / p99 門檻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50697" y="6667500"/>
            <a:ext cx="4784651" cy="1785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34232" y="6881812"/>
            <a:ext cx="4253023" cy="13811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80" b="1">
                <a:solidFill>
                  <a:srgbClr val="6D28D9"/>
                </a:solidFill>
                <a:latin typeface="Noto Sans CJK TC"/>
                <a:ea typeface="Noto Sans CJK TC"/>
              </a:rPr>
              <a:t>自動化機關 Automate</a:t>
            </a:r>
          </a:p>
          <a:p>
            <a:pPr algn="l">
              <a:spcAft>
                <a:spcPts val="600"/>
              </a:spcAft>
            </a:pPr>
            <a:r>
              <a:rPr sz="1739" b="0">
                <a:solidFill>
                  <a:srgbClr val="334155"/>
                </a:solidFill>
                <a:latin typeface="Noto Sans CJK TC"/>
                <a:ea typeface="Noto Sans CJK TC"/>
              </a:rPr>
              <a:t>Thresholds 觸發 Exit Code 99，守住 CI/CD</a:t>
            </a:r>
          </a:p>
        </p:txBody>
      </p:sp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一眼看穿系統健康度：k6 摘要與 RED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結尾摘要裡最重要的三行，剛好對應微服務的 RED Method：Rate、Errors、Duration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837" y="1571625"/>
            <a:ext cx="8151627" cy="66675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9906" tIns="189023" rIns="189023" bIns="141767"/>
          <a:lstStyle/>
          <a:p>
            <a:pPr algn="l">
              <a:lnSpc>
                <a:spcPct val="112000"/>
              </a:lnSpc>
            </a:pPr>
            <a:r>
              <a:rPr sz="1620" b="1">
                <a:solidFill>
                  <a:srgbClr val="E2E8F0"/>
                </a:solidFill>
                <a:latin typeface="Noto Sans Mono CJK TC"/>
                <a:ea typeface="Noto Sans Mono CJK TC"/>
              </a:rPr>
              <a:t>█ THRESHOLDS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94A3B8"/>
                </a:solidFill>
                <a:latin typeface="Noto Sans Mono CJK TC"/>
                <a:ea typeface="Noto Sans Mono CJK TC"/>
              </a:rPr>
              <a:t>  http_req_duration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4ADE80"/>
                </a:solidFill>
                <a:latin typeface="Noto Sans Mono CJK TC"/>
                <a:ea typeface="Noto Sans Mono CJK TC"/>
              </a:rPr>
              <a:t>  ✓ 'p(95)&lt;500' p(95)=312.4ms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94A3B8"/>
                </a:solidFill>
                <a:latin typeface="Noto Sans Mono CJK TC"/>
                <a:ea typeface="Noto Sans Mono CJK TC"/>
              </a:rPr>
              <a:t>  http_req_failed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4ADE80"/>
                </a:solidFill>
                <a:latin typeface="Noto Sans Mono CJK TC"/>
                <a:ea typeface="Noto Sans Mono CJK TC"/>
              </a:rPr>
              <a:t>  ✓ 'rate&lt;0.01' rate=0.20%</a:t>
            </a:r>
          </a:p>
          <a:p>
            <a:pPr algn="l">
              <a:lnSpc>
                <a:spcPct val="112000"/>
              </a:lnSpc>
            </a:pPr>
            <a:r>
              <a:rPr sz="720" b="0">
                <a:solidFill>
                  <a:srgbClr val="94A3B8"/>
                </a:solidFill>
                <a:latin typeface="Noto Sans Mono CJK TC"/>
                <a:ea typeface="Noto Sans Mono CJK TC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620" b="1">
                <a:solidFill>
                  <a:srgbClr val="E2E8F0"/>
                </a:solidFill>
                <a:latin typeface="Noto Sans Mono CJK TC"/>
                <a:ea typeface="Noto Sans Mono CJK TC"/>
              </a:rPr>
              <a:t>█ TOTAL RESULTS</a:t>
            </a:r>
          </a:p>
          <a:p>
            <a:pPr algn="l">
              <a:lnSpc>
                <a:spcPct val="112000"/>
              </a:lnSpc>
            </a:pPr>
            <a:r>
              <a:rPr sz="1620" b="1">
                <a:solidFill>
                  <a:srgbClr val="38BDF8"/>
                </a:solidFill>
                <a:latin typeface="Noto Sans Mono CJK TC"/>
                <a:ea typeface="Noto Sans Mono CJK TC"/>
              </a:rPr>
              <a:t>  HTTP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 http_req_duration: med=121ms p(95)=312ms</a:t>
            </a:r>
            <a:r>
              <a:rPr sz="1620" b="1">
                <a:solidFill>
                  <a:srgbClr val="FBBF24"/>
                </a:solidFill>
                <a:latin typeface="Noto Sans Mono CJK TC"/>
                <a:ea typeface="Noto Sans Mono CJK TC"/>
              </a:rPr>
              <a:t>   ◀ Duration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 http_req_failed..: 0.20%  6 out of 3000</a:t>
            </a:r>
            <a:r>
              <a:rPr sz="1620" b="1">
                <a:solidFill>
                  <a:srgbClr val="F87171"/>
                </a:solidFill>
                <a:latin typeface="Noto Sans Mono CJK TC"/>
                <a:ea typeface="Noto Sans Mono CJK TC"/>
              </a:rPr>
              <a:t>   ◀ Errors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 http_reqs........: 3000   49.9/s</a:t>
            </a:r>
            <a:r>
              <a:rPr sz="1620" b="1">
                <a:solidFill>
                  <a:srgbClr val="38BDF8"/>
                </a:solidFill>
                <a:latin typeface="Noto Sans Mono CJK TC"/>
                <a:ea typeface="Noto Sans Mono CJK TC"/>
              </a:rPr>
              <a:t>   ◀ Rate</a:t>
            </a:r>
          </a:p>
          <a:p>
            <a:pPr algn="l">
              <a:lnSpc>
                <a:spcPct val="112000"/>
              </a:lnSpc>
            </a:pPr>
            <a:r>
              <a:rPr sz="1620" b="1">
                <a:solidFill>
                  <a:srgbClr val="38BDF8"/>
                </a:solidFill>
                <a:latin typeface="Noto Sans Mono CJK TC"/>
                <a:ea typeface="Noto Sans Mono CJK TC"/>
              </a:rPr>
              <a:t>  EXECUTION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 iterations.......: 3000   49.9/s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 vus..............: 50     min=50 max=50</a:t>
            </a:r>
          </a:p>
          <a:p>
            <a:pPr algn="l">
              <a:lnSpc>
                <a:spcPct val="112000"/>
              </a:lnSpc>
            </a:pPr>
            <a:r>
              <a:rPr sz="1620" b="1">
                <a:solidFill>
                  <a:srgbClr val="38BDF8"/>
                </a:solidFill>
                <a:latin typeface="Noto Sans Mono CJK TC"/>
                <a:ea typeface="Noto Sans Mono CJK TC"/>
              </a:rPr>
              <a:t>  NETWORK</a:t>
            </a:r>
          </a:p>
          <a:p>
            <a:pPr algn="l">
              <a:lnSpc>
                <a:spcPct val="112000"/>
              </a:lnSpc>
            </a:pPr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  data_received....: 12 MB  200 kB/s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571625"/>
            <a:ext cx="6403162" cy="1809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03906" y="1690687"/>
            <a:ext cx="5906976" cy="1571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60" b="1">
                <a:solidFill>
                  <a:srgbClr val="2563EB"/>
                </a:solidFill>
                <a:latin typeface="Noto Sans CJK TC"/>
                <a:ea typeface="Noto Sans CJK TC"/>
              </a:rPr>
              <a:t>Rate（吞吐量）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http_reqs</a:t>
            </a:r>
          </a:p>
          <a:p>
            <a:pPr algn="l">
              <a:spcAft>
                <a:spcPts val="400"/>
              </a:spcAft>
            </a:pPr>
            <a:r>
              <a:rPr sz="1620" b="0">
                <a:solidFill>
                  <a:srgbClr val="334155"/>
                </a:solidFill>
                <a:latin typeface="Noto Sans CJK TC"/>
                <a:ea typeface="Noto Sans CJK TC"/>
              </a:rPr>
              <a:t>每秒發出多少請求（RPS），衡量系統承載的流量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3500437"/>
            <a:ext cx="6403162" cy="1809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03906" y="3619500"/>
            <a:ext cx="5906976" cy="1571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60" b="1">
                <a:solidFill>
                  <a:srgbClr val="DC2626"/>
                </a:solidFill>
                <a:latin typeface="Noto Sans CJK TC"/>
                <a:ea typeface="Noto Sans CJK TC"/>
              </a:rPr>
              <a:t>Errors（錯誤率）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http_req_failed</a:t>
            </a:r>
          </a:p>
          <a:p>
            <a:pPr algn="l">
              <a:spcAft>
                <a:spcPts val="400"/>
              </a:spcAft>
            </a:pPr>
            <a:r>
              <a:rPr sz="1620" b="0">
                <a:solidFill>
                  <a:srgbClr val="334155"/>
                </a:solidFill>
                <a:latin typeface="Noto Sans CJK TC"/>
                <a:ea typeface="Noto Sans CJK TC"/>
              </a:rPr>
              <a:t>非 2xx / 3xx 回應的比例，直接反映可用性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5429250"/>
            <a:ext cx="6403162" cy="1809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03906" y="5548312"/>
            <a:ext cx="5906976" cy="1571625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60" b="1">
                <a:solidFill>
                  <a:srgbClr val="B45309"/>
                </a:solidFill>
                <a:latin typeface="Noto Sans CJK TC"/>
                <a:ea typeface="Noto Sans CJK TC"/>
              </a:rPr>
              <a:t>Duration（延遲）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http_req_duration</a:t>
            </a:r>
          </a:p>
          <a:p>
            <a:pPr algn="l">
              <a:spcAft>
                <a:spcPts val="400"/>
              </a:spcAft>
            </a:pPr>
            <a:r>
              <a:rPr sz="1620" b="0">
                <a:solidFill>
                  <a:srgbClr val="334155"/>
                </a:solidFill>
                <a:latin typeface="Noto Sans CJK TC"/>
                <a:ea typeface="Noto Sans CJK TC"/>
              </a:rPr>
              <a:t>送出請求到收完回應的耗時；看 p95 / p99，不看平均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7358062"/>
            <a:ext cx="6403162" cy="881062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2651" tIns="70883" rIns="212651" bIns="70883"/>
          <a:lstStyle/>
          <a:p>
            <a:pPr algn="l">
              <a:spcAft>
                <a:spcPts val="200"/>
              </a:spcAft>
            </a:pPr>
            <a:r>
              <a:rPr sz="1680" b="1">
                <a:solidFill>
                  <a:srgbClr val="4F46E5"/>
                </a:solidFill>
                <a:latin typeface="Noto Sans CJK TC"/>
                <a:ea typeface="Noto Sans CJK TC"/>
              </a:rPr>
              <a:t>Saturation（飽和度）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0F172A"/>
                </a:solidFill>
                <a:latin typeface="Noto Sans CJK TC"/>
                <a:ea typeface="Noto Sans CJK TC"/>
              </a:rPr>
              <a:t>看 vus 是否碰到 vus_max、有沒有 dropped_iterations；延遲慢在哪一段，見第 6 頁的延遲拆解</a:t>
            </a:r>
          </a:p>
        </p:txBody>
      </p: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擺脫平均值謊言：專注於 p95 / p99 尾端延遲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平均值會把少數極慢的請求「攤平」——而那往往是正在結帳的使用者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837" y="1571625"/>
            <a:ext cx="5552558" cy="6667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372" y="1738312"/>
            <a:ext cx="5080000" cy="404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160" b="1">
                <a:solidFill>
                  <a:srgbClr val="0F172A"/>
                </a:solidFill>
                <a:latin typeface="Noto Sans CJK TC"/>
                <a:ea typeface="Noto Sans CJK TC"/>
              </a:rPr>
              <a:t>100 個請求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75906" y="23336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24837" y="23336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73767" y="23336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22697" y="23336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071627" y="23336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558" y="23336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69488" y="23336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18418" y="23336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7348" y="23336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16279" y="23336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75906" y="27860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724837" y="27860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73767" y="27860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22697" y="27860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071627" y="27860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20558" y="27860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69488" y="27860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18418" y="27860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867348" y="27860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16279" y="27860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275906" y="323850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24837" y="323850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173767" y="323850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622697" y="323850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071627" y="323850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520558" y="323850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969488" y="323850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418418" y="323850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867348" y="323850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316279" y="323850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275906" y="369093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724837" y="369093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173767" y="369093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622697" y="369093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71627" y="369093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20558" y="369093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9488" y="369093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18418" y="369093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867348" y="369093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16279" y="369093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275906" y="414337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724837" y="414337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173767" y="414337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622697" y="414337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071627" y="414337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20558" y="414337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969488" y="414337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418418" y="414337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867348" y="414337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316279" y="414337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275906" y="459581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724837" y="459581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2173767" y="459581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622697" y="459581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071627" y="459581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3520558" y="459581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3969488" y="459581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418418" y="459581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867348" y="459581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316279" y="459581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275906" y="504825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724837" y="504825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2173767" y="504825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622697" y="504825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071627" y="504825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520558" y="504825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969488" y="504825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418418" y="504825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4867348" y="504825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316279" y="5048250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275906" y="550068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724837" y="550068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173767" y="550068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622697" y="550068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071627" y="550068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520558" y="550068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969488" y="550068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418418" y="550068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867348" y="550068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316279" y="5500687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1275906" y="59531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1724837" y="59531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173767" y="59531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2622697" y="59531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071627" y="59531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3520558" y="59531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969488" y="59531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418418" y="59531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867348" y="59531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5316279" y="5953125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275906" y="64055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724837" y="64055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2173767" y="64055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622697" y="64055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3071627" y="64055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3520558" y="64055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969488" y="64055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4418418" y="64055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867348" y="64055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316279" y="6405562"/>
            <a:ext cx="354418" cy="357187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92372" y="6953250"/>
            <a:ext cx="5080000" cy="11430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80" b="1">
                <a:solidFill>
                  <a:srgbClr val="94A3B8"/>
                </a:solidFill>
                <a:latin typeface="Noto Sans CJK TC"/>
                <a:ea typeface="Noto Sans CJK TC"/>
              </a:rPr>
              <a:t>■ </a:t>
            </a:r>
            <a:r>
              <a:rPr sz="1739" b="0">
                <a:solidFill>
                  <a:srgbClr val="334155"/>
                </a:solidFill>
                <a:latin typeface="Noto Sans CJK TC"/>
                <a:ea typeface="Noto Sans CJK TC"/>
              </a:rPr>
              <a:t>99 個請求：10ms</a:t>
            </a:r>
          </a:p>
          <a:p>
            <a:pPr algn="l">
              <a:spcAft>
                <a:spcPts val="400"/>
              </a:spcAft>
            </a:pPr>
            <a:r>
              <a:rPr sz="1680" b="1">
                <a:solidFill>
                  <a:srgbClr val="DC2626"/>
                </a:solidFill>
                <a:latin typeface="Noto Sans CJK TC"/>
                <a:ea typeface="Noto Sans CJK TC"/>
              </a:rPr>
              <a:t>■ </a:t>
            </a:r>
            <a:r>
              <a:rPr sz="1739" b="0">
                <a:solidFill>
                  <a:srgbClr val="334155"/>
                </a:solidFill>
                <a:latin typeface="Noto Sans CJK TC"/>
                <a:ea typeface="Noto Sans CJK TC"/>
              </a:rPr>
              <a:t>1 個請求：10,000ms（資料庫鎖卡住的結帳）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44930" y="1571625"/>
            <a:ext cx="4382976" cy="2333625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04837" y="1738312"/>
            <a:ext cx="3863162" cy="2000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4F46E5"/>
                </a:solidFill>
                <a:latin typeface="Noto Sans CJK TC"/>
                <a:ea typeface="Noto Sans CJK TC"/>
              </a:rPr>
              <a:t>平均值</a:t>
            </a:r>
          </a:p>
          <a:p>
            <a:pPr algn="l">
              <a:spcAft>
                <a:spcPts val="200"/>
              </a:spcAft>
            </a:pPr>
            <a:r>
              <a:rPr sz="4800" b="1">
                <a:solidFill>
                  <a:srgbClr val="0F172A"/>
                </a:solidFill>
                <a:latin typeface="Noto Sans CJK TC"/>
                <a:ea typeface="Noto Sans CJK TC"/>
              </a:rPr>
              <a:t>109.9 ms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(99 × 10 + 10,000) ÷ 100——看起來很快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1164186" y="1571625"/>
            <a:ext cx="4382976" cy="2333625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424093" y="1738312"/>
            <a:ext cx="3863162" cy="2000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DC2626"/>
                </a:solidFill>
                <a:latin typeface="Noto Sans CJK TC"/>
                <a:ea typeface="Noto Sans CJK TC"/>
              </a:rPr>
              <a:t>最慢的那 1 個</a:t>
            </a:r>
          </a:p>
          <a:p>
            <a:pPr algn="l">
              <a:spcAft>
                <a:spcPts val="200"/>
              </a:spcAft>
            </a:pPr>
            <a:r>
              <a:rPr sz="4800" b="1">
                <a:solidFill>
                  <a:srgbClr val="0F172A"/>
                </a:solidFill>
                <a:latin typeface="Noto Sans CJK TC"/>
                <a:ea typeface="Noto Sans CJK TC"/>
              </a:rPr>
              <a:t>10,000 ms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平均值完全看不出來，只有看尾端才抓得到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544930" y="4095750"/>
            <a:ext cx="9002232" cy="41433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828465" y="4333875"/>
            <a:ext cx="8458790" cy="3714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80" b="1">
                <a:solidFill>
                  <a:srgbClr val="4F46E5"/>
                </a:solidFill>
                <a:latin typeface="Noto Sans CJK TC"/>
                <a:ea typeface="Noto Sans CJK TC"/>
              </a:rPr>
              <a:t>● </a:t>
            </a:r>
            <a:r>
              <a:rPr sz="1920" b="1">
                <a:solidFill>
                  <a:srgbClr val="0F172A"/>
                </a:solidFill>
                <a:latin typeface="Noto Sans CJK TC"/>
                <a:ea typeface="Noto Sans CJK TC"/>
              </a:rPr>
              <a:t>平均值會掩蓋極端值</a:t>
            </a:r>
          </a:p>
          <a:p>
            <a:pPr algn="l">
              <a:spcAft>
                <a:spcPts val="600"/>
              </a:spcAft>
            </a:pP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   少數極慢的請求被多數快請求攤平，報表上看不到真實痛點。</a:t>
            </a:r>
          </a:p>
          <a:p>
            <a:pPr algn="l">
              <a:spcAft>
                <a:spcPts val="600"/>
              </a:spcAft>
            </a:pPr>
            <a:r>
              <a:rPr sz="1680" b="1">
                <a:solidFill>
                  <a:srgbClr val="4F46E5"/>
                </a:solidFill>
                <a:latin typeface="Noto Sans CJK TC"/>
                <a:ea typeface="Noto Sans CJK TC"/>
              </a:rPr>
              <a:t>● </a:t>
            </a:r>
            <a:r>
              <a:rPr sz="1920" b="1">
                <a:solidFill>
                  <a:srgbClr val="0F172A"/>
                </a:solidFill>
                <a:latin typeface="Noto Sans CJK TC"/>
                <a:ea typeface="Noto Sans CJK TC"/>
              </a:rPr>
              <a:t>p(95)：常用的發版門檻</a:t>
            </a:r>
          </a:p>
          <a:p>
            <a:pPr algn="l">
              <a:spcAft>
                <a:spcPts val="600"/>
              </a:spcAft>
            </a:pP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   95% 的請求都要在門檻內，允許少量突波但不失控。</a:t>
            </a:r>
          </a:p>
          <a:p>
            <a:pPr algn="l">
              <a:spcAft>
                <a:spcPts val="600"/>
              </a:spcAft>
            </a:pPr>
            <a:r>
              <a:rPr sz="1680" b="1">
                <a:solidFill>
                  <a:srgbClr val="4F46E5"/>
                </a:solidFill>
                <a:latin typeface="Noto Sans CJK TC"/>
                <a:ea typeface="Noto Sans CJK TC"/>
              </a:rPr>
              <a:t>● </a:t>
            </a:r>
            <a:r>
              <a:rPr sz="1920" b="1">
                <a:solidFill>
                  <a:srgbClr val="0F172A"/>
                </a:solidFill>
                <a:latin typeface="Noto Sans CJK TC"/>
                <a:ea typeface="Noto Sans CJK TC"/>
              </a:rPr>
              <a:t>p(99)：尾端延遲的防線</a:t>
            </a:r>
          </a:p>
          <a:p>
            <a:pPr algn="l">
              <a:spcAft>
                <a:spcPts val="600"/>
              </a:spcAft>
            </a:pP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   捕捉 GC 停頓、DB Lock、連線排隊這類只影響少數請求的問題。</a:t>
            </a:r>
          </a:p>
          <a:p>
            <a:pPr algn="l">
              <a:spcAft>
                <a:spcPts val="600"/>
              </a:spcAft>
            </a:pPr>
            <a:r>
              <a:rPr sz="1680" b="1">
                <a:solidFill>
                  <a:srgbClr val="4F46E5"/>
                </a:solidFill>
                <a:latin typeface="Noto Sans CJK TC"/>
                <a:ea typeface="Noto Sans CJK TC"/>
              </a:rPr>
              <a:t>● </a:t>
            </a:r>
            <a:r>
              <a:rPr sz="1920" b="1">
                <a:solidFill>
                  <a:srgbClr val="0F172A"/>
                </a:solidFill>
                <a:latin typeface="Noto Sans CJK TC"/>
                <a:ea typeface="Noto Sans CJK TC"/>
              </a:rPr>
              <a:t>微服務會放大尾端延遲</a:t>
            </a:r>
          </a:p>
          <a:p>
            <a:pPr algn="l">
              <a:spcAft>
                <a:spcPts val="600"/>
              </a:spcAft>
            </a:pP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   一個頁面呼叫 10 個服務、每個有 1% 變慢，就有 1 − 0.99¹⁰ ≈ 9.6% 的頁面會卡。</a:t>
            </a:r>
          </a:p>
        </p:txBody>
      </p: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k6 內建核心指標全覽 (Built-in Metrics)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不用寫任何程式，每次測試結束都會自動輸出，也是設定 Thresholds 的主要標的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837" y="1571625"/>
            <a:ext cx="4772837" cy="559593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372" y="1762125"/>
            <a:ext cx="4205767" cy="83343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40" b="1">
                <a:solidFill>
                  <a:srgbClr val="2563EB"/>
                </a:solidFill>
                <a:latin typeface="Noto Sans CJK TC"/>
                <a:ea typeface="Noto Sans CJK TC"/>
              </a:rPr>
              <a:t>HTTP 狀態</a:t>
            </a:r>
          </a:p>
          <a:p>
            <a:pPr algn="l">
              <a:spcAft>
                <a:spcPts val="200"/>
              </a:spcAft>
            </a:pPr>
            <a:r>
              <a:rPr sz="1560" b="0">
                <a:solidFill>
                  <a:srgbClr val="64748B"/>
                </a:solidFill>
                <a:latin typeface="Noto Sans CJK TC"/>
                <a:ea typeface="Noto Sans CJK TC"/>
              </a:rPr>
              <a:t>HTTP Category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92372" y="2738437"/>
            <a:ext cx="4205767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2372" y="2976562"/>
            <a:ext cx="4205767" cy="1190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39" b="1">
                <a:solidFill>
                  <a:srgbClr val="0F172A"/>
                </a:solidFill>
                <a:latin typeface="Noto Sans Mono CJK TC"/>
                <a:ea typeface="Noto Sans Mono CJK TC"/>
              </a:rPr>
              <a:t>http_reqs</a:t>
            </a:r>
          </a:p>
          <a:p>
            <a:pPr algn="l">
              <a:spcAft>
                <a:spcPts val="300"/>
              </a:spcAft>
            </a:pPr>
            <a:r>
              <a:rPr sz="1620" b="0">
                <a:solidFill>
                  <a:srgbClr val="334155"/>
                </a:solidFill>
                <a:latin typeface="Noto Sans CJK TC"/>
                <a:ea typeface="Noto Sans CJK TC"/>
              </a:rPr>
              <a:t>總請求數與 RPS（RED：Rate）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372" y="4310062"/>
            <a:ext cx="4205767" cy="1190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39" b="1">
                <a:solidFill>
                  <a:srgbClr val="0F172A"/>
                </a:solidFill>
                <a:latin typeface="Noto Sans Mono CJK TC"/>
                <a:ea typeface="Noto Sans Mono CJK TC"/>
              </a:rPr>
              <a:t>http_req_failed</a:t>
            </a:r>
          </a:p>
          <a:p>
            <a:pPr algn="l">
              <a:spcAft>
                <a:spcPts val="300"/>
              </a:spcAft>
            </a:pPr>
            <a:r>
              <a:rPr sz="1620" b="0">
                <a:solidFill>
                  <a:srgbClr val="334155"/>
                </a:solidFill>
                <a:latin typeface="Noto Sans CJK TC"/>
                <a:ea typeface="Noto Sans CJK TC"/>
              </a:rPr>
              <a:t>失敗率（RED：Errors）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372" y="5643562"/>
            <a:ext cx="4205767" cy="1190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39" b="1">
                <a:solidFill>
                  <a:srgbClr val="0F172A"/>
                </a:solidFill>
                <a:latin typeface="Noto Sans Mono CJK TC"/>
                <a:ea typeface="Noto Sans Mono CJK TC"/>
              </a:rPr>
              <a:t>http_req_duration</a:t>
            </a:r>
          </a:p>
          <a:p>
            <a:pPr algn="l">
              <a:spcAft>
                <a:spcPts val="300"/>
              </a:spcAft>
            </a:pPr>
            <a:r>
              <a:rPr sz="1620" b="0">
                <a:solidFill>
                  <a:srgbClr val="334155"/>
                </a:solidFill>
                <a:latin typeface="Noto Sans CJK TC"/>
                <a:ea typeface="Noto Sans CJK TC"/>
              </a:rPr>
              <a:t>請求耗時（RED：Duration）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41581" y="1571625"/>
            <a:ext cx="4772837" cy="559593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25116" y="1762125"/>
            <a:ext cx="4205767" cy="83343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40" b="1">
                <a:solidFill>
                  <a:srgbClr val="0F766E"/>
                </a:solidFill>
                <a:latin typeface="Noto Sans CJK TC"/>
                <a:ea typeface="Noto Sans CJK TC"/>
              </a:rPr>
              <a:t>流量與網路</a:t>
            </a:r>
          </a:p>
          <a:p>
            <a:pPr algn="l">
              <a:spcAft>
                <a:spcPts val="200"/>
              </a:spcAft>
            </a:pPr>
            <a:r>
              <a:rPr sz="1560" b="0">
                <a:solidFill>
                  <a:srgbClr val="64748B"/>
                </a:solidFill>
                <a:latin typeface="Noto Sans CJK TC"/>
                <a:ea typeface="Noto Sans CJK TC"/>
              </a:rPr>
              <a:t>Network Category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25116" y="2738437"/>
            <a:ext cx="4205767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25116" y="2976562"/>
            <a:ext cx="4205767" cy="1190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39" b="1">
                <a:solidFill>
                  <a:srgbClr val="0F172A"/>
                </a:solidFill>
                <a:latin typeface="Noto Sans Mono CJK TC"/>
                <a:ea typeface="Noto Sans Mono CJK TC"/>
              </a:rPr>
              <a:t>data_sent</a:t>
            </a:r>
          </a:p>
          <a:p>
            <a:pPr algn="l">
              <a:spcAft>
                <a:spcPts val="300"/>
              </a:spcAft>
            </a:pPr>
            <a:r>
              <a:rPr sz="1620" b="0">
                <a:solidFill>
                  <a:srgbClr val="334155"/>
                </a:solidFill>
                <a:latin typeface="Noto Sans CJK TC"/>
                <a:ea typeface="Noto Sans CJK TC"/>
              </a:rPr>
              <a:t>送出的資料量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25116" y="4310062"/>
            <a:ext cx="4205767" cy="1190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39" b="1">
                <a:solidFill>
                  <a:srgbClr val="0F172A"/>
                </a:solidFill>
                <a:latin typeface="Noto Sans Mono CJK TC"/>
                <a:ea typeface="Noto Sans Mono CJK TC"/>
              </a:rPr>
              <a:t>data_received</a:t>
            </a:r>
          </a:p>
          <a:p>
            <a:pPr algn="l">
              <a:spcAft>
                <a:spcPts val="300"/>
              </a:spcAft>
            </a:pPr>
            <a:r>
              <a:rPr sz="1620" b="0">
                <a:solidFill>
                  <a:srgbClr val="334155"/>
                </a:solidFill>
                <a:latin typeface="Noto Sans CJK TC"/>
                <a:ea typeface="Noto Sans CJK TC"/>
              </a:rPr>
              <a:t>收到的資料量：回應是否太肥、網卡是否快滿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74325" y="1571625"/>
            <a:ext cx="4772837" cy="559593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57860" y="1762125"/>
            <a:ext cx="4205767" cy="83343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40" b="1">
                <a:solidFill>
                  <a:srgbClr val="6D28D9"/>
                </a:solidFill>
                <a:latin typeface="Noto Sans CJK TC"/>
                <a:ea typeface="Noto Sans CJK TC"/>
              </a:rPr>
              <a:t>執行進度</a:t>
            </a:r>
          </a:p>
          <a:p>
            <a:pPr algn="l">
              <a:spcAft>
                <a:spcPts val="200"/>
              </a:spcAft>
            </a:pPr>
            <a:r>
              <a:rPr sz="1560" b="0">
                <a:solidFill>
                  <a:srgbClr val="64748B"/>
                </a:solidFill>
                <a:latin typeface="Noto Sans CJK TC"/>
                <a:ea typeface="Noto Sans CJK TC"/>
              </a:rPr>
              <a:t>Execution Category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057860" y="2738437"/>
            <a:ext cx="4205767" cy="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057860" y="2976562"/>
            <a:ext cx="4205767" cy="1190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39" b="1">
                <a:solidFill>
                  <a:srgbClr val="0F172A"/>
                </a:solidFill>
                <a:latin typeface="Noto Sans Mono CJK TC"/>
                <a:ea typeface="Noto Sans Mono CJK TC"/>
              </a:rPr>
              <a:t>vus</a:t>
            </a:r>
          </a:p>
          <a:p>
            <a:pPr algn="l">
              <a:spcAft>
                <a:spcPts val="300"/>
              </a:spcAft>
            </a:pPr>
            <a:r>
              <a:rPr sz="1620" b="0">
                <a:solidFill>
                  <a:srgbClr val="334155"/>
                </a:solidFill>
                <a:latin typeface="Noto Sans CJK TC"/>
                <a:ea typeface="Noto Sans CJK TC"/>
              </a:rPr>
              <a:t>當下的虛擬用戶數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57860" y="4310062"/>
            <a:ext cx="4205767" cy="1190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39" b="1">
                <a:solidFill>
                  <a:srgbClr val="0F172A"/>
                </a:solidFill>
                <a:latin typeface="Noto Sans Mono CJK TC"/>
                <a:ea typeface="Noto Sans Mono CJK TC"/>
              </a:rPr>
              <a:t>vus_max</a:t>
            </a:r>
          </a:p>
          <a:p>
            <a:pPr algn="l">
              <a:spcAft>
                <a:spcPts val="300"/>
              </a:spcAft>
            </a:pPr>
            <a:r>
              <a:rPr sz="1620" b="0">
                <a:solidFill>
                  <a:srgbClr val="334155"/>
                </a:solidFill>
                <a:latin typeface="Noto Sans CJK TC"/>
                <a:ea typeface="Noto Sans CJK TC"/>
              </a:rPr>
              <a:t>虛擬用戶數上限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57860" y="5643562"/>
            <a:ext cx="4205767" cy="1190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39" b="1">
                <a:solidFill>
                  <a:srgbClr val="0F172A"/>
                </a:solidFill>
                <a:latin typeface="Noto Sans Mono CJK TC"/>
                <a:ea typeface="Noto Sans Mono CJK TC"/>
              </a:rPr>
              <a:t>iterations</a:t>
            </a:r>
          </a:p>
          <a:p>
            <a:pPr algn="l">
              <a:spcAft>
                <a:spcPts val="300"/>
              </a:spcAft>
            </a:pPr>
            <a:r>
              <a:rPr sz="1620" b="0">
                <a:solidFill>
                  <a:srgbClr val="334155"/>
                </a:solidFill>
                <a:latin typeface="Noto Sans CJK TC"/>
                <a:ea typeface="Noto Sans CJK TC"/>
              </a:rPr>
              <a:t>完整跑完腳本的次數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8837" y="7405687"/>
            <a:ext cx="14838325" cy="904875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HTTP 三兄弟直接對應 RED；執行進度這一類回答的是「這次壓測本身有沒有照計畫執行」</a:t>
            </a:r>
          </a:p>
        </p:txBody>
      </p: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看懂 k6 結尾摘要：5 步驟判讀 SOP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不要從第一行讀到最後一行，要帶著問題、依固定順序讀（範例：constant-arrival-rate 目標 50 RPS × 60 秒）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1571625"/>
            <a:ext cx="7560930" cy="6310312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3534" tIns="141767" rIns="189023" bIns="141767"/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E2E8F0"/>
                </a:solidFill>
                <a:latin typeface="Noto Sans Mono CJK TC"/>
                <a:ea typeface="Noto Sans Mono CJK TC"/>
              </a:rPr>
              <a:t>█ THRESHOLDS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94A3B8"/>
                </a:solidFill>
                <a:latin typeface="Noto Sans Mono CJK TC"/>
                <a:ea typeface="Noto Sans Mono CJK TC"/>
              </a:rPr>
              <a:t>  http_req_duration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F87171"/>
                </a:solidFill>
                <a:latin typeface="Noto Sans Mono CJK TC"/>
                <a:ea typeface="Noto Sans Mono CJK TC"/>
              </a:rPr>
              <a:t>  ✗ 'p(95)&lt;500' p(95)=812.4ms</a:t>
            </a:r>
            <a:r>
              <a:rPr sz="1400" b="1">
                <a:solidFill>
                  <a:srgbClr val="FBBF24"/>
                </a:solidFill>
                <a:latin typeface="Noto Sans Mono CJK TC"/>
                <a:ea typeface="Noto Sans Mono CJK TC"/>
              </a:rPr>
              <a:t>  ◀①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94A3B8"/>
                </a:solidFill>
                <a:latin typeface="Noto Sans Mono CJK TC"/>
                <a:ea typeface="Noto Sans Mono CJK TC"/>
              </a:rPr>
              <a:t>  http_req_failed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4ADE80"/>
                </a:solidFill>
                <a:latin typeface="Noto Sans Mono CJK TC"/>
                <a:ea typeface="Noto Sans Mono CJK TC"/>
              </a:rPr>
              <a:t>  ✓ 'rate&lt;0.01' rate=0.84%</a:t>
            </a:r>
          </a:p>
          <a:p>
            <a:pPr algn="l">
              <a:lnSpc>
                <a:spcPct val="112000"/>
              </a:lnSpc>
            </a:pPr>
            <a:r>
              <a:rPr sz="600" b="0">
                <a:solidFill>
                  <a:srgbClr val="94A3B8"/>
                </a:solidFill>
                <a:latin typeface="Noto Sans Mono CJK TC"/>
                <a:ea typeface="Noto Sans Mono CJK TC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E2E8F0"/>
                </a:solidFill>
                <a:latin typeface="Noto Sans Mono CJK TC"/>
                <a:ea typeface="Noto Sans Mono CJK TC"/>
              </a:rPr>
              <a:t>█ TOTAL RESULTS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checks_succeeded: 99.58% 5895/5920</a:t>
            </a:r>
            <a:r>
              <a:rPr sz="1400" b="1">
                <a:solidFill>
                  <a:srgbClr val="FBBF24"/>
                </a:solidFill>
                <a:latin typeface="Noto Sans Mono CJK TC"/>
                <a:ea typeface="Noto Sans Mono CJK TC"/>
              </a:rPr>
              <a:t>  ◀②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87171"/>
                </a:solidFill>
                <a:latin typeface="Noto Sans Mono CJK TC"/>
                <a:ea typeface="Noto Sans Mono CJK TC"/>
              </a:rPr>
              <a:t>  ✗ status is 200  ↳ ✓ 2935 / ✗ 25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38BDF8"/>
                </a:solidFill>
                <a:latin typeface="Noto Sans Mono CJK TC"/>
                <a:ea typeface="Noto Sans Mono CJK TC"/>
              </a:rPr>
              <a:t>  HTTP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http_req_duration: med=98ms</a:t>
            </a:r>
            <a:r>
              <a:rPr sz="1400" b="1">
                <a:solidFill>
                  <a:srgbClr val="FBBF24"/>
                </a:solidFill>
                <a:latin typeface="Noto Sans Mono CJK TC"/>
                <a:ea typeface="Noto Sans Mono CJK TC"/>
              </a:rPr>
              <a:t>  ◀③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   avg=231ms p(95)=812ms max=4.21s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http_req_failed..: 0.84% 25/2960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http_reqs........: 2960  49.3/s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38BDF8"/>
                </a:solidFill>
                <a:latin typeface="Noto Sans Mono CJK TC"/>
                <a:ea typeface="Noto Sans Mono CJK TC"/>
              </a:rPr>
              <a:t>  EXECUTION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F87171"/>
                </a:solidFill>
                <a:latin typeface="Noto Sans Mono CJK TC"/>
                <a:ea typeface="Noto Sans Mono CJK TC"/>
              </a:rPr>
              <a:t>  dropped_iterations: 37</a:t>
            </a:r>
            <a:r>
              <a:rPr sz="1400" b="1">
                <a:solidFill>
                  <a:srgbClr val="FBBF24"/>
                </a:solidFill>
                <a:latin typeface="Noto Sans Mono CJK TC"/>
                <a:ea typeface="Noto Sans Mono CJK TC"/>
              </a:rPr>
              <a:t>  ◀④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vus..............: min=1 max=60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vus_max..........: 60</a:t>
            </a:r>
          </a:p>
          <a:p>
            <a:pPr algn="l">
              <a:lnSpc>
                <a:spcPct val="112000"/>
              </a:lnSpc>
            </a:pPr>
            <a:r>
              <a:rPr sz="1400" b="1">
                <a:solidFill>
                  <a:srgbClr val="38BDF8"/>
                </a:solidFill>
                <a:latin typeface="Noto Sans Mono CJK TC"/>
                <a:ea typeface="Noto Sans Mono CJK TC"/>
              </a:rPr>
              <a:t>  NETWORK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E2E8F0"/>
                </a:solidFill>
                <a:latin typeface="Noto Sans Mono CJK TC"/>
                <a:ea typeface="Noto Sans Mono CJK TC"/>
              </a:rPr>
              <a:t>  data_received....: 38 MB 630 kB/s</a:t>
            </a:r>
            <a:r>
              <a:rPr sz="1400" b="1">
                <a:solidFill>
                  <a:srgbClr val="FBBF24"/>
                </a:solidFill>
                <a:latin typeface="Noto Sans Mono CJK TC"/>
                <a:ea typeface="Noto Sans Mono CJK TC"/>
              </a:rPr>
              <a:t>  ◀⑤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53302" y="1571625"/>
            <a:ext cx="699386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742325" y="188118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51162" y="1666875"/>
            <a:ext cx="5954232" cy="976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F172A"/>
                </a:solidFill>
                <a:latin typeface="Noto Sans CJK TC"/>
                <a:ea typeface="Noto Sans CJK TC"/>
              </a:rPr>
              <a:t>THRESHOLDS：判決書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334155"/>
                </a:solidFill>
                <a:latin typeface="Noto Sans CJK TC"/>
                <a:ea typeface="Noto Sans CJK TC"/>
              </a:rPr>
              <a:t>過關了沒？只要一個 ✗ → Exit Code 99。先記下違規的指標與統計量。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53302" y="2857500"/>
            <a:ext cx="699386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42325" y="3167062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51162" y="2952750"/>
            <a:ext cx="5954232" cy="976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F172A"/>
                </a:solidFill>
                <a:latin typeface="Noto Sans CJK TC"/>
                <a:ea typeface="Noto Sans CJK TC"/>
              </a:rPr>
              <a:t>checks：功能正確性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334155"/>
                </a:solidFill>
                <a:latin typeface="Noto Sans CJK TC"/>
                <a:ea typeface="Noto Sans CJK TC"/>
              </a:rPr>
              <a:t>哪條斷言失敗？check 是軟斷言，不會擋 CI → 要加 checks 門檻。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53302" y="4143375"/>
            <a:ext cx="699386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42325" y="445293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51162" y="4238625"/>
            <a:ext cx="5954232" cy="976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F172A"/>
                </a:solidFill>
                <a:latin typeface="Noto Sans CJK TC"/>
                <a:ea typeface="Noto Sans CJK TC"/>
              </a:rPr>
              <a:t>HTTP：分佈形狀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334155"/>
                </a:solidFill>
                <a:latin typeface="Noto Sans CJK TC"/>
                <a:ea typeface="Noto Sans CJK TC"/>
              </a:rPr>
              <a:t>p(95) ÷ med &gt; 3 倍＝長尾；整體比 expected_response 還快＝錯誤在「快速失敗」。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53302" y="5429250"/>
            <a:ext cx="699386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42325" y="5738812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1162" y="5524500"/>
            <a:ext cx="5954232" cy="976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F172A"/>
                </a:solidFill>
                <a:latin typeface="Noto Sans CJK TC"/>
                <a:ea typeface="Noto Sans CJK TC"/>
              </a:rPr>
              <a:t>EXECUTION：壓測有效嗎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334155"/>
                </a:solidFill>
                <a:latin typeface="Noto Sans CJK TC"/>
                <a:ea typeface="Noto Sans CJK TC"/>
              </a:rPr>
              <a:t>dropped_iterations &gt; 0 或 vus 碰到 vus_max → 目標流量沒打滿，結論作廢。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53302" y="6715125"/>
            <a:ext cx="699386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42325" y="7024687"/>
            <a:ext cx="519813" cy="523875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TC"/>
                <a:ea typeface="Noto Sans CJK TC"/>
              </a:rPr>
              <a:t>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1162" y="6810375"/>
            <a:ext cx="5954232" cy="976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F172A"/>
                </a:solidFill>
                <a:latin typeface="Noto Sans CJK TC"/>
                <a:ea typeface="Noto Sans CJK TC"/>
              </a:rPr>
              <a:t>NETWORK：頻寬與 Payload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334155"/>
                </a:solidFill>
                <a:latin typeface="Noto Sans CJK TC"/>
                <a:ea typeface="Noto Sans CJK TC"/>
              </a:rPr>
              <a:t>data_received ÷ 請求數＝回應大小；逼近網卡上限＝瓶頸在壓測機。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837" y="8096250"/>
            <a:ext cx="14838325" cy="59531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6279" tIns="0" rIns="236279" bIns="0"/>
          <a:lstStyle/>
          <a:p>
            <a:pPr algn="l"/>
            <a:r>
              <a:rPr sz="1400" b="1">
                <a:solidFill>
                  <a:srgbClr val="4F46E5"/>
                </a:solidFill>
                <a:latin typeface="Noto Sans CJK TC"/>
                <a:ea typeface="Noto Sans CJK TC"/>
              </a:rPr>
              <a:t>本例結論  </a:t>
            </a:r>
            <a:r>
              <a:rPr sz="1350" b="0">
                <a:solidFill>
                  <a:srgbClr val="0F172A"/>
                </a:solidFill>
                <a:latin typeface="Noto Sans CJK TC"/>
                <a:ea typeface="Noto Sans CJK TC"/>
              </a:rPr>
              <a:t>P95 違規 ① ＋ med→p(95) 差 8 倍長尾 ③ ＋ 丟 37 次迭代、VU 池見底 ④ → 後端約 50 RPS 已飽和，下一步去儀表板找拐點</a:t>
            </a:r>
          </a:p>
        </p:txBody>
      </p:sp>
      <p:sp>
        <p:nvSpPr>
          <p:cNvPr id="22" name="MetricReading_Marker"/>
          <p:cNvSpPr txBox="1"/>
          <p:nvPr/>
        </p:nvSpPr>
        <p:spPr>
          <a:xfrm>
            <a:off x="0" y="0"/>
            <a:ext cx="1" cy="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延遲拆解：http_req_duration 只算後 3 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blocked / connecting / tls_handshaking 不計入 duration，只盯 duration 的話，連線層問題會完全隱形</a:t>
            </a:r>
          </a:p>
        </p:txBody>
      </p:sp>
      <p:pic>
        <p:nvPicPr>
          <p:cNvPr id="5" name="Picture 4" descr="latency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837" y="1500187"/>
            <a:ext cx="14838325" cy="219329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8837" y="3857625"/>
            <a:ext cx="3532372" cy="316706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7860" y="4024312"/>
            <a:ext cx="2008372" cy="333375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64748B"/>
                </a:solidFill>
                <a:latin typeface="Noto Sans CJK TC"/>
                <a:ea typeface="Noto Sans CJK TC"/>
              </a:rPr>
              <a:t>duration 看不到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860" y="4452937"/>
            <a:ext cx="3154325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blocked 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860" y="5000625"/>
            <a:ext cx="3154325" cy="1952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可能病因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壓測機本機埠耗盡、DNS 慢、沒有連線複用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334155"/>
                </a:solidFill>
                <a:latin typeface="Noto Sans CJK TC"/>
                <a:ea typeface="Noto Sans CJK TC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解法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調整 ip_local_port_range、確認 Keep-Alive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77488" y="3857625"/>
            <a:ext cx="3532372" cy="316706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6511" y="4024312"/>
            <a:ext cx="2008372" cy="333375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64748B"/>
                </a:solidFill>
                <a:latin typeface="Noto Sans CJK TC"/>
                <a:ea typeface="Noto Sans CJK TC"/>
              </a:rPr>
              <a:t>duration 看不到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6511" y="4452937"/>
            <a:ext cx="3154325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connecting / tls 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6511" y="5000625"/>
            <a:ext cx="3154325" cy="1952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可能病因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每次請求都重建連線；壓測機與受測端 RTT 過高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334155"/>
                </a:solidFill>
                <a:latin typeface="Noto Sans CJK TC"/>
                <a:ea typeface="Noto Sans CJK TC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解法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啟用 Keep-Alive 與 TLS Session Resumption，壓測機靠近受測端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6139" y="3857625"/>
            <a:ext cx="3532372" cy="316706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35162" y="4024312"/>
            <a:ext cx="1772093" cy="333375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4F46E5"/>
                </a:solidFill>
                <a:latin typeface="Noto Sans CJK TC"/>
                <a:ea typeface="Noto Sans CJK TC"/>
              </a:rPr>
              <a:t>推高 duration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5162" y="4452937"/>
            <a:ext cx="3154325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waiting (TTFB)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5162" y="5000625"/>
            <a:ext cx="3154325" cy="1952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可能病因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最常見的後端瓶頸：慢查詢、DB 連線池耗盡、CPU 飽和、下游 RPC 卡住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334155"/>
                </a:solidFill>
                <a:latin typeface="Noto Sans CJK TC"/>
                <a:ea typeface="Noto Sans CJK TC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解法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用 Distributed Tracing 找出最慢的 Span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14790" y="3857625"/>
            <a:ext cx="3532372" cy="316706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203813" y="4024312"/>
            <a:ext cx="1772093" cy="333375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4F46E5"/>
                </a:solidFill>
                <a:latin typeface="Noto Sans CJK TC"/>
                <a:ea typeface="Noto Sans CJK TC"/>
              </a:rPr>
              <a:t>推高 duration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03813" y="4452937"/>
            <a:ext cx="3154325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receiving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03813" y="5000625"/>
            <a:ext cx="3154325" cy="1952625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可能病因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回應 Payload 過大，頻寬被打滿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334155"/>
                </a:solidFill>
                <a:latin typeface="Noto Sans CJK TC"/>
                <a:ea typeface="Noto Sans CJK TC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64748B"/>
                </a:solidFill>
                <a:latin typeface="Noto Sans CJK TC"/>
                <a:ea typeface="Noto Sans CJK TC"/>
              </a:rPr>
              <a:t>解法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334155"/>
                </a:solidFill>
                <a:latin typeface="Noto Sans CJK TC"/>
                <a:ea typeface="Noto Sans CJK TC"/>
              </a:rPr>
              <a:t>分頁、精簡欄位、開啟 Gzip / Brotli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837" y="7191375"/>
            <a:ext cx="14838325" cy="1309687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9906" tIns="0" rIns="259906" bIns="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8BDF8"/>
                </a:solidFill>
                <a:latin typeface="Noto Sans Mono CJK TC"/>
                <a:ea typeface="Noto Sans Mono CJK TC"/>
              </a:rPr>
              <a:t>$ k6 run --summary-mode=full script.js</a:t>
            </a:r>
            <a:r>
              <a:rPr sz="1400" b="0">
                <a:solidFill>
                  <a:srgbClr val="94A3B8"/>
                </a:solidFill>
                <a:latin typeface="Noto Sans Mono CJK TC"/>
                <a:ea typeface="Noto Sans Mono CJK TC"/>
              </a:rPr>
              <a:t>     # 預設 compact 模式不會列出這 6 個細分指標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BBF24"/>
                </a:solidFill>
                <a:latin typeface="Noto Sans CJK TC"/>
                <a:ea typeface="Noto Sans CJK TC"/>
              </a:rPr>
              <a:t>驗證：</a:t>
            </a:r>
            <a:r>
              <a:rPr sz="1400" b="0">
                <a:solidFill>
                  <a:srgbClr val="E2E8F0"/>
                </a:solidFill>
                <a:latin typeface="Noto Sans CJK TC"/>
                <a:ea typeface="Noto Sans CJK TC"/>
              </a:rPr>
              <a:t>sending + waiting + receiving 三個 avg 相加，剛好等於 http_req_duration 的 avg；Web Dashboard 的 Timings 分頁可看隨時間變化</a:t>
            </a:r>
          </a:p>
        </p:txBody>
      </p:sp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監控業務專屬數據：4 大自訂指標型態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內建指標只看得到 HTTP；業務語意（結帳次數、佇列長度、業務失敗率）要自己宣告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837" y="1571625"/>
            <a:ext cx="7301023" cy="3238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372" y="1738312"/>
            <a:ext cx="6733953" cy="178593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80" b="1">
                <a:solidFill>
                  <a:srgbClr val="2563EB"/>
                </a:solidFill>
                <a:latin typeface="Noto Sans Mono CJK TC"/>
                <a:ea typeface="Noto Sans Mono CJK TC"/>
              </a:rPr>
              <a:t>Counter</a:t>
            </a:r>
            <a:r>
              <a:rPr sz="1800" b="1">
                <a:solidFill>
                  <a:srgbClr val="64748B"/>
                </a:solidFill>
                <a:latin typeface="Noto Sans CJK TC"/>
                <a:ea typeface="Noto Sans CJK TC"/>
              </a:rPr>
              <a:t>   累積計數器（像里程表）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只會往上加總的數字</a:t>
            </a:r>
          </a:p>
          <a:p>
            <a:pPr algn="l">
              <a:spcAft>
                <a:spcPts val="600"/>
              </a:spcAft>
            </a:pP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適用：累積業務發生次數，例如成功結帳數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2372" y="3714750"/>
            <a:ext cx="6733953" cy="833437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6279" tIns="0" rIns="236279" bIns="0"/>
          <a:lstStyle/>
          <a:p>
            <a:pPr algn="l"/>
            <a:r>
              <a:rPr sz="1920" b="0">
                <a:solidFill>
                  <a:srgbClr val="E2E8F0"/>
                </a:solidFill>
                <a:latin typeface="Noto Sans Mono CJK TC"/>
                <a:ea typeface="Noto Sans Mono CJK TC"/>
              </a:rPr>
              <a:t>checkout_count.add(1);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6139" y="1571625"/>
            <a:ext cx="7301023" cy="3238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9674" y="1738312"/>
            <a:ext cx="6733953" cy="178593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80" b="1">
                <a:solidFill>
                  <a:srgbClr val="0F766E"/>
                </a:solidFill>
                <a:latin typeface="Noto Sans Mono CJK TC"/>
                <a:ea typeface="Noto Sans Mono CJK TC"/>
              </a:rPr>
              <a:t>Gauge</a:t>
            </a:r>
            <a:r>
              <a:rPr sz="1800" b="1">
                <a:solidFill>
                  <a:srgbClr val="64748B"/>
                </a:solidFill>
                <a:latin typeface="Noto Sans CJK TC"/>
                <a:ea typeface="Noto Sans CJK TC"/>
              </a:rPr>
              <a:t>   即時數值（像時速表）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只保留最新的一個值</a:t>
            </a:r>
          </a:p>
          <a:p>
            <a:pPr algn="l">
              <a:spcAft>
                <a:spcPts val="600"/>
              </a:spcAft>
            </a:pP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適用：追蹤佇列長度、連線數等即時狀態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29674" y="3714750"/>
            <a:ext cx="6733953" cy="833437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6279" tIns="0" rIns="236279" bIns="0"/>
          <a:lstStyle/>
          <a:p>
            <a:pPr algn="l"/>
            <a:r>
              <a:rPr sz="1920" b="0">
                <a:solidFill>
                  <a:srgbClr val="E2E8F0"/>
                </a:solidFill>
                <a:latin typeface="Noto Sans Mono CJK TC"/>
                <a:ea typeface="Noto Sans Mono CJK TC"/>
              </a:rPr>
              <a:t>queue_size.add(currentLen);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837" y="5024437"/>
            <a:ext cx="7301023" cy="3238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2372" y="5191125"/>
            <a:ext cx="6733953" cy="178593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80" b="1">
                <a:solidFill>
                  <a:srgbClr val="DC2626"/>
                </a:solidFill>
                <a:latin typeface="Noto Sans Mono CJK TC"/>
                <a:ea typeface="Noto Sans Mono CJK TC"/>
              </a:rPr>
              <a:t>Rate</a:t>
            </a:r>
            <a:r>
              <a:rPr sz="1800" b="1">
                <a:solidFill>
                  <a:srgbClr val="64748B"/>
                </a:solidFill>
                <a:latin typeface="Noto Sans CJK TC"/>
                <a:ea typeface="Noto Sans CJK TC"/>
              </a:rPr>
              <a:t>   成功 / 失敗比率（像紅綠燈）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統計 true（非零）出現的比例</a:t>
            </a:r>
          </a:p>
          <a:p>
            <a:pPr algn="l">
              <a:spcAft>
                <a:spcPts val="600"/>
              </a:spcAft>
            </a:pP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適用：業務邏輯失敗率，例如付款失敗比例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2372" y="7167562"/>
            <a:ext cx="6733953" cy="833437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6279" tIns="0" rIns="236279" bIns="0"/>
          <a:lstStyle/>
          <a:p>
            <a:pPr algn="l"/>
            <a:r>
              <a:rPr sz="1920" b="0">
                <a:solidFill>
                  <a:srgbClr val="E2E8F0"/>
                </a:solidFill>
                <a:latin typeface="Noto Sans Mono CJK TC"/>
                <a:ea typeface="Noto Sans Mono CJK TC"/>
              </a:rPr>
              <a:t>biz_fail_rate.add(!isSuccess);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6139" y="5024437"/>
            <a:ext cx="7301023" cy="3238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9674" y="5191125"/>
            <a:ext cx="6733953" cy="178593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80" b="1">
                <a:solidFill>
                  <a:srgbClr val="B45309"/>
                </a:solidFill>
                <a:latin typeface="Noto Sans Mono CJK TC"/>
                <a:ea typeface="Noto Sans Mono CJK TC"/>
              </a:rPr>
              <a:t>Trend</a:t>
            </a:r>
            <a:r>
              <a:rPr sz="1800" b="1">
                <a:solidFill>
                  <a:srgbClr val="64748B"/>
                </a:solidFill>
                <a:latin typeface="Noto Sans CJK TC"/>
                <a:ea typeface="Noto Sans CJK TC"/>
              </a:rPr>
              <a:t>   耗時分佈（像趨勢圖）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可計算 avg / med / p95 / p99</a:t>
            </a:r>
          </a:p>
          <a:p>
            <a:pPr algn="l">
              <a:spcAft>
                <a:spcPts val="600"/>
              </a:spcAft>
            </a:pP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適用：統計特定區塊的耗時分佈，例如 DB 查詢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29674" y="7167562"/>
            <a:ext cx="6733953" cy="833437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6279" tIns="0" rIns="236279" bIns="0"/>
          <a:lstStyle/>
          <a:p>
            <a:pPr algn="l"/>
            <a:r>
              <a:rPr sz="1920" b="0">
                <a:solidFill>
                  <a:srgbClr val="E2E8F0"/>
                </a:solidFill>
                <a:latin typeface="Noto Sans Mono CJK TC"/>
                <a:ea typeface="Noto Sans Mono CJK TC"/>
              </a:rPr>
              <a:t>db_query_time.add(duration);</a:t>
            </a:r>
          </a:p>
        </p:txBody>
      </p: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釐清斷言選擇：k6 斷言三部曲完整對照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check() 看單次回應、thresholds 看整場統計、expect() 是 BDD 風格語法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08837" y="1571625"/>
          <a:ext cx="14838322" cy="5238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9069"/>
                <a:gridCol w="4075813"/>
                <a:gridCol w="4075813"/>
                <a:gridCol w="4087627"/>
              </a:tblGrid>
              <a:tr h="1309687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F172A"/>
                          </a:solidFill>
                          <a:latin typeface="Noto Sans CJK TC"/>
                          <a:ea typeface="Noto Sans CJK TC"/>
                        </a:rPr>
                        <a:t/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F172A"/>
                          </a:solidFill>
                          <a:latin typeface="Noto Sans Mono CJK TC"/>
                          <a:ea typeface="Noto Sans Mono CJK TC"/>
                        </a:rPr>
                        <a:t>check()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0F172A"/>
                          </a:solidFill>
                          <a:latin typeface="Noto Sans CJK TC"/>
                          <a:ea typeface="Noto Sans CJK TC"/>
                        </a:rPr>
                        <a:t>請求級軟斷言</a:t>
                      </a:r>
                    </a:p>
                  </a:txBody>
                  <a:tcPr anchor="ctr"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F172A"/>
                          </a:solidFill>
                          <a:latin typeface="Noto Sans Mono CJK TC"/>
                          <a:ea typeface="Noto Sans Mono CJK TC"/>
                        </a:rPr>
                        <a:t>thresholds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0F172A"/>
                          </a:solidFill>
                          <a:latin typeface="Noto Sans CJK TC"/>
                          <a:ea typeface="Noto Sans CJK TC"/>
                        </a:rPr>
                        <a:t>全域效能門檻</a:t>
                      </a:r>
                    </a:p>
                  </a:txBody>
                  <a:tcPr anchor="ctr"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F172A"/>
                          </a:solidFill>
                          <a:latin typeface="Noto Sans Mono CJK TC"/>
                          <a:ea typeface="Noto Sans Mono CJK TC"/>
                        </a:rPr>
                        <a:t>expect()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0F172A"/>
                          </a:solidFill>
                          <a:latin typeface="Noto Sans CJK TC"/>
                          <a:ea typeface="Noto Sans CJK TC"/>
                        </a:rPr>
                        <a:t>BDD 風格斷言</a:t>
                      </a:r>
                    </a:p>
                  </a:txBody>
                  <a:tcPr anchor="ctr">
                    <a:solidFill>
                      <a:srgbClr val="F3E8FF"/>
                    </a:solidFill>
                  </a:tcPr>
                </a:tc>
              </a:tr>
              <a:tr h="1309687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F172A"/>
                          </a:solidFill>
                          <a:latin typeface="Noto Sans CJK TC"/>
                          <a:ea typeface="Noto Sans CJK TC"/>
                        </a:rPr>
                        <a:t>作用層級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單次請求回應</a:t>
                      </a:r>
                    </a:p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（Status / Body）</a:t>
                      </a:r>
                    </a:p>
                  </a:txBody>
                  <a:tcPr anchor="ctr"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整場測試的聚合統計</a:t>
                      </a:r>
                    </a:p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（例如 p95）</a:t>
                      </a:r>
                    </a:p>
                  </a:txBody>
                  <a:tcPr anchor="ctr"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程式碼單元 / 局部邏輯</a:t>
                      </a:r>
                    </a:p>
                  </a:txBody>
                  <a:tcPr anchor="ctr">
                    <a:solidFill>
                      <a:srgbClr val="FAF5FF"/>
                    </a:solidFill>
                  </a:tcPr>
                </a:tc>
              </a:tr>
              <a:tr h="1309687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F172A"/>
                          </a:solidFill>
                          <a:latin typeface="Noto Sans CJK TC"/>
                          <a:ea typeface="Noto Sans CJK TC"/>
                        </a:rPr>
                        <a:t>失敗後果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記錄失敗比率，測試繼續</a:t>
                      </a:r>
                    </a:p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不影響 Exit Code</a:t>
                      </a:r>
                    </a:p>
                  </a:txBody>
                  <a:tcPr anchor="ctr"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門檻未達標</a:t>
                      </a:r>
                    </a:p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→ Exit Code 99</a:t>
                      </a:r>
                    </a:p>
                  </a:txBody>
                  <a:tcPr anchor="ctr"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拋出例外</a:t>
                      </a:r>
                    </a:p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中斷當前迭代</a:t>
                      </a:r>
                    </a:p>
                  </a:txBody>
                  <a:tcPr anchor="ctr">
                    <a:solidFill>
                      <a:srgbClr val="FAF5FF"/>
                    </a:solidFill>
                  </a:tcPr>
                </a:tc>
              </a:tr>
              <a:tr h="1309687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0F172A"/>
                          </a:solidFill>
                          <a:latin typeface="Noto Sans CJK TC"/>
                          <a:ea typeface="Noto Sans CJK TC"/>
                        </a:rPr>
                        <a:t>核心用途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驗證回應內容正確</a:t>
                      </a:r>
                    </a:p>
                  </a:txBody>
                  <a:tcPr anchor="ctr">
                    <a:solidFill>
                      <a:srgbClr val="FEFC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CI/CD 自動卡關</a:t>
                      </a:r>
                    </a:p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（Performance Gate）</a:t>
                      </a:r>
                    </a:p>
                  </a:txBody>
                  <a:tcPr anchor="ctr"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類 Jest / Chai 的</a:t>
                      </a:r>
                    </a:p>
                    <a:p>
                      <a:pPr algn="ctr"/>
                      <a:r>
                        <a:rPr sz="1750" b="0">
                          <a:solidFill>
                            <a:srgbClr val="334155"/>
                          </a:solidFill>
                          <a:latin typeface="Noto Sans CJK TC"/>
                          <a:ea typeface="Noto Sans CJK TC"/>
                        </a:rPr>
                        <a:t>流暢斷言語法</a:t>
                      </a:r>
                    </a:p>
                  </a:txBody>
                  <a:tcPr anchor="ctr">
                    <a:solidFill>
                      <a:srgbClr val="FAF5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08837" y="7072312"/>
            <a:ext cx="14838325" cy="123825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790" tIns="0" rIns="330790" bIns="0"/>
          <a:lstStyle/>
          <a:p>
            <a:pPr algn="l">
              <a:spcAft>
                <a:spcPts val="400"/>
              </a:spcAft>
            </a:pPr>
            <a:r>
              <a:rPr sz="1920" b="1">
                <a:solidFill>
                  <a:srgbClr val="FBBF24"/>
                </a:solidFill>
                <a:latin typeface="Noto Sans CJK TC"/>
                <a:ea typeface="Noto Sans CJK TC"/>
              </a:rPr>
              <a:t>最佳實踐：</a:t>
            </a:r>
            <a:r>
              <a:rPr sz="1920" b="0">
                <a:solidFill>
                  <a:srgbClr val="E2E8F0"/>
                </a:solidFill>
                <a:latin typeface="Noto Sans CJK TC"/>
                <a:ea typeface="Noto Sans CJK TC"/>
              </a:rPr>
              <a:t>用 check() 驗證回應正確性，再在 thresholds 宣告</a:t>
            </a:r>
          </a:p>
          <a:p>
            <a:pPr algn="l">
              <a:spcAft>
                <a:spcPts val="400"/>
              </a:spcAft>
            </a:pPr>
            <a:r>
              <a:rPr sz="2039" b="1">
                <a:solidFill>
                  <a:srgbClr val="38BDF8"/>
                </a:solidFill>
                <a:latin typeface="Noto Sans Mono CJK TC"/>
                <a:ea typeface="Noto Sans Mono CJK TC"/>
              </a:rPr>
              <a:t>'checks': ['rate&gt;0.99']</a:t>
            </a:r>
            <a:r>
              <a:rPr sz="1920" b="0">
                <a:solidFill>
                  <a:srgbClr val="E2E8F0"/>
                </a:solidFill>
                <a:latin typeface="Noto Sans CJK TC"/>
                <a:ea typeface="Noto Sans CJK TC"/>
              </a:rPr>
              <a:t>   ——讓資料錯誤也能讓 CI/CD 卡關</a:t>
            </a:r>
          </a:p>
        </p:txBody>
      </p: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精準控制各 API 門檻：Thresholds 與 Tags 過濾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替請求貼上標籤，就能對不同端點設定不同的門檻，次要端點變慢不會誤殺整條發版流水線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837" y="1595437"/>
            <a:ext cx="7206511" cy="833437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920" b="1">
                <a:solidFill>
                  <a:srgbClr val="0F172A"/>
                </a:solidFill>
                <a:latin typeface="Noto Sans CJK TC"/>
                <a:ea typeface="Noto Sans CJK TC"/>
              </a:rPr>
              <a:t>原始 http_req_duration 數據（所有請求）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244651" y="2452687"/>
            <a:ext cx="0" cy="666750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8837" y="3143250"/>
            <a:ext cx="3071627" cy="10239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560" b="1">
                <a:solidFill>
                  <a:srgbClr val="64748B"/>
                </a:solidFill>
                <a:latin typeface="Noto Sans CJK TC"/>
                <a:ea typeface="Noto Sans CJK TC"/>
              </a:rPr>
              <a:t>Tag</a:t>
            </a:r>
          </a:p>
          <a:p>
            <a:pPr algn="ctr"/>
            <a:r>
              <a:rPr sz="1800" b="1">
                <a:solidFill>
                  <a:srgbClr val="DC2626"/>
                </a:solidFill>
                <a:latin typeface="Noto Sans Mono CJK TC"/>
                <a:ea typeface="Noto Sans Mono CJK TC"/>
              </a:rPr>
              <a:t>{api_type:critical}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44651" y="4191000"/>
            <a:ext cx="0" cy="1404937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08837" y="5619750"/>
            <a:ext cx="3071627" cy="1095375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560" b="1">
                <a:solidFill>
                  <a:srgbClr val="E0E7FF"/>
                </a:solidFill>
                <a:latin typeface="Noto Sans CJK TC"/>
                <a:ea typeface="Noto Sans CJK TC"/>
              </a:rPr>
              <a:t>門檻</a:t>
            </a:r>
          </a:p>
          <a:p>
            <a:pPr algn="ctr"/>
            <a:r>
              <a:rPr sz="2039" b="1">
                <a:solidFill>
                  <a:srgbClr val="FFFFFF"/>
                </a:solidFill>
                <a:latin typeface="Noto Sans Mono CJK TC"/>
                <a:ea typeface="Noto Sans Mono CJK TC"/>
              </a:rPr>
              <a:t>p(95) &lt; 300ms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79534" y="2452687"/>
            <a:ext cx="0" cy="666750"/>
          </a:xfrm>
          <a:prstGeom prst="line">
            <a:avLst/>
          </a:prstGeom>
          <a:ln w="22225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43720" y="3143250"/>
            <a:ext cx="3071627" cy="10239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222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560" b="1">
                <a:solidFill>
                  <a:srgbClr val="64748B"/>
                </a:solidFill>
                <a:latin typeface="Noto Sans CJK TC"/>
                <a:ea typeface="Noto Sans CJK TC"/>
              </a:rPr>
              <a:t>Tag</a:t>
            </a:r>
          </a:p>
          <a:p>
            <a:pPr algn="ctr"/>
            <a:r>
              <a:rPr sz="1800" b="1">
                <a:solidFill>
                  <a:srgbClr val="0F766E"/>
                </a:solidFill>
                <a:latin typeface="Noto Sans Mono CJK TC"/>
                <a:ea typeface="Noto Sans Mono CJK TC"/>
              </a:rPr>
              <a:t>{api_type:background}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79534" y="4191000"/>
            <a:ext cx="0" cy="1404937"/>
          </a:xfrm>
          <a:prstGeom prst="line">
            <a:avLst/>
          </a:prstGeom>
          <a:ln w="22225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43720" y="5619750"/>
            <a:ext cx="3071627" cy="1095375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560" b="1">
                <a:solidFill>
                  <a:srgbClr val="E0E7FF"/>
                </a:solidFill>
                <a:latin typeface="Noto Sans CJK TC"/>
                <a:ea typeface="Noto Sans CJK TC"/>
              </a:rPr>
              <a:t>門檻</a:t>
            </a:r>
          </a:p>
          <a:p>
            <a:pPr algn="ctr"/>
            <a:r>
              <a:rPr sz="2039" b="1">
                <a:solidFill>
                  <a:srgbClr val="FFFFFF"/>
                </a:solidFill>
                <a:latin typeface="Noto Sans Mono CJK TC"/>
                <a:ea typeface="Noto Sans Mono CJK TC"/>
              </a:rPr>
              <a:t>p(95) &lt; 5000ms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837" y="7024687"/>
            <a:ext cx="7206511" cy="123825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9906" tIns="0" rIns="259906" bIns="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B45309"/>
                </a:solidFill>
                <a:latin typeface="Noto Sans CJK TC"/>
                <a:ea typeface="Noto Sans CJK TC"/>
              </a:rPr>
              <a:t>Group 也能過濾：</a:t>
            </a:r>
            <a:r>
              <a:rPr sz="1800" b="1">
                <a:solidFill>
                  <a:srgbClr val="0F172A"/>
                </a:solidFill>
                <a:latin typeface="Noto Sans Mono CJK TC"/>
                <a:ea typeface="Noto Sans Mono CJK TC"/>
              </a:rPr>
              <a:t>{group:::01_核心結帳交易}</a:t>
            </a:r>
          </a:p>
          <a:p>
            <a:pPr algn="l">
              <a:spcAft>
                <a:spcPts val="400"/>
              </a:spcAft>
            </a:pP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用 group() 包起來的整段流程，可以一起設門檻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8883" y="1595437"/>
            <a:ext cx="7348279" cy="66675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9906" tIns="189023" rIns="189023" bIns="141767"/>
          <a:lstStyle/>
          <a:p>
            <a:pPr algn="l">
              <a:lnSpc>
                <a:spcPct val="112000"/>
              </a:lnSpc>
            </a:pPr>
            <a:r>
              <a:rPr sz="1739" b="0">
                <a:solidFill>
                  <a:srgbClr val="C4B5FD"/>
                </a:solidFill>
                <a:latin typeface="Noto Sans Mono CJK TC"/>
                <a:ea typeface="Noto Sans Mono CJK TC"/>
              </a:rPr>
              <a:t>export const </a:t>
            </a:r>
            <a:r>
              <a:rPr sz="1739" b="0">
                <a:solidFill>
                  <a:srgbClr val="E2E8F0"/>
                </a:solidFill>
                <a:latin typeface="Noto Sans Mono CJK TC"/>
                <a:ea typeface="Noto Sans Mono CJK TC"/>
              </a:rPr>
              <a:t>options</a:t>
            </a:r>
            <a:r>
              <a:rPr sz="1739" b="0">
                <a:solidFill>
                  <a:srgbClr val="E2E8F0"/>
                </a:solidFill>
                <a:latin typeface="Noto Sans Mono CJK TC"/>
                <a:ea typeface="Noto Sans Mono CJK TC"/>
              </a:rPr>
              <a:t> = {</a:t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E2E8F0"/>
                </a:solidFill>
                <a:latin typeface="Noto Sans Mono CJK TC"/>
                <a:ea typeface="Noto Sans Mono CJK TC"/>
              </a:rPr>
              <a:t>  thresholds: {</a:t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4ADE80"/>
                </a:solidFill>
                <a:latin typeface="Noto Sans Mono CJK TC"/>
                <a:ea typeface="Noto Sans Mono CJK TC"/>
              </a:rPr>
              <a:t>    'http_req_duration</a:t>
            </a:r>
            <a:r>
              <a:rPr sz="1739" b="0">
                <a:solidFill>
                  <a:srgbClr val="FCA5A5"/>
                </a:solidFill>
                <a:latin typeface="Noto Sans Mono CJK TC"/>
                <a:ea typeface="Noto Sans Mono CJK TC"/>
              </a:rPr>
              <a:t>{api_type:critical}</a:t>
            </a:r>
            <a:r>
              <a:rPr sz="1739" b="0">
                <a:solidFill>
                  <a:srgbClr val="4ADE80"/>
                </a:solidFill>
                <a:latin typeface="Noto Sans Mono CJK TC"/>
                <a:ea typeface="Noto Sans Mono CJK TC"/>
              </a:rPr>
              <a:t>':</a:t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FBBF24"/>
                </a:solidFill>
                <a:latin typeface="Noto Sans Mono CJK TC"/>
                <a:ea typeface="Noto Sans Mono CJK TC"/>
              </a:rPr>
              <a:t>      ['p(95)&lt;300'],</a:t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E2E8F0"/>
                </a:solidFill>
                <a:latin typeface="Noto Sans Mono CJK TC"/>
                <a:ea typeface="Noto Sans Mono CJK TC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4ADE80"/>
                </a:solidFill>
                <a:latin typeface="Noto Sans Mono CJK TC"/>
                <a:ea typeface="Noto Sans Mono CJK TC"/>
              </a:rPr>
              <a:t>    'http_req_duration</a:t>
            </a:r>
            <a:r>
              <a:rPr sz="1739" b="0">
                <a:solidFill>
                  <a:srgbClr val="5EEAD4"/>
                </a:solidFill>
                <a:latin typeface="Noto Sans Mono CJK TC"/>
                <a:ea typeface="Noto Sans Mono CJK TC"/>
              </a:rPr>
              <a:t>{api_type:background}</a:t>
            </a:r>
            <a:r>
              <a:rPr sz="1739" b="0">
                <a:solidFill>
                  <a:srgbClr val="4ADE80"/>
                </a:solidFill>
                <a:latin typeface="Noto Sans Mono CJK TC"/>
                <a:ea typeface="Noto Sans Mono CJK TC"/>
              </a:rPr>
              <a:t>':</a:t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FBBF24"/>
                </a:solidFill>
                <a:latin typeface="Noto Sans Mono CJK TC"/>
                <a:ea typeface="Noto Sans Mono CJK TC"/>
              </a:rPr>
              <a:t>      ['p(95)&lt;5000'],</a:t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E2E8F0"/>
                </a:solidFill>
                <a:latin typeface="Noto Sans Mono CJK TC"/>
                <a:ea typeface="Noto Sans Mono CJK TC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4ADE80"/>
                </a:solidFill>
                <a:latin typeface="Noto Sans Mono CJK TC"/>
                <a:ea typeface="Noto Sans Mono CJK TC"/>
              </a:rPr>
              <a:t>    'http_req_duration</a:t>
            </a:r>
            <a:r>
              <a:rPr sz="1739" b="0">
                <a:solidFill>
                  <a:srgbClr val="FDBA74"/>
                </a:solidFill>
                <a:latin typeface="Noto Sans Mono CJK TC"/>
                <a:ea typeface="Noto Sans Mono CJK TC"/>
              </a:rPr>
              <a:t>{group:::01_核心結帳交易}</a:t>
            </a:r>
            <a:r>
              <a:rPr sz="1739" b="0">
                <a:solidFill>
                  <a:srgbClr val="4ADE80"/>
                </a:solidFill>
                <a:latin typeface="Noto Sans Mono CJK TC"/>
                <a:ea typeface="Noto Sans Mono CJK TC"/>
              </a:rPr>
              <a:t>':</a:t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FBBF24"/>
                </a:solidFill>
                <a:latin typeface="Noto Sans Mono CJK TC"/>
                <a:ea typeface="Noto Sans Mono CJK TC"/>
              </a:rPr>
              <a:t>      ['p(95)&lt;1000'],</a:t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E2E8F0"/>
                </a:solidFill>
                <a:latin typeface="Noto Sans Mono CJK TC"/>
                <a:ea typeface="Noto Sans Mono CJK TC"/>
              </a:rPr>
              <a:t>  },</a:t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E2E8F0"/>
                </a:solidFill>
                <a:latin typeface="Noto Sans Mono CJK TC"/>
                <a:ea typeface="Noto Sans Mono CJK TC"/>
              </a:rPr>
              <a:t>};</a:t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E2E8F0"/>
                </a:solidFill>
                <a:latin typeface="Noto Sans Mono CJK TC"/>
                <a:ea typeface="Noto Sans Mono CJK TC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94A3B8"/>
                </a:solidFill>
                <a:latin typeface="Noto Sans Mono CJK TC"/>
                <a:ea typeface="Noto Sans Mono CJK TC"/>
              </a:rPr>
              <a:t>// 發送請求時貼上標籤</a:t>
            </a:r>
          </a:p>
          <a:p>
            <a:pPr algn="l">
              <a:lnSpc>
                <a:spcPct val="112000"/>
              </a:lnSpc>
            </a:pPr>
            <a:r>
              <a:rPr sz="1739" b="0">
                <a:solidFill>
                  <a:srgbClr val="E2E8F0"/>
                </a:solidFill>
                <a:latin typeface="Noto Sans Mono CJK TC"/>
                <a:ea typeface="Noto Sans Mono CJK TC"/>
              </a:rPr>
              <a:t>http.get(url, { tags: { api_type: 'critical' } });</a:t>
            </a:r>
          </a:p>
        </p:txBody>
      </p: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CI/CD 自動卡關實務：Exit Code 99 傳遞鏈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k6 門檻失敗會回傳 99，但只要 Exit Code 在途中被吃掉，CI 就會亮綠燈放行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837" y="1571625"/>
            <a:ext cx="7301023" cy="6738937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372" y="1714500"/>
            <a:ext cx="6733953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280" b="1">
                <a:solidFill>
                  <a:srgbClr val="DC2626"/>
                </a:solidFill>
                <a:latin typeface="Noto Sans CJK TC"/>
                <a:ea typeface="Noto Sans CJK TC"/>
              </a:rPr>
              <a:t>×  錯誤示範：退出碼被遮蔽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0930" y="2333625"/>
            <a:ext cx="3756837" cy="10239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k6 結束</a:t>
            </a:r>
          </a:p>
          <a:p>
            <a:pPr algn="ctr"/>
            <a:r>
              <a:rPr sz="1560" b="0">
                <a:solidFill>
                  <a:srgbClr val="334155"/>
                </a:solidFill>
                <a:latin typeface="Noto Sans CJK TC"/>
                <a:ea typeface="Noto Sans CJK TC"/>
              </a:rPr>
              <a:t>（Exit Code 99）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59348" y="3381375"/>
            <a:ext cx="0" cy="357187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0930" y="3762375"/>
            <a:ext cx="3756837" cy="10239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後面接著 echo 等指令</a:t>
            </a:r>
          </a:p>
          <a:p>
            <a:pPr algn="ctr"/>
            <a:r>
              <a:rPr sz="1560" b="0">
                <a:solidFill>
                  <a:srgbClr val="334155"/>
                </a:solidFill>
                <a:latin typeface="Noto Sans CJK TC"/>
                <a:ea typeface="Noto Sans CJK TC"/>
              </a:rPr>
              <a:t>最後一個指令成功 → 回傳 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59348" y="4810125"/>
            <a:ext cx="0" cy="357187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80930" y="5191125"/>
            <a:ext cx="3756837" cy="10239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CI/CD Pipeline</a:t>
            </a:r>
          </a:p>
          <a:p>
            <a:pPr algn="ctr"/>
            <a:r>
              <a:rPr sz="1560" b="0">
                <a:solidFill>
                  <a:srgbClr val="334155"/>
                </a:solidFill>
                <a:latin typeface="Noto Sans CJK TC"/>
                <a:ea typeface="Noto Sans CJK TC"/>
              </a:rPr>
              <a:t>顯示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2372" y="6691312"/>
            <a:ext cx="6733953" cy="595312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89023" bIns="0"/>
          <a:lstStyle/>
          <a:p>
            <a:pPr algn="l"/>
            <a:r>
              <a:rPr sz="1560" b="0">
                <a:solidFill>
                  <a:srgbClr val="E2E8F0"/>
                </a:solidFill>
                <a:latin typeface="Noto Sans Mono CJK TC"/>
                <a:ea typeface="Noto Sans Mono CJK TC"/>
              </a:rPr>
              <a:t>$ k6 run test.js; echo "done"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372" y="7453312"/>
            <a:ext cx="6733953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2039" b="1">
                <a:solidFill>
                  <a:srgbClr val="DC2626"/>
                </a:solidFill>
                <a:latin typeface="Noto Sans CJK TC"/>
                <a:ea typeface="Noto Sans CJK TC"/>
              </a:rPr>
              <a:t>未爆彈混入生產環境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46139" y="1571625"/>
            <a:ext cx="7301023" cy="6738937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9674" y="1714500"/>
            <a:ext cx="6733953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280" b="1">
                <a:solidFill>
                  <a:srgbClr val="15803D"/>
                </a:solidFill>
                <a:latin typeface="Noto Sans CJK TC"/>
                <a:ea typeface="Noto Sans CJK TC"/>
              </a:rPr>
              <a:t>✓  正確示範：明確捕捉與傳遞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18232" y="2333625"/>
            <a:ext cx="3756837" cy="857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k6 結束</a:t>
            </a:r>
          </a:p>
          <a:p>
            <a:pPr algn="ctr"/>
            <a:r>
              <a:rPr sz="1560" b="0">
                <a:solidFill>
                  <a:srgbClr val="334155"/>
                </a:solidFill>
                <a:latin typeface="Noto Sans CJK TC"/>
                <a:ea typeface="Noto Sans CJK TC"/>
              </a:rPr>
              <a:t>（Exit Code 99）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96651" y="3214687"/>
            <a:ext cx="0" cy="214313"/>
          </a:xfrm>
          <a:prstGeom prst="line">
            <a:avLst/>
          </a:prstGeom>
          <a:ln w="22225">
            <a:solidFill>
              <a:srgbClr val="15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018232" y="3452812"/>
            <a:ext cx="3756837" cy="857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code=$?</a:t>
            </a:r>
          </a:p>
          <a:p>
            <a:pPr algn="ctr"/>
            <a:r>
              <a:rPr sz="1560" b="0">
                <a:solidFill>
                  <a:srgbClr val="334155"/>
                </a:solidFill>
                <a:latin typeface="Noto Sans CJK TC"/>
                <a:ea typeface="Noto Sans CJK TC"/>
              </a:rPr>
              <a:t>立即捕捉退出碼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96651" y="4333875"/>
            <a:ext cx="0" cy="214312"/>
          </a:xfrm>
          <a:prstGeom prst="line">
            <a:avLst/>
          </a:prstGeom>
          <a:ln w="22225">
            <a:solidFill>
              <a:srgbClr val="15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0018232" y="4572000"/>
            <a:ext cx="3756837" cy="857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exit $code</a:t>
            </a:r>
          </a:p>
          <a:p>
            <a:pPr algn="ctr"/>
            <a:r>
              <a:rPr sz="1560" b="0">
                <a:solidFill>
                  <a:srgbClr val="334155"/>
                </a:solidFill>
                <a:latin typeface="Noto Sans CJK TC"/>
                <a:ea typeface="Noto Sans CJK TC"/>
              </a:rPr>
              <a:t>把 99 傳下去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96651" y="5453062"/>
            <a:ext cx="0" cy="214313"/>
          </a:xfrm>
          <a:prstGeom prst="line">
            <a:avLst/>
          </a:prstGeom>
          <a:ln w="22225">
            <a:solidFill>
              <a:srgbClr val="15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018232" y="5691187"/>
            <a:ext cx="3756837" cy="857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739" b="1">
                <a:solidFill>
                  <a:srgbClr val="0F172A"/>
                </a:solidFill>
                <a:latin typeface="Noto Sans CJK TC"/>
                <a:ea typeface="Noto Sans CJK TC"/>
              </a:rPr>
              <a:t>CI/CD Pipeline</a:t>
            </a:r>
          </a:p>
          <a:p>
            <a:pPr algn="ctr"/>
            <a:r>
              <a:rPr sz="1560" b="0">
                <a:solidFill>
                  <a:srgbClr val="334155"/>
                </a:solidFill>
                <a:latin typeface="Noto Sans CJK TC"/>
                <a:ea typeface="Noto Sans CJK TC"/>
              </a:rPr>
              <a:t>顯示 BLOCKED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29674" y="6691312"/>
            <a:ext cx="6733953" cy="595312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89023" bIns="0"/>
          <a:lstStyle/>
          <a:p>
            <a:pPr algn="l"/>
            <a:r>
              <a:rPr sz="1560" b="0">
                <a:solidFill>
                  <a:srgbClr val="E2E8F0"/>
                </a:solidFill>
                <a:latin typeface="Noto Sans Mono CJK TC"/>
                <a:ea typeface="Noto Sans Mono CJK TC"/>
              </a:rPr>
              <a:t>$ k6 run test.js; code=$?; echo "done"; exit $code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9674" y="7453312"/>
            <a:ext cx="6733953" cy="5953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/>
            <a:r>
              <a:rPr sz="2039" b="1">
                <a:solidFill>
                  <a:srgbClr val="15803D"/>
                </a:solidFill>
                <a:latin typeface="Noto Sans CJK TC"/>
                <a:ea typeface="Noto Sans CJK TC"/>
              </a:rPr>
              <a:t>成功阻擋有效能缺陷的 PR 合併</a:t>
            </a:r>
          </a:p>
        </p:txBody>
      </p: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模組綜合實戰：門檻、熔斷與自訂指標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把自訂指標、Tags、Thresholds 與 abortOnFail 熔斷組裝成一台自動化效能測試引擎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837" y="1571625"/>
            <a:ext cx="10632558" cy="6738937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9906" tIns="212651" rIns="189023" bIns="141767"/>
          <a:lstStyle/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 1  </a:t>
            </a:r>
            <a:r>
              <a:rPr sz="1680" b="0">
                <a:solidFill>
                  <a:srgbClr val="C4B5FD"/>
                </a:solidFill>
                <a:latin typeface="Noto Sans Mono CJK TC"/>
                <a:ea typeface="Noto Sans Mono CJK TC"/>
              </a:rPr>
              <a:t>import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http </a:t>
            </a:r>
            <a:r>
              <a:rPr sz="1680" b="0">
                <a:solidFill>
                  <a:srgbClr val="C4B5FD"/>
                </a:solidFill>
                <a:latin typeface="Noto Sans Mono CJK TC"/>
                <a:ea typeface="Noto Sans Mono CJK TC"/>
              </a:rPr>
              <a:t>from</a:t>
            </a:r>
            <a:r>
              <a:rPr sz="1680" b="0">
                <a:solidFill>
                  <a:srgbClr val="4ADE80"/>
                </a:solidFill>
                <a:latin typeface="Noto Sans Mono CJK TC"/>
                <a:ea typeface="Noto Sans Mono CJK TC"/>
              </a:rPr>
              <a:t> 'k6/http';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 2  </a:t>
            </a:r>
            <a:r>
              <a:rPr sz="1680" b="0">
                <a:solidFill>
                  <a:srgbClr val="C4B5FD"/>
                </a:solidFill>
                <a:latin typeface="Noto Sans Mono CJK TC"/>
                <a:ea typeface="Noto Sans Mono CJK TC"/>
              </a:rPr>
              <a:t>import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{ check } </a:t>
            </a:r>
            <a:r>
              <a:rPr sz="1680" b="0">
                <a:solidFill>
                  <a:srgbClr val="C4B5FD"/>
                </a:solidFill>
                <a:latin typeface="Noto Sans Mono CJK TC"/>
                <a:ea typeface="Noto Sans Mono CJK TC"/>
              </a:rPr>
              <a:t>from</a:t>
            </a:r>
            <a:r>
              <a:rPr sz="1680" b="0">
                <a:solidFill>
                  <a:srgbClr val="4ADE80"/>
                </a:solidFill>
                <a:latin typeface="Noto Sans Mono CJK TC"/>
                <a:ea typeface="Noto Sans Mono CJK TC"/>
              </a:rPr>
              <a:t> 'k6';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 3  </a:t>
            </a:r>
            <a:r>
              <a:rPr sz="1680" b="0">
                <a:solidFill>
                  <a:srgbClr val="C4B5FD"/>
                </a:solidFill>
                <a:latin typeface="Noto Sans Mono CJK TC"/>
                <a:ea typeface="Noto Sans Mono CJK TC"/>
              </a:rPr>
              <a:t>import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{ Rate } </a:t>
            </a:r>
            <a:r>
              <a:rPr sz="1680" b="0">
                <a:solidFill>
                  <a:srgbClr val="C4B5FD"/>
                </a:solidFill>
                <a:latin typeface="Noto Sans Mono CJK TC"/>
                <a:ea typeface="Noto Sans Mono CJK TC"/>
              </a:rPr>
              <a:t>from</a:t>
            </a:r>
            <a:r>
              <a:rPr sz="1680" b="0">
                <a:solidFill>
                  <a:srgbClr val="4ADE80"/>
                </a:solidFill>
                <a:latin typeface="Noto Sans Mono CJK TC"/>
                <a:ea typeface="Noto Sans Mono CJK TC"/>
              </a:rPr>
              <a:t> 'k6/metrics';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 4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 5  </a:t>
            </a:r>
            <a:r>
              <a:rPr sz="1680" b="0">
                <a:solidFill>
                  <a:srgbClr val="C4B5FD"/>
                </a:solidFill>
                <a:latin typeface="Noto Sans Mono CJK TC"/>
                <a:ea typeface="Noto Sans Mono CJK TC"/>
              </a:rPr>
              <a:t>const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bizSuccess = </a:t>
            </a:r>
            <a:r>
              <a:rPr sz="1680" b="0">
                <a:solidFill>
                  <a:srgbClr val="C4B5FD"/>
                </a:solidFill>
                <a:latin typeface="Noto Sans Mono CJK TC"/>
                <a:ea typeface="Noto Sans Mono CJK TC"/>
              </a:rPr>
              <a:t>new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Rate(</a:t>
            </a:r>
            <a:r>
              <a:rPr sz="1680" b="0">
                <a:solidFill>
                  <a:srgbClr val="4ADE80"/>
                </a:solidFill>
                <a:latin typeface="Noto Sans Mono CJK TC"/>
                <a:ea typeface="Noto Sans Mono CJK TC"/>
              </a:rPr>
              <a:t>'business_transaction_success'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);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 6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 7  </a:t>
            </a:r>
            <a:r>
              <a:rPr sz="1680" b="0">
                <a:solidFill>
                  <a:srgbClr val="C4B5FD"/>
                </a:solidFill>
                <a:latin typeface="Noto Sans Mono CJK TC"/>
                <a:ea typeface="Noto Sans Mono CJK TC"/>
              </a:rPr>
              <a:t>export const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options = {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 8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 thresholds: {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 9  </a:t>
            </a:r>
            <a:r>
              <a:rPr sz="1680" b="0">
                <a:solidFill>
                  <a:srgbClr val="4ADE80"/>
                </a:solidFill>
                <a:latin typeface="Noto Sans Mono CJK TC"/>
                <a:ea typeface="Noto Sans Mono CJK TC"/>
              </a:rPr>
              <a:t>    'http_req_duration{api_type:critical}'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: [</a:t>
            </a:r>
            <a:r>
              <a:rPr sz="1680" b="0">
                <a:solidFill>
                  <a:srgbClr val="FBBF24"/>
                </a:solidFill>
                <a:latin typeface="Noto Sans Mono CJK TC"/>
                <a:ea typeface="Noto Sans Mono CJK TC"/>
              </a:rPr>
              <a:t>'p(95)&lt;300'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],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10  </a:t>
            </a:r>
            <a:r>
              <a:rPr sz="1680" b="0">
                <a:solidFill>
                  <a:srgbClr val="4ADE80"/>
                </a:solidFill>
                <a:latin typeface="Noto Sans Mono CJK TC"/>
                <a:ea typeface="Noto Sans Mono CJK TC"/>
              </a:rPr>
              <a:t>    'business_transaction_success'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: [{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11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     threshold: </a:t>
            </a:r>
            <a:r>
              <a:rPr sz="1680" b="0">
                <a:solidFill>
                  <a:srgbClr val="FBBF24"/>
                </a:solidFill>
                <a:latin typeface="Noto Sans Mono CJK TC"/>
                <a:ea typeface="Noto Sans Mono CJK TC"/>
              </a:rPr>
              <a:t>'rate&gt;=0.95'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,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12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     abortOnFail: </a:t>
            </a:r>
            <a:r>
              <a:rPr sz="1680" b="0">
                <a:solidFill>
                  <a:srgbClr val="C4B5FD"/>
                </a:solidFill>
                <a:latin typeface="Noto Sans Mono CJK TC"/>
                <a:ea typeface="Noto Sans Mono CJK TC"/>
              </a:rPr>
              <a:t>true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,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13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     delayAbortEval: </a:t>
            </a:r>
            <a:r>
              <a:rPr sz="1680" b="0">
                <a:solidFill>
                  <a:srgbClr val="FBBF24"/>
                </a:solidFill>
                <a:latin typeface="Noto Sans Mono CJK TC"/>
                <a:ea typeface="Noto Sans Mono CJK TC"/>
              </a:rPr>
              <a:t>'5s'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,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14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   }],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15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 },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16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};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17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18  </a:t>
            </a:r>
            <a:r>
              <a:rPr sz="1680" b="0">
                <a:solidFill>
                  <a:srgbClr val="C4B5FD"/>
                </a:solidFill>
                <a:latin typeface="Noto Sans Mono CJK TC"/>
                <a:ea typeface="Noto Sans Mono CJK TC"/>
              </a:rPr>
              <a:t>export default function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() {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19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 const res = http.get(url, { tags: { api_type: </a:t>
            </a:r>
            <a:r>
              <a:rPr sz="1680" b="0">
                <a:solidFill>
                  <a:srgbClr val="4ADE80"/>
                </a:solidFill>
                <a:latin typeface="Noto Sans Mono CJK TC"/>
                <a:ea typeface="Noto Sans Mono CJK TC"/>
              </a:rPr>
              <a:t>'critical'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} });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20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  bizSuccess.add(check(res, { </a:t>
            </a:r>
            <a:r>
              <a:rPr sz="1680" b="0">
                <a:solidFill>
                  <a:srgbClr val="4ADE80"/>
                </a:solidFill>
                <a:latin typeface="Noto Sans Mono CJK TC"/>
                <a:ea typeface="Noto Sans Mono CJK TC"/>
              </a:rPr>
              <a:t>'status 200'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: (r) =&gt; r.status === 200 }));</a:t>
            </a:r>
          </a:p>
          <a:p>
            <a:pPr algn="l">
              <a:lnSpc>
                <a:spcPct val="112000"/>
              </a:lnSpc>
            </a:pPr>
            <a:r>
              <a:rPr sz="1680" b="0">
                <a:solidFill>
                  <a:srgbClr val="94A3B8"/>
                </a:solidFill>
                <a:latin typeface="Noto Sans Mono CJK TC"/>
                <a:ea typeface="Noto Sans Mono CJK TC"/>
              </a:rPr>
              <a:t>21  </a:t>
            </a:r>
            <a:r>
              <a:rPr sz="1680" b="0">
                <a:solidFill>
                  <a:srgbClr val="E2E8F0"/>
                </a:solidFill>
                <a:latin typeface="Noto Sans Mono CJK TC"/>
                <a:ea typeface="Noto Sans Mono CJK TC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13953" y="1666875"/>
            <a:ext cx="3733209" cy="14049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2651" tIns="0" rIns="141767" bIns="0"/>
          <a:lstStyle/>
          <a:p>
            <a:pPr algn="l">
              <a:spcAft>
                <a:spcPts val="100"/>
              </a:spcAft>
            </a:pPr>
            <a:r>
              <a:rPr sz="1440" b="1">
                <a:solidFill>
                  <a:srgbClr val="64748B"/>
                </a:solidFill>
                <a:latin typeface="Noto Sans Mono CJK TC"/>
                <a:ea typeface="Noto Sans Mono CJK TC"/>
              </a:rPr>
              <a:t>Line 3・5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宣告 Rate 自訂指標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1365023" y="2369343"/>
            <a:ext cx="425302" cy="50733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1813953" y="3357562"/>
            <a:ext cx="3733209" cy="14049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2651" tIns="0" rIns="141767" bIns="0"/>
          <a:lstStyle/>
          <a:p>
            <a:pPr algn="l">
              <a:spcAft>
                <a:spcPts val="100"/>
              </a:spcAft>
            </a:pPr>
            <a:r>
              <a:rPr sz="1440" b="1">
                <a:solidFill>
                  <a:srgbClr val="64748B"/>
                </a:solidFill>
                <a:latin typeface="Noto Sans Mono CJK TC"/>
                <a:ea typeface="Noto Sans Mono CJK TC"/>
              </a:rPr>
              <a:t>Line 9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Tags 過濾門檻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未達標 → Exit Code 99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1365023" y="4060031"/>
            <a:ext cx="425302" cy="251822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813953" y="5048250"/>
            <a:ext cx="3733209" cy="14049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2651" tIns="0" rIns="141767" bIns="0"/>
          <a:lstStyle/>
          <a:p>
            <a:pPr algn="l">
              <a:spcAft>
                <a:spcPts val="100"/>
              </a:spcAft>
            </a:pPr>
            <a:r>
              <a:rPr sz="1440" b="1">
                <a:solidFill>
                  <a:srgbClr val="64748B"/>
                </a:solidFill>
                <a:latin typeface="Noto Sans Mono CJK TC"/>
                <a:ea typeface="Noto Sans Mono CJK TC"/>
              </a:rPr>
              <a:t>Line 10–14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abortOnFail 即時熔斷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delayAbortEval 暖機寬限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365023" y="5172960"/>
            <a:ext cx="425302" cy="577758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1813953" y="6738937"/>
            <a:ext cx="3733209" cy="140493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2651" tIns="0" rIns="141767" bIns="0"/>
          <a:lstStyle/>
          <a:p>
            <a:pPr algn="l">
              <a:spcAft>
                <a:spcPts val="100"/>
              </a:spcAft>
            </a:pPr>
            <a:r>
              <a:rPr sz="1440" b="1">
                <a:solidFill>
                  <a:srgbClr val="64748B"/>
                </a:solidFill>
                <a:latin typeface="Noto Sans Mono CJK TC"/>
                <a:ea typeface="Noto Sans Mono CJK TC"/>
              </a:rPr>
              <a:t>Line 19・20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貼標籤＋check 結果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0F172A"/>
                </a:solidFill>
                <a:latin typeface="Noto Sans CJK TC"/>
                <a:ea typeface="Noto Sans CJK TC"/>
              </a:rPr>
              <a:t>寫入業務成功率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365023" y="7325729"/>
            <a:ext cx="425302" cy="115677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837" y="333375"/>
            <a:ext cx="14838325" cy="6667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TC"/>
                <a:ea typeface="Noto Sans CJK TC"/>
              </a:rPr>
              <a:t>Module 3 實作練習：打造你的自動化防線 (Lab Guide)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837" y="1000125"/>
            <a:ext cx="14838325" cy="357187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TC"/>
                <a:ea typeface="Noto Sans CJK TC"/>
              </a:rPr>
              <a:t>同一支腳本 k6/demos/ch3_quality_gates_exit99.js，靠環境變數切出三種情境（目標：QuickPizza）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837" y="1595437"/>
            <a:ext cx="14838325" cy="18573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2372" y="1738312"/>
            <a:ext cx="14271255" cy="404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160" b="1">
                <a:solidFill>
                  <a:srgbClr val="4F46E5"/>
                </a:solidFill>
                <a:latin typeface="Noto Sans CJK TC"/>
                <a:ea typeface="Noto Sans CJK TC"/>
              </a:rPr>
              <a:t>任務一：通過情境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2372" y="2214562"/>
            <a:ext cx="14271255" cy="547687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89023" bIns="0"/>
          <a:lstStyle/>
          <a:p>
            <a:pPr algn="l"/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$ k6 run -e FAIL_SLO=false k6/demos/ch3_quality_gates_exit99.js ; echo "CI Exit Code: $?"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372" y="2857500"/>
            <a:ext cx="14271255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80" b="1">
                <a:solidFill>
                  <a:srgbClr val="B45309"/>
                </a:solidFill>
                <a:latin typeface="Noto Sans CJK TC"/>
                <a:ea typeface="Noto Sans CJK TC"/>
              </a:rPr>
              <a:t>觀察：</a:t>
            </a: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觀察 Tags / Group 各自的 p95 與四大自訂指標；用 5 步驟判讀這份摘要 → Exit Code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837" y="3595687"/>
            <a:ext cx="14838325" cy="18573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2372" y="3738562"/>
            <a:ext cx="14271255" cy="404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160" b="1">
                <a:solidFill>
                  <a:srgbClr val="4F46E5"/>
                </a:solidFill>
                <a:latin typeface="Noto Sans CJK TC"/>
                <a:ea typeface="Noto Sans CJK TC"/>
              </a:rPr>
              <a:t>任務二：門檻違規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2372" y="4214812"/>
            <a:ext cx="14271255" cy="547687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89023" bIns="0"/>
          <a:lstStyle/>
          <a:p>
            <a:pPr algn="l"/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$ k6 run -e FAIL_SLO=true k6/demos/ch3_quality_gates_exit99.js ; echo "CI Exit Code: $?"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372" y="4857750"/>
            <a:ext cx="14271255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80" b="1">
                <a:solidFill>
                  <a:srgbClr val="B45309"/>
                </a:solidFill>
                <a:latin typeface="Noto Sans CJK TC"/>
                <a:ea typeface="Noto Sans CJK TC"/>
              </a:rPr>
              <a:t>觀察：</a:t>
            </a: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只有 critical 端點打紅叉，background 仍是綠的 → Exit Code 99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837" y="5595937"/>
            <a:ext cx="14838325" cy="18573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2372" y="5738812"/>
            <a:ext cx="14271255" cy="40481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2160" b="1">
                <a:solidFill>
                  <a:srgbClr val="4F46E5"/>
                </a:solidFill>
                <a:latin typeface="Noto Sans CJK TC"/>
                <a:ea typeface="Noto Sans CJK TC"/>
              </a:rPr>
              <a:t>任務三：即時熔斷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2372" y="6215062"/>
            <a:ext cx="14271255" cy="547687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9023" tIns="0" rIns="189023" bIns="0"/>
          <a:lstStyle/>
          <a:p>
            <a:pPr algn="l"/>
            <a:r>
              <a:rPr sz="1620" b="0">
                <a:solidFill>
                  <a:srgbClr val="E2E8F0"/>
                </a:solidFill>
                <a:latin typeface="Noto Sans Mono CJK TC"/>
                <a:ea typeface="Noto Sans Mono CJK TC"/>
              </a:rPr>
              <a:t>$ k6 run -e ABORT_TEST=true k6/demos/ch3_quality_gates_exit99.js ; echo "CI Exit Code: $?"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372" y="6858000"/>
            <a:ext cx="14271255" cy="47625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/>
            <a:r>
              <a:rPr sz="1680" b="1">
                <a:solidFill>
                  <a:srgbClr val="B45309"/>
                </a:solidFill>
                <a:latin typeface="Noto Sans CJK TC"/>
                <a:ea typeface="Noto Sans CJK TC"/>
              </a:rPr>
              <a:t>觀察：</a:t>
            </a:r>
            <a:r>
              <a:rPr sz="1680" b="0">
                <a:solidFill>
                  <a:srgbClr val="334155"/>
                </a:solidFill>
                <a:latin typeface="Noto Sans CJK TC"/>
                <a:ea typeface="Noto Sans CJK TC"/>
              </a:rPr>
              <a:t>abortOnFail 觸發，測試在幾秒內提前中止 → Exit Code 99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3023" y="7715250"/>
            <a:ext cx="7749953" cy="690562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 w="254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2400" b="1">
                <a:solidFill>
                  <a:srgbClr val="FBBF24"/>
                </a:solidFill>
                <a:latin typeface="Noto Sans CJK TC"/>
                <a:ea typeface="Noto Sans CJK TC"/>
              </a:rPr>
              <a:t>準備好你的 Terminal，我們實作見！</a:t>
            </a:r>
          </a:p>
        </p:txBody>
      </p:sp>
      <p:sp>
        <p:nvSpPr>
          <p:cNvPr id="3" name="Codelabs_Link_Badge">
            <a:hlinkClick r:id="rId2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1E293B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2563EB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