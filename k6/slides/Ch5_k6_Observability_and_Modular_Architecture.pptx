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7" r:id="rId18"/>
    <p:sldId id="268" r:id="rId20"/>
    <p:sldId id="269" r:id="rId21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0.5</c:v>
                </c:pt>
                <c:pt idx="1">
                  <c:v>1.3</c:v>
                </c:pt>
                <c:pt idx="2">
                  <c:v>2.1</c:v>
                </c:pt>
                <c:pt idx="3">
                  <c:v>2.9000000000000004</c:v>
                </c:pt>
                <c:pt idx="4">
                  <c:v>3.7</c:v>
                </c:pt>
                <c:pt idx="5">
                  <c:v>4.5</c:v>
                </c:pt>
                <c:pt idx="6">
                  <c:v>5.300000000000001</c:v>
                </c:pt>
                <c:pt idx="7">
                  <c:v>6.1000000000000005</c:v>
                </c:pt>
                <c:pt idx="8">
                  <c:v>6.9</c:v>
                </c:pt>
                <c:pt idx="9">
                  <c:v>7.7</c:v>
                </c:pt>
                <c:pt idx="10">
                  <c:v>8.5</c:v>
                </c:pt>
                <c:pt idx="11">
                  <c:v>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0.2</c:v>
                </c:pt>
                <c:pt idx="1">
                  <c:v>1.0</c:v>
                </c:pt>
                <c:pt idx="2">
                  <c:v>1.8</c:v>
                </c:pt>
                <c:pt idx="3">
                  <c:v>2.6000000000000005</c:v>
                </c:pt>
                <c:pt idx="4">
                  <c:v>3.4000000000000004</c:v>
                </c:pt>
                <c:pt idx="5">
                  <c:v>4.2</c:v>
                </c:pt>
                <c:pt idx="6">
                  <c:v>5.000000000000001</c:v>
                </c:pt>
                <c:pt idx="7">
                  <c:v>5.800000000000001</c:v>
                </c:pt>
                <c:pt idx="8">
                  <c:v>6.6000000000000005</c:v>
                </c:pt>
                <c:pt idx="9">
                  <c:v>7.4</c:v>
                </c:pt>
                <c:pt idx="10">
                  <c:v>8.2</c:v>
                </c:pt>
                <c:pt idx="11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0.5</c:v>
                </c:pt>
                <c:pt idx="1">
                  <c:v>1.3</c:v>
                </c:pt>
                <c:pt idx="2">
                  <c:v>2.1</c:v>
                </c:pt>
                <c:pt idx="3">
                  <c:v>2.9000000000000004</c:v>
                </c:pt>
                <c:pt idx="4">
                  <c:v>3.7</c:v>
                </c:pt>
                <c:pt idx="5">
                  <c:v>4.5</c:v>
                </c:pt>
                <c:pt idx="6">
                  <c:v>5.300000000000001</c:v>
                </c:pt>
                <c:pt idx="7">
                  <c:v>6.1000000000000005</c:v>
                </c:pt>
                <c:pt idx="8">
                  <c:v>6.9</c:v>
                </c:pt>
                <c:pt idx="9">
                  <c:v>7.7</c:v>
                </c:pt>
                <c:pt idx="10">
                  <c:v>8.5</c:v>
                </c:pt>
                <c:pt idx="11">
                  <c:v>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0.2</c:v>
                </c:pt>
                <c:pt idx="1">
                  <c:v>1.0</c:v>
                </c:pt>
                <c:pt idx="2">
                  <c:v>1.8</c:v>
                </c:pt>
                <c:pt idx="3">
                  <c:v>2.6000000000000005</c:v>
                </c:pt>
                <c:pt idx="4">
                  <c:v>3.4000000000000004</c:v>
                </c:pt>
                <c:pt idx="5">
                  <c:v>4.2</c:v>
                </c:pt>
                <c:pt idx="6">
                  <c:v>5.000000000000001</c:v>
                </c:pt>
                <c:pt idx="7">
                  <c:v>5.8</c:v>
                </c:pt>
                <c:pt idx="8">
                  <c:v>5.8</c:v>
                </c:pt>
                <c:pt idx="9">
                  <c:v>5.8</c:v>
                </c:pt>
                <c:pt idx="10">
                  <c:v>5.8</c:v>
                </c:pt>
                <c:pt idx="11">
                  <c:v>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2.6</c:v>
                </c:pt>
                <c:pt idx="8">
                  <c:v>3.8</c:v>
                </c:pt>
                <c:pt idx="9">
                  <c:v>5.0</c:v>
                </c:pt>
                <c:pt idx="10">
                  <c:v>6.2</c:v>
                </c:pt>
                <c:pt idx="11">
                  <c:v>7.4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0.4</c:v>
                </c:pt>
                <c:pt idx="1">
                  <c:v>1.2000000000000002</c:v>
                </c:pt>
                <c:pt idx="2">
                  <c:v>2.0</c:v>
                </c:pt>
                <c:pt idx="3">
                  <c:v>2.8000000000000003</c:v>
                </c:pt>
                <c:pt idx="4">
                  <c:v>3.6</c:v>
                </c:pt>
                <c:pt idx="5">
                  <c:v>4.4</c:v>
                </c:pt>
                <c:pt idx="6">
                  <c:v>5.200000000000001</c:v>
                </c:pt>
                <c:pt idx="7">
                  <c:v>4.0</c:v>
                </c:pt>
                <c:pt idx="8">
                  <c:v>3.2</c:v>
                </c:pt>
                <c:pt idx="9">
                  <c:v>2.8</c:v>
                </c:pt>
                <c:pt idx="10">
                  <c:v>2.6</c:v>
                </c:pt>
                <c:pt idx="11">
                  <c:v>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8.5</c:v>
                </c:pt>
                <c:pt idx="8">
                  <c:v>9.4</c:v>
                </c:pt>
                <c:pt idx="9">
                  <c:v>9.6</c:v>
                </c:pt>
                <c:pt idx="10">
                  <c:v>9.7</c:v>
                </c:pt>
                <c:pt idx="11">
                  <c:v>9.7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錯誤率</c:v>
                </c:pt>
              </c:strCache>
            </c:strRef>
          </c:tx>
          <c:spPr>
            <a:ln w="34925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0.1</c:v>
                </c:pt>
                <c:pt idx="6">
                  <c:v>0.1</c:v>
                </c:pt>
                <c:pt idx="7">
                  <c:v>4.5</c:v>
                </c:pt>
                <c:pt idx="8">
                  <c:v>6.5</c:v>
                </c:pt>
                <c:pt idx="9">
                  <c:v>7.0</c:v>
                </c:pt>
                <c:pt idx="10">
                  <c:v>7.2</c:v>
                </c:pt>
                <c:pt idx="11">
                  <c:v>7.3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P90</c:v>
                </c:pt>
              </c:strCache>
            </c:strRef>
          </c:tx>
          <c:spPr>
            <a:ln w="25400">
              <a:solidFill>
                <a:srgbClr val="9AA0A6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1.8</c:v>
                </c:pt>
                <c:pt idx="1">
                  <c:v>1.8</c:v>
                </c:pt>
                <c:pt idx="2">
                  <c:v>1.8</c:v>
                </c:pt>
                <c:pt idx="3">
                  <c:v>1.8</c:v>
                </c:pt>
                <c:pt idx="4">
                  <c:v>1.8</c:v>
                </c:pt>
                <c:pt idx="5">
                  <c:v>1.8</c:v>
                </c:pt>
                <c:pt idx="6">
                  <c:v>1.8</c:v>
                </c:pt>
                <c:pt idx="7">
                  <c:v>1.8</c:v>
                </c:pt>
                <c:pt idx="8">
                  <c:v>1.8</c:v>
                </c:pt>
                <c:pt idx="9">
                  <c:v>1.8</c:v>
                </c:pt>
                <c:pt idx="10">
                  <c:v>1.8</c:v>
                </c:pt>
                <c:pt idx="11">
                  <c:v>1.8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2.6</c:v>
                </c:pt>
                <c:pt idx="1">
                  <c:v>2.65</c:v>
                </c:pt>
                <c:pt idx="2">
                  <c:v>2.7</c:v>
                </c:pt>
                <c:pt idx="3">
                  <c:v>2.75</c:v>
                </c:pt>
                <c:pt idx="4">
                  <c:v>2.8000000000000003</c:v>
                </c:pt>
                <c:pt idx="5">
                  <c:v>2.85</c:v>
                </c:pt>
                <c:pt idx="6">
                  <c:v>2.9000000000000004</c:v>
                </c:pt>
                <c:pt idx="7">
                  <c:v>2.95</c:v>
                </c:pt>
                <c:pt idx="8">
                  <c:v>3.0</c:v>
                </c:pt>
                <c:pt idx="9">
                  <c:v>3.0500000000000003</c:v>
                </c:pt>
                <c:pt idx="10">
                  <c:v>3.1</c:v>
                </c:pt>
                <c:pt idx="11">
                  <c:v>3.1500000000000004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P99</c:v>
                </c:pt>
              </c:strCache>
            </c:strRef>
          </c:tx>
          <c:spPr>
            <a:ln w="34925">
              <a:solidFill>
                <a:srgbClr val="FB8C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3.4</c:v>
                </c:pt>
                <c:pt idx="1">
                  <c:v>3.4</c:v>
                </c:pt>
                <c:pt idx="2">
                  <c:v>3.4</c:v>
                </c:pt>
                <c:pt idx="3">
                  <c:v>3.4</c:v>
                </c:pt>
                <c:pt idx="4">
                  <c:v>3.4</c:v>
                </c:pt>
                <c:pt idx="5">
                  <c:v>4.2</c:v>
                </c:pt>
                <c:pt idx="6">
                  <c:v>5.2</c:v>
                </c:pt>
                <c:pt idx="7">
                  <c:v>6.1</c:v>
                </c:pt>
                <c:pt idx="8">
                  <c:v>7.0</c:v>
                </c:pt>
                <c:pt idx="9">
                  <c:v>7.9</c:v>
                </c:pt>
                <c:pt idx="10">
                  <c:v>8.8</c:v>
                </c:pt>
                <c:pt idx="11">
                  <c:v>9.6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6.0</c:v>
                </c:pt>
                <c:pt idx="3">
                  <c:v>6.0</c:v>
                </c:pt>
                <c:pt idx="4">
                  <c:v>6.0</c:v>
                </c:pt>
                <c:pt idx="5">
                  <c:v>6.0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6.0</c:v>
                </c:pt>
                <c:pt idx="10">
                  <c:v>6.0</c:v>
                </c:pt>
                <c:pt idx="11">
                  <c:v>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1.7</c:v>
                </c:pt>
                <c:pt idx="2">
                  <c:v>1.9</c:v>
                </c:pt>
                <c:pt idx="3">
                  <c:v>2.1</c:v>
                </c:pt>
                <c:pt idx="4">
                  <c:v>2.4</c:v>
                </c:pt>
                <c:pt idx="5">
                  <c:v>2.8</c:v>
                </c:pt>
                <c:pt idx="6">
                  <c:v>3.2</c:v>
                </c:pt>
                <c:pt idx="7">
                  <c:v>3.7</c:v>
                </c:pt>
                <c:pt idx="8">
                  <c:v>4.2</c:v>
                </c:pt>
                <c:pt idx="9">
                  <c:v>4.8</c:v>
                </c:pt>
                <c:pt idx="10">
                  <c:v>5.4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6.0</c:v>
                </c:pt>
                <c:pt idx="3">
                  <c:v>6.0</c:v>
                </c:pt>
                <c:pt idx="4">
                  <c:v>6.0</c:v>
                </c:pt>
                <c:pt idx="5">
                  <c:v>6.0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6.0</c:v>
                </c:pt>
                <c:pt idx="10">
                  <c:v>6.0</c:v>
                </c:pt>
                <c:pt idx="11">
                  <c:v>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7.0</c:v>
                </c:pt>
                <c:pt idx="3">
                  <c:v>1.6</c:v>
                </c:pt>
                <c:pt idx="4">
                  <c:v>1.6</c:v>
                </c:pt>
                <c:pt idx="5">
                  <c:v>7.2</c:v>
                </c:pt>
                <c:pt idx="6">
                  <c:v>1.6</c:v>
                </c:pt>
                <c:pt idx="7">
                  <c:v>1.6</c:v>
                </c:pt>
                <c:pt idx="8">
                  <c:v>7.0</c:v>
                </c:pt>
                <c:pt idx="9">
                  <c:v>1.6</c:v>
                </c:pt>
                <c:pt idx="10">
                  <c:v>1.6</c:v>
                </c:pt>
                <c:pt idx="11">
                  <c:v>7.1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VUs</c:v>
                </c:pt>
              </c:strCache>
            </c:strRef>
          </c:tx>
          <c:spPr>
            <a:ln w="25400">
              <a:solidFill>
                <a:srgbClr val="66FCF1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6.0</c:v>
                </c:pt>
                <c:pt idx="3">
                  <c:v>6.0</c:v>
                </c:pt>
                <c:pt idx="4">
                  <c:v>6.0</c:v>
                </c:pt>
                <c:pt idx="5">
                  <c:v>6.0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6.0</c:v>
                </c:pt>
                <c:pt idx="10">
                  <c:v>6.0</c:v>
                </c:pt>
                <c:pt idx="11">
                  <c:v>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錯誤率</c:v>
                </c:pt>
              </c:strCache>
            </c:strRef>
          </c:tx>
          <c:spPr>
            <a:ln w="34925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2.2</c:v>
                </c:pt>
                <c:pt idx="5">
                  <c:v>2.2</c:v>
                </c:pt>
                <c:pt idx="6">
                  <c:v>2.2</c:v>
                </c:pt>
                <c:pt idx="7">
                  <c:v>4.4</c:v>
                </c:pt>
                <c:pt idx="8">
                  <c:v>4.4</c:v>
                </c:pt>
                <c:pt idx="9">
                  <c:v>4.4</c:v>
                </c:pt>
                <c:pt idx="10">
                  <c:v>6.8</c:v>
                </c:pt>
                <c:pt idx="11">
                  <c:v>6.8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RPS</c:v>
                </c:pt>
              </c:strCache>
            </c:strRef>
          </c:tx>
          <c:spPr>
            <a:ln w="25400">
              <a:solidFill>
                <a:srgbClr val="BB86FC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</c:v>
                </c:pt>
                <c:pt idx="1">
                  <c:v>6.7</c:v>
                </c:pt>
                <c:pt idx="2">
                  <c:v>6.4</c:v>
                </c:pt>
                <c:pt idx="3">
                  <c:v>6.1</c:v>
                </c:pt>
                <c:pt idx="4">
                  <c:v>5.8</c:v>
                </c:pt>
                <c:pt idx="5">
                  <c:v>5.5</c:v>
                </c:pt>
                <c:pt idx="6">
                  <c:v>5.2</c:v>
                </c:pt>
                <c:pt idx="7">
                  <c:v>4.9</c:v>
                </c:pt>
                <c:pt idx="8">
                  <c:v>4.6</c:v>
                </c:pt>
                <c:pt idx="9">
                  <c:v>4.300000000000001</c:v>
                </c:pt>
                <c:pt idx="10">
                  <c:v>4.0</c:v>
                </c:pt>
                <c:pt idx="11">
                  <c:v>3.7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blocked</c:v>
                </c:pt>
              </c:strCache>
            </c:strRef>
          </c:tx>
          <c:spPr>
            <a:ln w="34925">
              <a:solidFill>
                <a:srgbClr val="80CBC4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0.4</c:v>
                </c:pt>
                <c:pt idx="1">
                  <c:v>0.75</c:v>
                </c:pt>
                <c:pt idx="2">
                  <c:v>1.1</c:v>
                </c:pt>
                <c:pt idx="3">
                  <c:v>1.4499999999999997</c:v>
                </c:pt>
                <c:pt idx="4">
                  <c:v>1.7999999999999998</c:v>
                </c:pt>
                <c:pt idx="5">
                  <c:v>2.15</c:v>
                </c:pt>
                <c:pt idx="6">
                  <c:v>2.4999999999999996</c:v>
                </c:pt>
                <c:pt idx="7">
                  <c:v>2.8499999999999996</c:v>
                </c:pt>
                <c:pt idx="8">
                  <c:v>3.1999999999999997</c:v>
                </c:pt>
                <c:pt idx="9">
                  <c:v>3.55</c:v>
                </c:pt>
                <c:pt idx="10">
                  <c:v>3.9</c:v>
                </c:pt>
                <c:pt idx="11">
                  <c:v>4.25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3.0</c:v>
                </c:pt>
                <c:pt idx="1">
                  <c:v>3.36</c:v>
                </c:pt>
                <c:pt idx="2">
                  <c:v>3.7199999999999998</c:v>
                </c:pt>
                <c:pt idx="3">
                  <c:v>4.08</c:v>
                </c:pt>
                <c:pt idx="4">
                  <c:v>4.4399999999999995</c:v>
                </c:pt>
                <c:pt idx="5">
                  <c:v>4.8</c:v>
                </c:pt>
                <c:pt idx="6">
                  <c:v>5.16</c:v>
                </c:pt>
                <c:pt idx="7">
                  <c:v>5.52</c:v>
                </c:pt>
                <c:pt idx="8">
                  <c:v>5.88</c:v>
                </c:pt>
                <c:pt idx="9">
                  <c:v>6.24</c:v>
                </c:pt>
                <c:pt idx="10">
                  <c:v>6.6</c:v>
                </c:pt>
                <c:pt idx="11">
                  <c:v>6.96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門檻 p(95)&lt;800</c:v>
                </c:pt>
              </c:strCache>
            </c:strRef>
          </c:tx>
          <c:spPr>
            <a:ln w="19050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8.0</c:v>
                </c:pt>
                <c:pt idx="1">
                  <c:v>8.0</c:v>
                </c:pt>
                <c:pt idx="2">
                  <c:v>8.0</c:v>
                </c:pt>
                <c:pt idx="3">
                  <c:v>8.0</c:v>
                </c:pt>
                <c:pt idx="4">
                  <c:v>8.0</c:v>
                </c:pt>
                <c:pt idx="5">
                  <c:v>8.0</c:v>
                </c:pt>
                <c:pt idx="6">
                  <c:v>8.0</c:v>
                </c:pt>
                <c:pt idx="7">
                  <c:v>8.0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種型態：① 健康線性 ② 飽和平台（RPS 走平＋P95 爬升，拐點即容量）③ 崩潰懸崖（P95 與錯誤率同時暴衝、RPS 下降）④ 尾巴張開（只有 P99 發散）⑤ 緩慢爬坡（負載不變延遲上升，看 P50 是否一起爬）⑥ 週期鋸齒（排程、GC、TTL）⑦ 錯誤率階梯（有限資源耗盡）⑧ 吞吐下滑＋blocked 上升（連線建立層，先排除壓測機）。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Soak 看斜率不看紅綠燈；量化趨勢（5 分鐘一桶）、一定看恢復（歸零後 + Smoke）、守住窗口。k6 只有果：P95 緩升對 heap/GC，錯誤階梯對連線池/open files，RPS 下滑對連線數與壓測機。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判讀 4 步驟：確認壓力打出去 → 找拐點 → Timings 定位哪一段 → Grafana 十字準星對齊後端。陷阱：Overview 數字卡是 avg；P95 不能再取平均，要用 native histogram；RPS 走平但後端很閒要懷疑壓測機。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tedmax100/o11y_lab_for_dummies/tree/main/k6/demos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chart" Target="../charts/chart5.xml"/><Relationship Id="rId8" Type="http://schemas.openxmlformats.org/officeDocument/2006/relationships/chart" Target="../charts/chart6.xml"/><Relationship Id="rId9" Type="http://schemas.openxmlformats.org/officeDocument/2006/relationships/chart" Target="../charts/chart7.xml"/><Relationship Id="rId10" Type="http://schemas.openxmlformats.org/officeDocument/2006/relationships/chart" Target="../charts/chart8.xml"/><Relationship Id="rId11" Type="http://schemas.openxmlformats.org/officeDocument/2006/relationships/hyperlink" Target="https://tedmax100.github.io/o11y_lab_for_dummies/k6-performance-testing/" TargetMode="External"/><Relationship Id="rId1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9.xml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▶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▶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5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企業導入實作 Checklist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(Takeaway)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將 k6 測試代碼化、SLO 門禁自動化與全鏈路可觀測性深植於團隊日常研發流程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14826511" cy="1964531"/>
          </a:xfrm>
          <a:prstGeom prst="roundRect">
            <a:avLst/>
          </a:prstGeom>
          <a:solidFill>
            <a:srgbClr val="1220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66FCF1"/>
                </a:solidFill>
                <a:latin typeface="Noto Sans CJK TC"/>
              </a:rPr>
              <a:t>▶ 本地開發與團隊協作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腳本即時調優：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壓測腳本開發與本地微調時，養成啟用 K6_WEB_DASHBOARD=true 即時觀測延遲與錯誤率變化的習慣。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跨部門溝通基準：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交付團隊評估效能時，統一匯出 HTML Report 獨立報表作為跨部門對齊的效能基準線 (Baseline)。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3631406"/>
            <a:ext cx="14826511" cy="1964531"/>
          </a:xfrm>
          <a:prstGeom prst="roundRect">
            <a:avLst/>
          </a:prstGeom>
          <a:solidFill>
            <a:srgbClr val="241C14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FFAB00"/>
                </a:solidFill>
                <a:latin typeface="Noto Sans CJK TC"/>
              </a:rPr>
              <a:t>▶ CI/CD 流水線整合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無人值守乾淨退場：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於自動化 CI 流水線中，嚴格配置 K6_WEB_DASHBOARD_PORT=-1 確保容器產出報表後正常退出。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客製化 Runner 映像檔：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透過 xk6 搭配 Docker 確定性編譯，發布團隊專屬之 Custom k6 Runner 容器映像檔於 CI 倉庫。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5774531"/>
            <a:ext cx="14826511" cy="2381250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BB86FC"/>
                </a:solidFill>
                <a:latin typeface="Noto Sans CJK TC"/>
              </a:rPr>
              <a:t>▶ 進階擴充與全域遙測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底層中間件協定擴充：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評估微服務架構需求，透過 xk6 掛載 xk6-kafka / xk6-redis / xk6-sql 等底層中間件原生連線。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時序數據串流對齊：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啟用 Prometheus Remote Write，將壓測指標帶上 Git Commit Tag 即時推入 Prometheus / InfluxDB。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雙十字準星秒級定位：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 Grafana 建立共享十字準星儀表板，將 k6 延遲與 K8s Pod CPU 限流 (CFS Throttling) 精準上下對齊。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8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l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12" name="Codelabs_Link_Badge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隨堂練習指引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(Hands-on Practice)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請依序完成三大實戰任務，體驗原生儀表板、CI/CD 離線報告匯出與 Docker 確定性編譯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4666511" cy="6727031"/>
          </a:xfrm>
          <a:prstGeom prst="roundRect">
            <a:avLst/>
          </a:prstGeom>
          <a:solidFill>
            <a:srgbClr val="101C26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</a:rPr>
              <a:t>任務一：啟動原生 Dashboard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 run script.js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瀏覽器即時訪問：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打開瀏覽器訪問 http://127.0.0.1:5665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動態曲線觀察：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觀察測試期間即時動態折線圖與 VUs 變化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細部耗時拆解：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檢視各 HTTP 階段細部耗時曲線與門檻進度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87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88837" y="1488281"/>
            <a:ext cx="4666511" cy="6727031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B86FC"/>
                </a:solidFill>
                <a:latin typeface="Noto Sans CJK TC"/>
              </a:rPr>
              <a:t>任務二：產出靜態 HTML 報告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K6_WEB_DASHBOARD_PORT=-1 \
K6_WEB_DASHBOARD_EXPORT=report.html \
k6 run script.js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無人值守退出：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Port=-1 確保測試完成後 k6 行程自動乾淨退出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產出靜態資產：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當前目錄自動生成單一檔案 report.html 報表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跨團隊共享：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雙擊檔案即可離線檢視完整互動儀表板與數據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595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68837" y="1488281"/>
            <a:ext cx="4666511" cy="6727031"/>
          </a:xfrm>
          <a:prstGeom prst="roundRect">
            <a:avLst/>
          </a:prstGeom>
          <a:solidFill>
            <a:srgbClr val="22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3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</a:rPr>
              <a:t>任務三：初探 xk6 確定性編譯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3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docker run --rm -u $(id -u):$(id -g) \
  -v $(pwd):/xk6 grafana/xk6 build latest \
  --with github.com/grafana/xk6-sql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抹平環境差異：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利用 Docker 官方映像消除本地 Go 開發環境依賴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產出自訂引擎：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成功編譯整合 xk6-sql 模組之客製化 k6 執行檔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版本功能驗證：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執行 ./k6 version 確認已成功封裝目標協定模組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1103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20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看懂儀表板：8 種經典曲線型態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永遠把「負載軸」（VUs / RPS）和「反應軸」（P95・P99 / 錯誤率）疊在一起看，找出第一個偏離平穩的拐點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47812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232" y="1666875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① 健康線性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03348" y="2024062"/>
          <a:ext cx="3378790" cy="16668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74232" y="3762375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VUs 和 RPS 同比例上升，P95 平穩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還有餘裕 → 繼續加壓找上限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5674" y="1547812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1069" y="1666875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② 飽和平台（拐點）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60186" y="2024062"/>
          <a:ext cx="3378790" cy="166687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631069" y="3762375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VUs 還在加，RPS 卻走平；同時 P95 開始爬升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容量上限：拐點當下的 RPS 就是系統容量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2511" y="1547812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7906" y="1666875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③ 崩潰懸崖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317023" y="2024062"/>
          <a:ext cx="3378790" cy="166687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387906" y="3762375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P95 垂直暴衝、錯誤率同時竄升、RPS 反而下降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佇列溢出、逾時、連線池或執行緒池耗盡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979348" y="1547812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44744" y="1666875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④ 尾巴張開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12073860" y="2024062"/>
          <a:ext cx="3378790" cy="1666875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144744" y="3762375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P90 / P95 平穩，P99 越拉越開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少數請求受害：GC 停頓、鎖競爭、快取失效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837" y="5191125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4232" y="5310187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⑤ 緩慢爬坡（Soak）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803348" y="5667375"/>
          <a:ext cx="3378790" cy="1666875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874232" y="7405687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負載不變，P95 緩升（P50 常一起爬）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記憶體／GC 壓力，或資料越積越多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5674" y="5191125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1069" y="5310187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⑥ 週期鋸齒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4560186" y="5667375"/>
          <a:ext cx="3378790" cy="1666875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631069" y="7405687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固定間隔出現尖峰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排程、GC 週期、TTL 同時到期、擴縮容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2511" y="5191125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7906" y="5310187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⑦ 錯誤率階梯（Soak）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8317023" y="5667375"/>
          <a:ext cx="3378790" cy="1666875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387906" y="7405687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負載不變，錯誤率一階一階往上跳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有限資源耗盡：連線池、open files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979348" y="5191125"/>
            <a:ext cx="3567813" cy="3452812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44744" y="5310187"/>
            <a:ext cx="3237023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CJK TC"/>
                <a:ea typeface="Noto Sans CJK TC"/>
              </a:rPr>
              <a:t>⑧ 吞吐下滑・連線層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12073860" y="5667375"/>
          <a:ext cx="3378790" cy="1666875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2144744" y="7405687"/>
            <a:ext cx="3237023" cy="1166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FCF1"/>
                </a:solidFill>
                <a:latin typeface="Noto Sans CJK TC"/>
                <a:ea typeface="Noto Sans CJK TC"/>
              </a:rPr>
              <a:t>看到  </a:t>
            </a: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RPS 下滑、P95 持平、blocked 上升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AB00"/>
                </a:solidFill>
                <a:latin typeface="Noto Sans CJK TC"/>
                <a:ea typeface="Noto Sans CJK TC"/>
              </a:rPr>
              <a:t>代表  </a:t>
            </a:r>
            <a:r>
              <a:rPr sz="1300" b="1">
                <a:solidFill>
                  <a:srgbClr val="FFFFFF"/>
                </a:solidFill>
                <a:latin typeface="Noto Sans CJK TC"/>
                <a:ea typeface="Noto Sans CJK TC"/>
              </a:rPr>
              <a:t>連線建立層：先排除壓測機自己</a:t>
            </a:r>
          </a:p>
        </p:txBody>
      </p:sp>
      <p:sp>
        <p:nvSpPr>
          <p:cNvPr id="4" name="Codelabs_Link_Badge">
            <a:hlinkClick r:id="rId11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sp>
        <p:nvSpPr>
          <p:cNvPr id="37" name="MetricReading_Marker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Soak 判讀：趨勢比門檻重要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負載固定時，時間是唯一的變數：看斜率、看恢復，再把 k6 端的「果」對齊後端的「因」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3571875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38312"/>
            <a:ext cx="6615813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</a:rPr>
              <a:t>全程綠燈，也可能是失敗的 Soak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50604" y="2190750"/>
          <a:ext cx="6804837" cy="202406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45116" y="4286250"/>
            <a:ext cx="6615813" cy="785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P95 從 300ms 爬到 700ms，門檻 800ms 沒破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→ 照這個斜率，第八小時就會紅燈。Soak 要看斜率，不是紅綠燈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837" y="5357812"/>
            <a:ext cx="7088372" cy="302418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5116" y="5500687"/>
            <a:ext cx="6615813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66FCF1"/>
                </a:solidFill>
                <a:latin typeface="Noto Sans CJK TC"/>
                <a:ea typeface="Noto Sans CJK TC"/>
              </a:rPr>
              <a:t>三個判讀習慣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5116" y="5953125"/>
            <a:ext cx="6663069" cy="2333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量化斜率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只取固定負載段，5 分鐘一桶，算 P50 / P95 / 錯誤率 / RPS 的趨勢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一定看恢復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負載歸零後有沒有回到基準？結束後再跑一次 Smoke，仍慢就是硬證據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守住窗口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負載取撐得住的六到八成；期間不部署、不重啟、不跑批次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0744" y="1595437"/>
            <a:ext cx="7466418" cy="6786562"/>
          </a:xfrm>
          <a:prstGeom prst="roundRect">
            <a:avLst>
              <a:gd name="adj" fmla="val 4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66FCF1"/>
                </a:solidFill>
                <a:latin typeface="Noto Sans CJK TC"/>
                <a:ea typeface="Noto Sans CJK TC"/>
              </a:rPr>
              <a:t>k6 端的「果」→ 後端的「因」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023" y="2190750"/>
            <a:ext cx="1772093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k6 訊號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3627" y="2190750"/>
            <a:ext cx="2480930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對照的後端數據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59069" y="2190750"/>
            <a:ext cx="2599069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本 Lab 去哪看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9767" y="2571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534" y="2643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⑤ P95 緩慢爬升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3627" y="2643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記憶體 heap、GC 次數與暫停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59069" y="2643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docker stats 定時記錄容器記憶體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69767" y="3714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1534" y="3786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⑤ 特定端點變慢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3627" y="3786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資料庫查詢延遲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59069" y="3786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4 Golden Signals：Database Query Latency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69767" y="4857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1534" y="4929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⑦ 錯誤率階梯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3627" y="4929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DB 連線池使用中／上限、open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9069" y="4929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pg_stat_activity 連線數、/proc/1/fd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69767" y="6000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1534" y="6072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⑧ RPS 下滑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3627" y="6072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伺服器／LB 連線數、壓測機連線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59069" y="6072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壓測機 ss -s；Request Rate by Service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69767" y="7143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1534" y="7215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所有訊號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3627" y="7215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部署／重啟／排程的時間紀錄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9069" y="7215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確認不是「有人動了它」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9767" y="8382000"/>
            <a:ext cx="7277395" cy="261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000" b="0">
                <a:solidFill>
                  <a:srgbClr val="9AA0A6"/>
                </a:solidFill>
                <a:latin typeface="Noto Sans CJK TC"/>
                <a:ea typeface="Noto Sans CJK TC"/>
              </a:rPr>
              <a:t>參考：iThome 鐵人賽〈Day 24｜Soak Test：從 k6 端數據推測伺服器在漏什麼〉</a:t>
            </a:r>
          </a:p>
        </p:txBody>
      </p:sp>
      <p:sp>
        <p:nvSpPr>
          <p:cNvPr id="4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儀表板判讀 4 步驟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總結數字只告訴你「P95 = 812ms」，曲線才告訴你「第 35 秒、45 RPS 時開始抬頭」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85937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0232" y="1762125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確認壓力真的打出去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與 RPS 符合腳本設計嗎？有沒有 dropped_iterations？流量配比對不對？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837" y="3333750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5116" y="3524250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0232" y="3500437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找出拐點時間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延遲或錯誤率第一次偏離平穩的時間點，記下當下的 VUs 與 RPS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837" y="5072062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5116" y="5262562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0232" y="5238750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定位是哪一段變慢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切到 Timings 分頁：Waiting＝後端運算、Blocked / Connecting＝連線層、Receiving＝Payload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837" y="6810375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5116" y="7000875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0232" y="6977062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對齊後端指標找根因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把拐點時間帶進 Grafana，用共享十字準星對齊 CPU、記憶體、DB 連線池 → 下一頁破案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744" y="1595437"/>
            <a:ext cx="7466418" cy="311943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66FCF1"/>
                </a:solidFill>
                <a:latin typeface="Noto Sans CJK TC"/>
                <a:ea typeface="Noto Sans CJK TC"/>
              </a:rPr>
              <a:t>k6 Web Dashboard 分頁地圖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17023" y="230981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5581" y="221456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 Performance overview 把 RPS、P95、失敗率疊在同一張圖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在什麼負載下開始變慢或出錯？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17023" y="3119437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Timings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5581" y="3024187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http_req_duration 的 6 個細分指標各一張圖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變慢的是哪一段？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17023" y="392906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5581" y="383381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所有指標的結尾統計表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等同終端機摘要，套用 5 步驟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744" y="4905375"/>
            <a:ext cx="7466418" cy="3476625"/>
          </a:xfrm>
          <a:prstGeom prst="roundRect">
            <a:avLst>
              <a:gd name="adj" fmla="val 5000"/>
            </a:avLst>
          </a:prstGeom>
          <a:solidFill>
            <a:srgbClr val="1A1626"/>
          </a:solidFill>
          <a:ln w="12700">
            <a:solidFill>
              <a:srgbClr val="5B4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7023" y="5048250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AB00"/>
                </a:solidFill>
                <a:latin typeface="Noto Sans CJK TC"/>
                <a:ea typeface="Noto Sans CJK TC"/>
              </a:rPr>
              <a:t>⚠ 三個判讀陷阱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7023" y="5500687"/>
            <a:ext cx="7041116" cy="28098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Overview 上排數字卡的 HTTP Request Duration 是 avg，不是 P95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延遲請看下方 P95 / P99 曲線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對 Trend Stats 推送的 k6_http_req_duration_p95 再取 avg()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百分位數不能平均！本專案改用 Native Histogram ＋ histogram_quantile()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RPS 走平，但後端 CPU 很閒、延遲也沒漲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瓶頸可能在壓測機本身：看 k6 主機的 CPU、網卡與 dropped_iterations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