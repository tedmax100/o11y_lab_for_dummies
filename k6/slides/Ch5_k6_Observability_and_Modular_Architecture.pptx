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anhua.wang/grafana-xk6" TargetMode="External"/><Relationship Id="rId4" Type="http://schemas.openxmlformats.org/officeDocument/2006/relationships/hyperlink" Target="https://tedmax100.github.io/o11y_lab_for_dummies/k6-performance-testin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ganhua.wang/grafana-xk6" TargetMode="External"/><Relationship Id="rId4" Type="http://schemas.openxmlformats.org/officeDocument/2006/relationships/hyperlink" Target="https://ganhua.wang/grafana-k6-browser" TargetMode="External"/><Relationship Id="rId5" Type="http://schemas.openxmlformats.org/officeDocument/2006/relationships/hyperlink" Target="https://ganhua.wang/getting-started-with-grafana-k6-hands-on-practice" TargetMode="External"/><Relationship Id="rId6" Type="http://schemas.openxmlformats.org/officeDocument/2006/relationships/hyperlink" Target="https://tedmax100.github.io/o11y_lab_for_dummies/k6-performance-testing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tedmax100.github.io/o11y_lab_for_dummies/k6-performance-testing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  <a:hlinkClick r:id="rId3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  <a:hlinkClick r:id="rId3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  <a:hlinkClick r:id="rId3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590697" y="5655468"/>
            <a:ext cx="3307906" cy="2559843"/>
          </a:xfrm>
          <a:prstGeom prst="roundRect">
            <a:avLst/>
          </a:prstGeom>
          <a:solidFill>
            <a:srgbClr val="161A26"/>
          </a:solidFill>
          <a:ln w="19050">
            <a:solidFill>
              <a:srgbClr val="8C5A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5395" rIns="165395" tIns="142875" bIns="142875"/>
          <a:lstStyle/>
          <a:p>
            <a:pPr algn="ctr">
              <a:spcAft>
                <a:spcPts val="500"/>
              </a:spcAft>
            </a:pPr>
            <a:r>
              <a:rPr sz="1050" b="1">
                <a:solidFill>
                  <a:srgbClr val="BB86FC"/>
                </a:solidFill>
                <a:latin typeface="Noto Sans CJK TC"/>
              </a:rPr>
              <a:t>💡 講師深度實戰專欄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  <a:latin typeface="Noto Sans CJK TC"/>
              </a:rPr>
              <a:t>Grafana xk6: 手把手從開發到編譯出 k6 插件</a:t>
            </a:r>
          </a:p>
          <a:p>
            <a:pPr>
              <a:spcAft>
                <a:spcPts val="800"/>
              </a:spcAft>
            </a:pPr>
            <a:r>
              <a:rPr sz="950">
                <a:solidFill>
                  <a:srgbClr val="C3C8D2"/>
                </a:solidFill>
                <a:latin typeface="Noto Sans CJK TC"/>
              </a:rPr>
              <a:t>• Web3 OTP 動態金鑰簽名插件
• RootModule / ModuleInstance 解密
• 突破原生極限支援私有協定</a:t>
            </a:r>
          </a:p>
          <a:p>
            <a:r>
              <a:rPr sz="950" b="1">
                <a:solidFill>
                  <a:srgbClr val="66FCF1"/>
                </a:solidFill>
                <a:latin typeface="Noto Sans Mono CJK TC"/>
              </a:rPr>
              <a:t>🔗 閱讀專欄：ganhua.wang/grafana-xk6</a:t>
            </a:r>
          </a:p>
        </p:txBody>
      </p:sp>
      <p:sp>
        <p:nvSpPr>
          <p:cNvPr id="4" name="Rounded Rectangle 3">
            <a:hlinkClick r:id="rId4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  <a:hlinkClick r:id="rId4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  <a:hlinkClick r:id="rId3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  <a:hlinkClick r:id="rId3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  <a:hlinkClick r:id="rId3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  <a:hlinkClick r:id="rId3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  <a:hlinkClick r:id="rId3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8837" y="571500"/>
            <a:ext cx="12995348" cy="773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Noto Sans CJK TC"/>
              </a:rPr>
              <a:t>推薦延伸閱讀 </a:t>
            </a:r>
            <a:r>
              <a:rPr sz="1700">
                <a:solidFill>
                  <a:srgbClr val="66FCF1"/>
                </a:solidFill>
                <a:latin typeface="Noto Sans CJK TC"/>
              </a:rPr>
              <a:t>(Author's Deep-Dive Articles)</a:t>
            </a:r>
          </a:p>
          <a:p>
            <a:r>
              <a:rPr sz="1100">
                <a:solidFill>
                  <a:srgbClr val="9AA0A6"/>
                </a:solidFill>
                <a:latin typeface="Noto Sans CJK TC"/>
              </a:rPr>
              <a:t>講師親撰之 k6 系列技術專欄 — 深入外掛生態系開發、前端真實體驗混合壓測與微服務全鏈路可觀測性閉環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837" y="1547812"/>
            <a:ext cx="4666511" cy="6012656"/>
          </a:xfrm>
          <a:prstGeom prst="roundRect">
            <a:avLst/>
          </a:prstGeom>
          <a:solidFill>
            <a:srgbClr val="191626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9023" rIns="189023" tIns="166687" bIns="142875"/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BB86FC"/>
                </a:solidFill>
                <a:latin typeface="Noto Sans CJK TC"/>
              </a:rPr>
              <a:t>● xk6 模組擴充 (Go Extension)</a:t>
            </a:r>
          </a:p>
          <a:p>
            <a:pPr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CJK TC"/>
              </a:rPr>
              <a:t>Grafana xk6: 手把手從開發到編譯插件</a:t>
            </a:r>
          </a:p>
          <a:p>
            <a:pPr>
              <a:spcAft>
                <a:spcPts val="1000"/>
              </a:spcAft>
            </a:pPr>
            <a:r>
              <a:rPr sz="900">
                <a:solidFill>
                  <a:srgbClr val="A0AAB9"/>
                </a:solidFill>
                <a:latin typeface="Noto Sans CJK TC"/>
              </a:rPr>
              <a:t>核心：Go-to-JS Bridge 與動態密碼插件實戰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Go-to-JS Bridge 架構：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深度解析 RootModule、ModuleInstance 與 modules.Register 註冊機制，掌握 Go 結構體映射至 JS 類別的核心原理。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Web3 OTP 實戰案例：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以動態身份驗證為例，親手實作 k6/x/otp 擴充套件，在百萬併發壓測中動態生成一次性金鑰密碼與簽名。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Docker 確定性編譯：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使用 grafana/xk6 官方容器抹平各 OS 開發環境依賴，在零配置前提下一鍵編譯出團隊專屬客製化 k6 二進位檔。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897860" y="6965156"/>
            <a:ext cx="4288465" cy="428625"/>
          </a:xfrm>
          <a:prstGeom prst="roundRect">
            <a:avLst/>
          </a:prstGeom>
          <a:solidFill>
            <a:srgbClr val="202C3E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66FCF1"/>
                </a:solidFill>
                <a:latin typeface="Noto Sans Mono CJK TC"/>
              </a:rPr>
              <a:t>📖 閱讀文章 ➔ ganhua.wang/grafana-xk6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88837" y="1547812"/>
            <a:ext cx="4666511" cy="6012656"/>
          </a:xfrm>
          <a:prstGeom prst="roundRect">
            <a:avLst/>
          </a:prstGeom>
          <a:solidFill>
            <a:srgbClr val="101C22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9023" rIns="189023" tIns="166687" bIns="142875"/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00E676"/>
                </a:solidFill>
                <a:latin typeface="Noto Sans CJK TC"/>
              </a:rPr>
              <a:t>● 前端混壓測試 (k6-browser)</a:t>
            </a:r>
          </a:p>
          <a:p>
            <a:pPr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CJK TC"/>
              </a:rPr>
              <a:t>Grafana k6 瀏覽器測試實戰</a:t>
            </a:r>
          </a:p>
          <a:p>
            <a:pPr>
              <a:spcAft>
                <a:spcPts val="1000"/>
              </a:spcAft>
            </a:pPr>
            <a:r>
              <a:rPr sz="900">
                <a:solidFill>
                  <a:srgbClr val="A0AAB9"/>
                </a:solidFill>
                <a:latin typeface="Noto Sans CJK TC"/>
              </a:rPr>
              <a:t>核心：Playwright 相容與 Core Web Vitals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Playwright 相容生態：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全面採用 chromium.launch()、page.goto() 與語意化 Locator，前端工程師無需轉換思維即可上手。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BrowserContext 隔離：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在單一瀏覽器處理程序中實現多用戶完全獨立的 Session、Cookie 與 LocalStorage，大幅降低記憶體開銷。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電商全流程自動化：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以 OpenTelemetry Demo 購物車為例，完整模擬加購物車與結帳，採集真實 Web Vitals 並自動截圖保存錯誤現場。</a:t>
            </a:r>
          </a:p>
        </p:txBody>
      </p:sp>
      <p:sp>
        <p:nvSpPr>
          <p:cNvPr id="7" name="Rounded Rectangle 6">
            <a:hlinkClick r:id="rId4"/>
          </p:cNvPr>
          <p:cNvSpPr/>
          <p:nvPr/>
        </p:nvSpPr>
        <p:spPr>
          <a:xfrm>
            <a:off x="5977860" y="6965156"/>
            <a:ext cx="4288465" cy="428625"/>
          </a:xfrm>
          <a:prstGeom prst="roundRect">
            <a:avLst/>
          </a:prstGeom>
          <a:solidFill>
            <a:srgbClr val="202C3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66FCF1"/>
                </a:solidFill>
                <a:latin typeface="Noto Sans Mono CJK TC"/>
              </a:rPr>
              <a:t>📖 閱讀文章 ➔ ganhua.wang/grafana-k6-browser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68837" y="1547812"/>
            <a:ext cx="4666511" cy="6012656"/>
          </a:xfrm>
          <a:prstGeom prst="roundRect">
            <a:avLst/>
          </a:prstGeom>
          <a:solidFill>
            <a:srgbClr val="201A12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9023" rIns="189023" tIns="166687" bIns="142875"/>
          <a:lstStyle/>
          <a:p>
            <a:pPr algn="ctr">
              <a:spcAft>
                <a:spcPts val="400"/>
              </a:spcAft>
            </a:pPr>
            <a:r>
              <a:rPr sz="1050" b="1">
                <a:solidFill>
                  <a:srgbClr val="FFAB00"/>
                </a:solidFill>
                <a:latin typeface="Noto Sans CJK TC"/>
              </a:rPr>
              <a:t>● 全鏈路閉環 (Observability)</a:t>
            </a:r>
          </a:p>
          <a:p>
            <a:pPr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CJK TC"/>
              </a:rPr>
              <a:t>Getting Started with Grafana k6</a:t>
            </a:r>
          </a:p>
          <a:p>
            <a:pPr>
              <a:spcAft>
                <a:spcPts val="1000"/>
              </a:spcAft>
            </a:pPr>
            <a:r>
              <a:rPr sz="900">
                <a:solidFill>
                  <a:srgbClr val="A0AAB9"/>
                </a:solidFill>
                <a:latin typeface="Noto Sans CJK TC"/>
              </a:rPr>
              <a:t>核心：OpenTelemetry 串流與 GitLab CI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語意化測試組織：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運用 k6/http、check 與 group 模組化封裝業務邏輯，產出結構清晰且具備業務意義的階層化壓測報表。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OTel 串流全面整合：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直連 OpenTelemetry Collector，將客戶端壓測指標與後端分散式 Traces、Logs 進行跨維度時間軸對齊。</a:t>
            </a:r>
          </a:p>
          <a:p>
            <a:pPr>
              <a:spcAft>
                <a:spcPts val="800"/>
              </a:spcAft>
            </a:pPr>
            <a:r>
              <a:rPr sz="950" b="1">
                <a:solidFill>
                  <a:srgbClr val="F5F5FA"/>
                </a:solidFill>
                <a:latin typeface="Noto Sans CJK TC"/>
              </a:rPr>
              <a:t>• GitLab CI 自動化門禁：
  </a:t>
            </a:r>
            <a:r>
              <a:rPr sz="900">
                <a:solidFill>
                  <a:srgbClr val="B9BEC8"/>
                </a:solidFill>
                <a:latin typeface="Noto Sans CJK TC"/>
              </a:rPr>
              <a:t>將 k6 壓測無縫嵌入 CI/CD 流水線，以 Exit Code 99 自動攔截效能退化代碼，守護生產主幹穩定。</a:t>
            </a:r>
          </a:p>
        </p:txBody>
      </p:sp>
      <p:sp>
        <p:nvSpPr>
          <p:cNvPr id="9" name="Rounded Rectangle 8">
            <a:hlinkClick r:id="rId5"/>
          </p:cNvPr>
          <p:cNvSpPr/>
          <p:nvPr/>
        </p:nvSpPr>
        <p:spPr>
          <a:xfrm>
            <a:off x="11057860" y="6965156"/>
            <a:ext cx="4288465" cy="428625"/>
          </a:xfrm>
          <a:prstGeom prst="roundRect">
            <a:avLst/>
          </a:prstGeom>
          <a:solidFill>
            <a:srgbClr val="202C3E"/>
          </a:solidFill>
          <a:ln w="19050">
            <a:solidFill>
              <a:srgbClr val="FB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66FCF1"/>
                </a:solidFill>
                <a:latin typeface="Noto Sans Mono CJK TC"/>
              </a:rPr>
              <a:t>📖 閱讀文章 ➔ ganhua.wang/getting-started-with-grafana-k6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8837" y="7715250"/>
            <a:ext cx="14826511" cy="571500"/>
          </a:xfrm>
          <a:prstGeom prst="roundRect">
            <a:avLst/>
          </a:prstGeom>
          <a:solidFill>
            <a:srgbClr val="141C2A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5395" rIns="165395"/>
          <a:lstStyle/>
          <a:p>
            <a:pPr algn="ctr"/>
            <a:r>
              <a:rPr sz="1000" b="1">
                <a:solidFill>
                  <a:srgbClr val="FFD700"/>
                </a:solidFill>
                <a:latin typeface="Noto Sans CJK TC"/>
              </a:rPr>
              <a:t>💡 學習價值： </a:t>
            </a:r>
            <a:r>
              <a:rPr sz="950">
                <a:solidFill>
                  <a:srgbClr val="DCE1EB"/>
                </a:solidFill>
                <a:latin typeface="Noto Sans CJK TC"/>
              </a:rPr>
              <a:t>本課程奠定企業級效能工程體系，專欄文章則引領大家攻克真實業務中的前沿自訂挑戰，推薦課後務必搭配精讀！</a:t>
            </a:r>
          </a:p>
        </p:txBody>
      </p:sp>
      <p:sp>
        <p:nvSpPr>
          <p:cNvPr id="11" name="Rounded Rectangle 10">
            <a:hlinkClick r:id="rId6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  <a:hlinkClick r:id="rId6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Rounded Rectangle 2">
            <a:hlinkClick r:id="rId3"/>
          </p:cNvPr>
          <p:cNvSpPr/>
          <p:nvPr/>
        </p:nvSpPr>
        <p:spPr>
          <a:xfrm>
            <a:off x="472558" y="8751093"/>
            <a:ext cx="6025116" cy="28575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94511" rIns="94511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Noto Sans CJK TC"/>
              </a:rPr>
              <a:t>▶ 課程實戰 Codelabs：</a:t>
            </a:r>
            <a:r>
              <a:rPr sz="850">
                <a:solidFill>
                  <a:srgbClr val="66FCF1"/>
                </a:solidFill>
                <a:latin typeface="Noto Sans Mono CJK TC"/>
                <a:hlinkClick r:id="rId3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