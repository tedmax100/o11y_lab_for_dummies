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6" r:id="rId17"/>
    <p:sldId id="267" r:id="rId19"/>
    <p:sldId id="268" r:id="rId20"/>
    <p:sldId id="263" r:id="rId14"/>
    <p:sldId id="264" r:id="rId15"/>
    <p:sldId id="265" r:id="rId16"/>
    <p:sldId id="269" r:id="rId21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P95</c:v>
                </c:pt>
              </c:strCache>
            </c:strRef>
          </c:tx>
          <c:spPr>
            <a:ln w="34925">
              <a:solidFill>
                <a:srgbClr val="FFAB0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3.0</c:v>
                </c:pt>
                <c:pt idx="1">
                  <c:v>3.36</c:v>
                </c:pt>
                <c:pt idx="2">
                  <c:v>3.7199999999999998</c:v>
                </c:pt>
                <c:pt idx="3">
                  <c:v>4.08</c:v>
                </c:pt>
                <c:pt idx="4">
                  <c:v>4.4399999999999995</c:v>
                </c:pt>
                <c:pt idx="5">
                  <c:v>4.8</c:v>
                </c:pt>
                <c:pt idx="6">
                  <c:v>5.16</c:v>
                </c:pt>
                <c:pt idx="7">
                  <c:v>5.52</c:v>
                </c:pt>
                <c:pt idx="8">
                  <c:v>5.88</c:v>
                </c:pt>
                <c:pt idx="9">
                  <c:v>6.24</c:v>
                </c:pt>
                <c:pt idx="10">
                  <c:v>6.6</c:v>
                </c:pt>
                <c:pt idx="11">
                  <c:v>6.96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門檻 p(95)&lt;800</c:v>
                </c:pt>
              </c:strCache>
            </c:strRef>
          </c:tx>
          <c:spPr>
            <a:ln w="19050">
              <a:solidFill>
                <a:srgbClr val="FF5252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8.0</c:v>
                </c:pt>
                <c:pt idx="1">
                  <c:v>8.0</c:v>
                </c:pt>
                <c:pt idx="2">
                  <c:v>8.0</c:v>
                </c:pt>
                <c:pt idx="3">
                  <c:v>8.0</c:v>
                </c:pt>
                <c:pt idx="4">
                  <c:v>8.0</c:v>
                </c:pt>
                <c:pt idx="5">
                  <c:v>8.0</c:v>
                </c:pt>
                <c:pt idx="6">
                  <c:v>8.0</c:v>
                </c:pt>
                <c:pt idx="7">
                  <c:v>8.0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3B4B5C"/>
            </a:solidFill>
          </a:ln>
        </c:spPr>
        <c:txPr>
          <a:bodyPr/>
          <a:lstStyle/>
          <a:p>
            <a:pPr>
              <a:defRPr sz="100">
                <a:solidFill>
                  <a:srgbClr val="12202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.5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950">
              <a:solidFill>
                <a:srgbClr val="D7DEEB"/>
              </a:solidFill>
              <a:latin typeface="Noto Sans CJK TC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 種型態：① 健康線性 ② 飽和平台（RPS 走平＋P95 爬升，拐點即容量）③ 崩潰懸崖（P95 與錯誤率同時暴衝、RPS 下降）④ 尾巴張開（只有 P99 發散）⑤ 緩慢爬坡（負載不變延遲上升，看 P50 是否一起爬）⑥ 週期鋸齒（排程、GC、TTL）⑦ 錯誤率階梯（有限資源耗盡）⑧ 吞吐下滑＋blocked 上升（連線建立層，先排除壓測機）。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Soak 看斜率不看紅綠燈；量化趨勢（5 分鐘一桶）、一定看恢復（歸零後 + Smoke）、守住窗口。k6 只有果：P95 緩升對 heap/GC，錯誤階梯對連線池/open files，RPS 下滑對連線數與壓測機。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判讀 4 步驟：確認壓力打出去 → 找拐點 → Timings 定位哪一段 → Grafana 十字準星對齊後端。陷阱：Overview 數字卡是 avg；P95 不能再取平均，要用 native histogram；RPS 走平但後端很閒要懷疑壓測機。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四個任務對應 Codelab 實作 1～4：Web Dashboard、Port=-1 靜態報告、xk6 Docker 編譯、Prometheus Remote Write。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anhua.wang/grafana-xk6" TargetMode="External"/><Relationship Id="rId4" Type="http://schemas.openxmlformats.org/officeDocument/2006/relationships/hyperlink" Target="https://tedmax100.github.io/o11y_lab_for_dummies/k6-performance-testin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anhua.wang/grafana-xk6" TargetMode="External"/><Relationship Id="rId4" Type="http://schemas.openxmlformats.org/officeDocument/2006/relationships/hyperlink" Target="https://ganhua.wang/grafana-k6-browser" TargetMode="External"/><Relationship Id="rId5" Type="http://schemas.openxmlformats.org/officeDocument/2006/relationships/hyperlink" Target="https://ganhua.wang/getting-started-with-grafana-k6-hands-on-practice" TargetMode="External"/><Relationship Id="rId6" Type="http://schemas.openxmlformats.org/officeDocument/2006/relationships/hyperlink" Target="https://tedmax100.github.io/o11y_lab_for_dummies/k6-performance-testing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hyperlink" Target="https://tedmax100.github.io/o11y_lab_for_dummies/k6-performance-testing/" TargetMode="External"/><Relationship Id="rId5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chart" Target="../charts/chart1.xml"/><Relationship Id="rId4" Type="http://schemas.openxmlformats.org/officeDocument/2006/relationships/hyperlink" Target="https://tedmax100.github.io/o11y_lab_for_dummies/k6-performance-testing/" TargetMode="External"/><Relationship Id="rId5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tedmax100.github.io/o11y_lab_for_dummies/k6-performance-testing/" TargetMode="External"/><Relationship Id="rId4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tedmax100.github.io/o11y_lab_for_dummies/k6-performance-testing/" TargetMode="Externa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590697" y="5655468"/>
            <a:ext cx="3307906" cy="2559843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8C5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5395" rIns="165395" tIns="142875" bIns="142875"/>
          <a:lstStyle/>
          <a:p>
            <a:pPr algn="ctr">
              <a:spcAft>
                <a:spcPts val="500"/>
              </a:spcAft>
            </a:pPr>
            <a:r>
              <a:rPr sz="1050" b="1">
                <a:solidFill>
                  <a:srgbClr val="BB86FC"/>
                </a:solidFill>
                <a:latin typeface="Noto Sans CJK TC"/>
              </a:rPr>
              <a:t>▶ 講師深度實戰專欄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Noto Sans CJK TC"/>
              </a:rPr>
              <a:t>Grafana xk6: 手把手從開發到編譯出 k6 插件</a:t>
            </a:r>
          </a:p>
          <a:p>
            <a:pPr>
              <a:spcAft>
                <a:spcPts val="800"/>
              </a:spcAft>
            </a:pPr>
            <a:r>
              <a:rPr sz="950">
                <a:solidFill>
                  <a:srgbClr val="C3C8D2"/>
                </a:solidFill>
                <a:latin typeface="Noto Sans CJK TC"/>
              </a:rPr>
              <a:t>• Web3 OTP 動態金鑰簽名插件
• RootModule / ModuleInstance 解密
• 突破原生極限支援私有協定</a:t>
            </a:r>
          </a:p>
          <a:p>
            <a:r>
              <a:rPr sz="950" b="1">
                <a:solidFill>
                  <a:srgbClr val="66FCF1"/>
                </a:solidFill>
                <a:latin typeface="Noto Sans Mono CJK TC"/>
              </a:rPr>
              <a:t>▶ 閱讀專欄：ganhua.wang/grafana-xk6</a:t>
            </a:r>
          </a:p>
        </p:txBody>
      </p:sp>
      <p:sp>
        <p:nvSpPr>
          <p:cNvPr id="4" name="Rounded Rectangle 3">
            <a:hlinkClick r:id="rId4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5" name="Codelabs_Link_Badge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tech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571500"/>
            <a:ext cx="12995348" cy="773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CJK TC"/>
              </a:rPr>
              <a:t>企業導入實作 Checklist </a:t>
            </a:r>
            <a:r>
              <a:rPr sz="1700">
                <a:solidFill>
                  <a:srgbClr val="66FCF1"/>
                </a:solidFill>
                <a:latin typeface="Noto Sans CJK TC"/>
              </a:rPr>
              <a:t>(Takeaway)</a:t>
            </a:r>
          </a:p>
          <a:p>
            <a:pPr algn="l"/>
            <a:r>
              <a:rPr sz="1100">
                <a:solidFill>
                  <a:srgbClr val="9AA0A6"/>
                </a:solidFill>
                <a:latin typeface="Noto Sans CJK TC"/>
              </a:rPr>
              <a:t>將 k6 測試代碼化、SLO 門禁自動化與全鏈路可觀測性深植於團隊日常研發流程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837" y="1488281"/>
            <a:ext cx="14826511" cy="1964531"/>
          </a:xfrm>
          <a:prstGeom prst="roundRect">
            <a:avLst/>
          </a:prstGeom>
          <a:solidFill>
            <a:srgbClr val="12202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7162" rIns="307162" tIns="178593" bIns="166687"/>
          <a:lstStyle/>
          <a:p>
            <a:pPr algn="l">
              <a:spcAft>
                <a:spcPts val="1000"/>
              </a:spcAft>
            </a:pPr>
            <a:r>
              <a:rPr sz="1550" b="1">
                <a:solidFill>
                  <a:srgbClr val="66FCF1"/>
                </a:solidFill>
                <a:latin typeface="Noto Sans CJK TC"/>
              </a:rPr>
              <a:t>▶ 本地開發與團隊協作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腳本即時調優：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壓測腳本開發與本地微調時，養成啟用 K6_WEB_DASHBOARD=true 即時觀測延遲與錯誤率變化的習慣。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跨部門溝通基準：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交付團隊評估效能時，統一匯出 HTML Report 獨立報表作為跨部門對齊的效能基準線 (Baseline)。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837" y="3631406"/>
            <a:ext cx="14826511" cy="1964531"/>
          </a:xfrm>
          <a:prstGeom prst="roundRect">
            <a:avLst/>
          </a:prstGeom>
          <a:solidFill>
            <a:srgbClr val="241C14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7162" rIns="307162" tIns="178593" bIns="166687"/>
          <a:lstStyle/>
          <a:p>
            <a:pPr algn="l">
              <a:spcAft>
                <a:spcPts val="1000"/>
              </a:spcAft>
            </a:pPr>
            <a:r>
              <a:rPr sz="1550" b="1">
                <a:solidFill>
                  <a:srgbClr val="FFAB00"/>
                </a:solidFill>
                <a:latin typeface="Noto Sans CJK TC"/>
              </a:rPr>
              <a:t>▶ CI/CD 流水線整合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無人值守乾淨退場：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於自動化 CI 流水線中，嚴格配置 K6_WEB_DASHBOARD_PORT=-1 確保容器產出報表後正常退出。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客製化 Runner 映像檔：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透過 xk6 搭配 Docker 確定性編譯，發布團隊專屬之 Custom k6 Runner 容器映像檔於 CI 倉庫。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8837" y="5774531"/>
            <a:ext cx="14826511" cy="2381250"/>
          </a:xfrm>
          <a:prstGeom prst="roundRect">
            <a:avLst/>
          </a:prstGeom>
          <a:solidFill>
            <a:srgbClr val="1A1626"/>
          </a:solidFill>
          <a:ln w="1905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7162" rIns="307162" tIns="178593" bIns="166687"/>
          <a:lstStyle/>
          <a:p>
            <a:pPr algn="l">
              <a:spcAft>
                <a:spcPts val="1000"/>
              </a:spcAft>
            </a:pPr>
            <a:r>
              <a:rPr sz="1550" b="1">
                <a:solidFill>
                  <a:srgbClr val="BB86FC"/>
                </a:solidFill>
                <a:latin typeface="Noto Sans CJK TC"/>
              </a:rPr>
              <a:t>▶ 進階擴充與全域遙測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底層中間件協定擴充：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評估微服務架構需求，透過 xk6 掛載 xk6-kafka / xk6-redis / xk6-sql 等底層中間件原生連線。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時序數據串流對齊：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啟用 Prometheus Remote Write，將壓測指標帶上 Git Commit Tag 即時推入 Prometheus / InfluxDB。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雙十字準星秒級定位：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於 Grafana 建立共享十字準星儀表板，將 k6 延遲與 K8s Pod CPU 限流 (CFS Throttling) 精準上下對齊。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8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tech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571500"/>
            <a:ext cx="12995348" cy="773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CJK TC"/>
              </a:rPr>
              <a:t>推薦延伸閱讀 </a:t>
            </a:r>
            <a:r>
              <a:rPr sz="1700">
                <a:solidFill>
                  <a:srgbClr val="66FCF1"/>
                </a:solidFill>
                <a:latin typeface="Noto Sans CJK TC"/>
              </a:rPr>
              <a:t>(Author's Deep-Dive Articles)</a:t>
            </a:r>
          </a:p>
          <a:p>
            <a:pPr algn="l"/>
            <a:r>
              <a:rPr sz="1100">
                <a:solidFill>
                  <a:srgbClr val="9AA0A6"/>
                </a:solidFill>
                <a:latin typeface="Noto Sans CJK TC"/>
              </a:rPr>
              <a:t>講師親撰之 k6 系列技術專欄 — 深入外掛生態系開發、前端真實體驗混合壓測與微服務全鏈路可觀測性閉環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837" y="1547812"/>
            <a:ext cx="4666511" cy="6012656"/>
          </a:xfrm>
          <a:prstGeom prst="roundRect">
            <a:avLst/>
          </a:prstGeom>
          <a:solidFill>
            <a:srgbClr val="191626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9023" rIns="189023" tIns="166687" bIns="142875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B86FC"/>
                </a:solidFill>
                <a:latin typeface="Noto Sans CJK TC"/>
              </a:rPr>
              <a:t>● xk6 模組擴充 (Go Extension)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Grafana xk6: 手把手從開發到編譯插件</a:t>
            </a:r>
          </a:p>
          <a:p>
            <a:pPr algn="l">
              <a:spcAft>
                <a:spcPts val="1000"/>
              </a:spcAft>
            </a:pPr>
            <a:r>
              <a:rPr sz="900">
                <a:solidFill>
                  <a:srgbClr val="A0AAB9"/>
                </a:solidFill>
                <a:latin typeface="Noto Sans CJK TC"/>
              </a:rPr>
              <a:t>核心：Go-to-JS Bridge 與動態密碼插件實戰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Go-to-JS Bridge 架構：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深度解析 RootModule、ModuleInstance 與 modules.Register 註冊機制，掌握 Go 結構體映射至 JS 類別的核心原理。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Web3 OTP 實戰案例：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以動態身份驗證為例，親手實作 k6/x/otp 擴充套件，在百萬併發壓測中動態生成一次性金鑰密碼與簽名。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Docker 確定性編譯：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使用 grafana/xk6 官方容器抹平各 OS 開發環境依賴，在零配置前提下一鍵編譯出團隊專屬客製化 k6 二進位檔。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897860" y="6965156"/>
            <a:ext cx="4288465" cy="428625"/>
          </a:xfrm>
          <a:prstGeom prst="roundRect">
            <a:avLst/>
          </a:prstGeom>
          <a:solidFill>
            <a:srgbClr val="202C3E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66FCF1"/>
                </a:solidFill>
                <a:latin typeface="Noto Sans Mono CJK TC"/>
              </a:rPr>
              <a:t>📖 閱讀文章 ➔ ganhua.wang/grafana-xk6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88837" y="1547812"/>
            <a:ext cx="4666511" cy="6012656"/>
          </a:xfrm>
          <a:prstGeom prst="roundRect">
            <a:avLst/>
          </a:prstGeom>
          <a:solidFill>
            <a:srgbClr val="101C2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9023" rIns="189023" tIns="166687" bIns="142875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0E676"/>
                </a:solidFill>
                <a:latin typeface="Noto Sans CJK TC"/>
              </a:rPr>
              <a:t>● 前端混壓測試 (k6-browser)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Grafana k6 瀏覽器測試實戰</a:t>
            </a:r>
          </a:p>
          <a:p>
            <a:pPr algn="l">
              <a:spcAft>
                <a:spcPts val="1000"/>
              </a:spcAft>
            </a:pPr>
            <a:r>
              <a:rPr sz="900">
                <a:solidFill>
                  <a:srgbClr val="A0AAB9"/>
                </a:solidFill>
                <a:latin typeface="Noto Sans CJK TC"/>
              </a:rPr>
              <a:t>核心：Playwright 相容與 Core Web Vitals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Playwright 相容生態：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全面採用 chromium.launch()、page.goto() 與語意化 Locator，前端工程師無需轉換思維即可上手。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BrowserContext 隔離：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在單一瀏覽器處理程序中實現多用戶完全獨立的 Session、Cookie 與 LocalStorage，大幅降低記憶體開銷。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電商全流程自動化：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以 OpenTelemetry Demo 購物車為例，完整模擬加購物車與結帳，採集真實 Web Vitals 並自動截圖保存錯誤現場。</a:t>
            </a:r>
          </a:p>
        </p:txBody>
      </p:sp>
      <p:sp>
        <p:nvSpPr>
          <p:cNvPr id="7" name="Rounded Rectangle 6">
            <a:hlinkClick r:id="rId4"/>
          </p:cNvPr>
          <p:cNvSpPr/>
          <p:nvPr/>
        </p:nvSpPr>
        <p:spPr>
          <a:xfrm>
            <a:off x="5977860" y="6965156"/>
            <a:ext cx="4288465" cy="428625"/>
          </a:xfrm>
          <a:prstGeom prst="roundRect">
            <a:avLst/>
          </a:prstGeom>
          <a:solidFill>
            <a:srgbClr val="202C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66FCF1"/>
                </a:solidFill>
                <a:latin typeface="Noto Sans Mono CJK TC"/>
              </a:rPr>
              <a:t>📖 閱讀文章 ➔ ganhua.wang/grafana-k6-browser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8837" y="1547812"/>
            <a:ext cx="4666511" cy="6012656"/>
          </a:xfrm>
          <a:prstGeom prst="roundRect">
            <a:avLst/>
          </a:prstGeom>
          <a:solidFill>
            <a:srgbClr val="201A12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9023" rIns="189023" tIns="166687" bIns="142875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FFAB00"/>
                </a:solidFill>
                <a:latin typeface="Noto Sans CJK TC"/>
              </a:rPr>
              <a:t>● 全鏈路閉環 (Observability)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Getting Started with Grafana k6</a:t>
            </a:r>
          </a:p>
          <a:p>
            <a:pPr algn="l">
              <a:spcAft>
                <a:spcPts val="1000"/>
              </a:spcAft>
            </a:pPr>
            <a:r>
              <a:rPr sz="900">
                <a:solidFill>
                  <a:srgbClr val="A0AAB9"/>
                </a:solidFill>
                <a:latin typeface="Noto Sans CJK TC"/>
              </a:rPr>
              <a:t>核心：OpenTelemetry 串流與 GitLab CI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語意化測試組織：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運用 k6/http、check 與 group 模組化封裝業務邏輯，產出結構清晰且具備業務意義的階層化壓測報表。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OTel 串流全面整合：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直連 OpenTelemetry Collector，將客戶端壓測指標與後端分散式 Traces、Logs 進行跨維度時間軸對齊。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GitLab CI 自動化門禁：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將 k6 壓測無縫嵌入 CI/CD 流水線，以 Exit Code 99 自動攔截效能退化代碼，守護生產主幹穩定。</a:t>
            </a:r>
          </a:p>
        </p:txBody>
      </p:sp>
      <p:sp>
        <p:nvSpPr>
          <p:cNvPr id="9" name="Rounded Rectangle 8">
            <a:hlinkClick r:id="rId5"/>
          </p:cNvPr>
          <p:cNvSpPr/>
          <p:nvPr/>
        </p:nvSpPr>
        <p:spPr>
          <a:xfrm>
            <a:off x="11057860" y="6965156"/>
            <a:ext cx="4288465" cy="428625"/>
          </a:xfrm>
          <a:prstGeom prst="roundRect">
            <a:avLst/>
          </a:prstGeom>
          <a:solidFill>
            <a:srgbClr val="202C3E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66FCF1"/>
                </a:solidFill>
                <a:latin typeface="Noto Sans Mono CJK TC"/>
              </a:rPr>
              <a:t>📖 閱讀文章 ➔ ganhua.wang/getting-started-with-grafana-k6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8837" y="7715250"/>
            <a:ext cx="14826511" cy="571500"/>
          </a:xfrm>
          <a:prstGeom prst="roundRect">
            <a:avLst/>
          </a:prstGeom>
          <a:solidFill>
            <a:srgbClr val="141C2A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5395" rIns="165395"/>
          <a:lstStyle/>
          <a:p>
            <a:pPr algn="l"/>
            <a:r>
              <a:rPr sz="1000" b="1">
                <a:solidFill>
                  <a:srgbClr val="FFD700"/>
                </a:solidFill>
                <a:latin typeface="Noto Sans CJK TC"/>
              </a:rPr>
              <a:t>💡 學習價值： </a:t>
            </a:r>
            <a:r>
              <a:rPr sz="950">
                <a:solidFill>
                  <a:srgbClr val="DCE1EB"/>
                </a:solidFill>
                <a:latin typeface="Noto Sans CJK TC"/>
              </a:rPr>
              <a:t>本課程奠定企業級效能工程體系，專欄文章則引領大家攻克真實業務中的前沿自訂挑戰，推薦課後務必搭配精讀！</a:t>
            </a:r>
          </a:p>
        </p:txBody>
      </p:sp>
      <p:sp>
        <p:nvSpPr>
          <p:cNvPr id="11" name="Rounded Rectangle 10">
            <a:hlinkClick r:id="rId6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  <p:sp>
        <p:nvSpPr>
          <p:cNvPr id="12" name="Codelabs_Link_Badge">
            <a:hlinkClick r:id="rId6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476250"/>
            <a:ext cx="14838325" cy="595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CJK TC"/>
                <a:ea typeface="Noto Sans CJK TC"/>
              </a:rPr>
              <a:t>看懂儀表板：8 種經典曲線型態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8837" y="1047750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400" b="0">
                <a:solidFill>
                  <a:srgbClr val="66FCF1"/>
                </a:solidFill>
                <a:latin typeface="Noto Sans CJK TC"/>
                <a:ea typeface="Noto Sans CJK TC"/>
              </a:rPr>
              <a:t>虛線＝負載軸（VUs / RPS），實線＝反應軸（延遲、錯誤率）；找出第一個偏離平穩的拐點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837" y="1547812"/>
            <a:ext cx="14838325" cy="6977062"/>
          </a:xfrm>
          <a:prstGeom prst="roundRect">
            <a:avLst>
              <a:gd name="adj" fmla="val 2500"/>
            </a:avLst>
          </a:prstGeom>
          <a:solidFill>
            <a:srgbClr val="FCFCFB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rve_patter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046" y="1752004"/>
            <a:ext cx="14483906" cy="6568678"/>
          </a:xfrm>
          <a:prstGeom prst="rect">
            <a:avLst/>
          </a:prstGeom>
        </p:spPr>
      </p:pic>
      <p:sp>
        <p:nvSpPr>
          <p:cNvPr id="4" name="Codelabs_Link_Badge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  <p:sp>
        <p:nvSpPr>
          <p:cNvPr id="7" name="MetricReading_Marker"/>
          <p:cNvSpPr txBox="1"/>
          <p:nvPr/>
        </p:nvSpPr>
        <p:spPr>
          <a:xfrm>
            <a:off x="0" y="0"/>
            <a:ext cx="1" cy="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476250"/>
            <a:ext cx="14838325" cy="595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CJK TC"/>
                <a:ea typeface="Noto Sans CJK TC"/>
              </a:rPr>
              <a:t>Soak 判讀：趨勢比門檻重要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8837" y="1047750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400" b="0">
                <a:solidFill>
                  <a:srgbClr val="66FCF1"/>
                </a:solidFill>
                <a:latin typeface="Noto Sans CJK TC"/>
                <a:ea typeface="Noto Sans CJK TC"/>
              </a:rPr>
              <a:t>負載固定時，時間是唯一的變數：看斜率、看恢復，再把 k6 端的「果」對齊後端的「因」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837" y="1595437"/>
            <a:ext cx="7088372" cy="3571875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5116" y="1738312"/>
            <a:ext cx="6615813" cy="4048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TC"/>
                <a:ea typeface="Noto Sans CJK TC"/>
              </a:rPr>
              <a:t>全程綠燈，也可能是失敗的 Soak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50604" y="2190750"/>
          <a:ext cx="6804837" cy="202406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45116" y="4286250"/>
            <a:ext cx="6615813" cy="785812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D7DEEB"/>
                </a:solidFill>
                <a:latin typeface="Noto Sans CJK TC"/>
                <a:ea typeface="Noto Sans CJK TC"/>
              </a:rPr>
              <a:t>P95 從 300ms 爬到 700ms，門檻 800ms 沒破</a:t>
            </a:r>
          </a:p>
          <a:p>
            <a:pPr algn="l">
              <a:spcAft>
                <a:spcPts val="400"/>
              </a:spcAft>
            </a:pPr>
            <a:r>
              <a:rPr sz="1350" b="1">
                <a:solidFill>
                  <a:srgbClr val="FFAB00"/>
                </a:solidFill>
                <a:latin typeface="Noto Sans CJK TC"/>
                <a:ea typeface="Noto Sans CJK TC"/>
              </a:rPr>
              <a:t>→ 照這個斜率，第八小時就會紅燈。Soak 要看斜率，不是紅綠燈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837" y="5357812"/>
            <a:ext cx="7088372" cy="3024187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5116" y="5500687"/>
            <a:ext cx="6615813" cy="381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700" b="1">
                <a:solidFill>
                  <a:srgbClr val="66FCF1"/>
                </a:solidFill>
                <a:latin typeface="Noto Sans CJK TC"/>
                <a:ea typeface="Noto Sans CJK TC"/>
              </a:rPr>
              <a:t>三個判讀習慣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5116" y="5953125"/>
            <a:ext cx="6663069" cy="2333625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66FCF1"/>
                </a:solidFill>
                <a:latin typeface="Noto Sans CJK TC"/>
                <a:ea typeface="Noto Sans CJK TC"/>
              </a:rPr>
              <a:t>● </a:t>
            </a:r>
            <a:r>
              <a:rPr sz="1550" b="1">
                <a:solidFill>
                  <a:srgbClr val="FFFFFF"/>
                </a:solidFill>
                <a:latin typeface="Noto Sans CJK TC"/>
                <a:ea typeface="Noto Sans CJK TC"/>
              </a:rPr>
              <a:t>量化斜率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   只取固定負載段，5 分鐘一桶，算 P50 / P95 / 錯誤率 / RPS 的趨勢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66FCF1"/>
                </a:solidFill>
                <a:latin typeface="Noto Sans CJK TC"/>
                <a:ea typeface="Noto Sans CJK TC"/>
              </a:rPr>
              <a:t>● </a:t>
            </a:r>
            <a:r>
              <a:rPr sz="1550" b="1">
                <a:solidFill>
                  <a:srgbClr val="FFFFFF"/>
                </a:solidFill>
                <a:latin typeface="Noto Sans CJK TC"/>
                <a:ea typeface="Noto Sans CJK TC"/>
              </a:rPr>
              <a:t>一定看恢復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   負載歸零後有沒有回到基準？結束後再跑一次 Smoke，仍慢就是硬證據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66FCF1"/>
                </a:solidFill>
                <a:latin typeface="Noto Sans CJK TC"/>
                <a:ea typeface="Noto Sans CJK TC"/>
              </a:rPr>
              <a:t>● </a:t>
            </a:r>
            <a:r>
              <a:rPr sz="1550" b="1">
                <a:solidFill>
                  <a:srgbClr val="FFFFFF"/>
                </a:solidFill>
                <a:latin typeface="Noto Sans CJK TC"/>
                <a:ea typeface="Noto Sans CJK TC"/>
              </a:rPr>
              <a:t>守住窗口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   負載取撐得住的六到八成；期間不部署、不重啟、不跑批次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0744" y="1595437"/>
            <a:ext cx="7466418" cy="6786562"/>
          </a:xfrm>
          <a:prstGeom prst="roundRect">
            <a:avLst>
              <a:gd name="adj" fmla="val 4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7023" y="1738312"/>
            <a:ext cx="6993860" cy="381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700" b="1">
                <a:solidFill>
                  <a:srgbClr val="66FCF1"/>
                </a:solidFill>
                <a:latin typeface="Noto Sans CJK TC"/>
                <a:ea typeface="Noto Sans CJK TC"/>
              </a:rPr>
              <a:t>k6 端的「果」→ 後端的「因」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7023" y="2190750"/>
            <a:ext cx="1772093" cy="30956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200" b="1">
                <a:solidFill>
                  <a:srgbClr val="9AA0A6"/>
                </a:solidFill>
                <a:latin typeface="Noto Sans CJK TC"/>
                <a:ea typeface="Noto Sans CJK TC"/>
              </a:rPr>
              <a:t>k6 訊號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83627" y="2190750"/>
            <a:ext cx="2480930" cy="30956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200" b="1">
                <a:solidFill>
                  <a:srgbClr val="9AA0A6"/>
                </a:solidFill>
                <a:latin typeface="Noto Sans CJK TC"/>
                <a:ea typeface="Noto Sans CJK TC"/>
              </a:rPr>
              <a:t>對照的後端數據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759069" y="2190750"/>
            <a:ext cx="2599069" cy="30956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200" b="1">
                <a:solidFill>
                  <a:srgbClr val="9AA0A6"/>
                </a:solidFill>
                <a:latin typeface="Noto Sans CJK TC"/>
                <a:ea typeface="Noto Sans CJK TC"/>
              </a:rPr>
              <a:t>本 Lab 去哪看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69767" y="2571750"/>
            <a:ext cx="7088372" cy="1000125"/>
          </a:xfrm>
          <a:prstGeom prst="roundRect">
            <a:avLst>
              <a:gd name="adj" fmla="val 10000"/>
            </a:avLst>
          </a:prstGeom>
          <a:solidFill>
            <a:srgbClr val="0A1420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1534" y="2643187"/>
            <a:ext cx="1724837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50" b="1">
                <a:solidFill>
                  <a:srgbClr val="FFAB00"/>
                </a:solidFill>
                <a:latin typeface="Noto Sans CJK TC"/>
                <a:ea typeface="Noto Sans CJK TC"/>
              </a:rPr>
              <a:t>⑤ P95 緩慢爬升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83627" y="2643187"/>
            <a:ext cx="2480930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TC"/>
                <a:ea typeface="Noto Sans CJK TC"/>
              </a:rPr>
              <a:t>記憶體 heap、GC 次數與暫停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59069" y="2643187"/>
            <a:ext cx="2504558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250" b="0">
                <a:solidFill>
                  <a:srgbClr val="D7DEEB"/>
                </a:solidFill>
                <a:latin typeface="Noto Sans CJK TC"/>
                <a:ea typeface="Noto Sans CJK TC"/>
              </a:rPr>
              <a:t>docker stats 定時記錄容器記憶體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69767" y="3714750"/>
            <a:ext cx="7088372" cy="1000125"/>
          </a:xfrm>
          <a:prstGeom prst="roundRect">
            <a:avLst>
              <a:gd name="adj" fmla="val 10000"/>
            </a:avLst>
          </a:prstGeom>
          <a:solidFill>
            <a:srgbClr val="0A1420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1534" y="3786187"/>
            <a:ext cx="1724837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50" b="1">
                <a:solidFill>
                  <a:srgbClr val="FFAB00"/>
                </a:solidFill>
                <a:latin typeface="Noto Sans CJK TC"/>
                <a:ea typeface="Noto Sans CJK TC"/>
              </a:rPr>
              <a:t>⑤ 特定端點變慢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3627" y="3786187"/>
            <a:ext cx="2480930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TC"/>
                <a:ea typeface="Noto Sans CJK TC"/>
              </a:rPr>
              <a:t>資料庫查詢延遲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759069" y="3786187"/>
            <a:ext cx="2504558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250" b="0">
                <a:solidFill>
                  <a:srgbClr val="D7DEEB"/>
                </a:solidFill>
                <a:latin typeface="Noto Sans CJK TC"/>
                <a:ea typeface="Noto Sans CJK TC"/>
              </a:rPr>
              <a:t>4 Golden Signals：Database Query Latency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69767" y="4857750"/>
            <a:ext cx="7088372" cy="1000125"/>
          </a:xfrm>
          <a:prstGeom prst="roundRect">
            <a:avLst>
              <a:gd name="adj" fmla="val 10000"/>
            </a:avLst>
          </a:prstGeom>
          <a:solidFill>
            <a:srgbClr val="0A1420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1534" y="4929187"/>
            <a:ext cx="1724837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50" b="1">
                <a:solidFill>
                  <a:srgbClr val="FFAB00"/>
                </a:solidFill>
                <a:latin typeface="Noto Sans CJK TC"/>
                <a:ea typeface="Noto Sans CJK TC"/>
              </a:rPr>
              <a:t>⑦ 錯誤率階梯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83627" y="4929187"/>
            <a:ext cx="2480930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TC"/>
                <a:ea typeface="Noto Sans CJK TC"/>
              </a:rPr>
              <a:t>DB 連線池使用中／上限、open files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9069" y="4929187"/>
            <a:ext cx="2504558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250" b="0">
                <a:solidFill>
                  <a:srgbClr val="D7DEEB"/>
                </a:solidFill>
                <a:latin typeface="Noto Sans CJK TC"/>
                <a:ea typeface="Noto Sans CJK TC"/>
              </a:rPr>
              <a:t>pg_stat_activity 連線數、/proc/1/fd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69767" y="6000750"/>
            <a:ext cx="7088372" cy="1000125"/>
          </a:xfrm>
          <a:prstGeom prst="roundRect">
            <a:avLst>
              <a:gd name="adj" fmla="val 10000"/>
            </a:avLst>
          </a:prstGeom>
          <a:solidFill>
            <a:srgbClr val="0A1420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1534" y="6072187"/>
            <a:ext cx="1724837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50" b="1">
                <a:solidFill>
                  <a:srgbClr val="FFAB00"/>
                </a:solidFill>
                <a:latin typeface="Noto Sans CJK TC"/>
                <a:ea typeface="Noto Sans CJK TC"/>
              </a:rPr>
              <a:t>⑧ RPS 下滑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83627" y="6072187"/>
            <a:ext cx="2480930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TC"/>
                <a:ea typeface="Noto Sans CJK TC"/>
              </a:rPr>
              <a:t>伺服器／LB 連線數、壓測機連線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759069" y="6072187"/>
            <a:ext cx="2504558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250" b="0">
                <a:solidFill>
                  <a:srgbClr val="D7DEEB"/>
                </a:solidFill>
                <a:latin typeface="Noto Sans CJK TC"/>
                <a:ea typeface="Noto Sans CJK TC"/>
              </a:rPr>
              <a:t>壓測機 ss -s；Request Rate by Service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69767" y="7143750"/>
            <a:ext cx="7088372" cy="1000125"/>
          </a:xfrm>
          <a:prstGeom prst="roundRect">
            <a:avLst>
              <a:gd name="adj" fmla="val 10000"/>
            </a:avLst>
          </a:prstGeom>
          <a:solidFill>
            <a:srgbClr val="0A1420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1534" y="7215187"/>
            <a:ext cx="1724837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50" b="1">
                <a:solidFill>
                  <a:srgbClr val="FFAB00"/>
                </a:solidFill>
                <a:latin typeface="Noto Sans CJK TC"/>
                <a:ea typeface="Noto Sans CJK TC"/>
              </a:rPr>
              <a:t>所有訊號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83627" y="7215187"/>
            <a:ext cx="2480930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Noto Sans CJK TC"/>
                <a:ea typeface="Noto Sans CJK TC"/>
              </a:rPr>
              <a:t>部署／重啟／排程的時間紀錄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9069" y="7215187"/>
            <a:ext cx="2504558" cy="857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250" b="0">
                <a:solidFill>
                  <a:srgbClr val="D7DEEB"/>
                </a:solidFill>
                <a:latin typeface="Noto Sans CJK TC"/>
                <a:ea typeface="Noto Sans CJK TC"/>
              </a:rPr>
              <a:t>確認不是「有人動了它」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9767" y="8382000"/>
            <a:ext cx="7277395" cy="26193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000" b="0">
                <a:solidFill>
                  <a:srgbClr val="9AA0A6"/>
                </a:solidFill>
                <a:latin typeface="Noto Sans CJK TC"/>
                <a:ea typeface="Noto Sans CJK TC"/>
              </a:rPr>
              <a:t>參考：iThome 鐵人賽〈Day 24｜Soak Test：從 k6 端數據推測伺服器在漏什麼〉</a:t>
            </a:r>
          </a:p>
        </p:txBody>
      </p:sp>
      <p:sp>
        <p:nvSpPr>
          <p:cNvPr id="4" name="Codelabs_Link_Badge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476250"/>
            <a:ext cx="14838325" cy="595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CJK TC"/>
                <a:ea typeface="Noto Sans CJK TC"/>
              </a:rPr>
              <a:t>儀表板判讀 4 步驟 SOP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8837" y="1047750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400" b="0">
                <a:solidFill>
                  <a:srgbClr val="66FCF1"/>
                </a:solidFill>
                <a:latin typeface="Noto Sans CJK TC"/>
                <a:ea typeface="Noto Sans CJK TC"/>
              </a:rPr>
              <a:t>總結數字只告訴你「P95 = 812ms」，曲線才告訴你「第 35 秒、45 RPS 時開始抬頭」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837" y="1595437"/>
            <a:ext cx="7088372" cy="1571625"/>
          </a:xfrm>
          <a:prstGeom prst="roundRect">
            <a:avLst>
              <a:gd name="adj" fmla="val 8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5116" y="1785937"/>
            <a:ext cx="826976" cy="11906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4400" b="1">
                <a:solidFill>
                  <a:srgbClr val="66FCF1"/>
                </a:solidFill>
                <a:latin typeface="Noto Sans CJK TC"/>
                <a:ea typeface="Noto Sans CJK T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90232" y="1762125"/>
            <a:ext cx="5717953" cy="1238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確認壓力真的打出去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VUs 與 RPS 符合腳本設計嗎？有沒有 dropped_iterations？流量配比對不對？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837" y="3333750"/>
            <a:ext cx="7088372" cy="1571625"/>
          </a:xfrm>
          <a:prstGeom prst="roundRect">
            <a:avLst>
              <a:gd name="adj" fmla="val 8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5116" y="3524250"/>
            <a:ext cx="826976" cy="11906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4400" b="1">
                <a:solidFill>
                  <a:srgbClr val="66FCF1"/>
                </a:solidFill>
                <a:latin typeface="Noto Sans CJK TC"/>
                <a:ea typeface="Noto Sans CJK T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0232" y="3500437"/>
            <a:ext cx="5717953" cy="1238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找出拐點時間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延遲或錯誤率第一次偏離平穩的時間點，記下當下的 VUs 與 RPS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837" y="5072062"/>
            <a:ext cx="7088372" cy="1571625"/>
          </a:xfrm>
          <a:prstGeom prst="roundRect">
            <a:avLst>
              <a:gd name="adj" fmla="val 8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5116" y="5262562"/>
            <a:ext cx="826976" cy="11906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4400" b="1">
                <a:solidFill>
                  <a:srgbClr val="66FCF1"/>
                </a:solidFill>
                <a:latin typeface="Noto Sans CJK TC"/>
                <a:ea typeface="Noto Sans CJK T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0232" y="5238750"/>
            <a:ext cx="5717953" cy="1238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定位是哪一段變慢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切到 Timings 分頁：Waiting＝後端運算、Blocked / Connecting＝連線層、Receiving＝Payload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837" y="6810375"/>
            <a:ext cx="7088372" cy="1571625"/>
          </a:xfrm>
          <a:prstGeom prst="roundRect">
            <a:avLst>
              <a:gd name="adj" fmla="val 8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5116" y="7000875"/>
            <a:ext cx="826976" cy="11906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4400" b="1">
                <a:solidFill>
                  <a:srgbClr val="66FCF1"/>
                </a:solidFill>
                <a:latin typeface="Noto Sans CJK TC"/>
                <a:ea typeface="Noto Sans CJK T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90232" y="6977062"/>
            <a:ext cx="5717953" cy="1238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對齊後端指標找根因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D7DEEB"/>
                </a:solidFill>
                <a:latin typeface="Noto Sans CJK TC"/>
                <a:ea typeface="Noto Sans CJK TC"/>
              </a:rPr>
              <a:t>把拐點時間帶進 Grafana，用共享十字準星對齊 CPU、記憶體、DB 連線池 → 下一頁破案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744" y="1595437"/>
            <a:ext cx="7466418" cy="3119437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7023" y="1738312"/>
            <a:ext cx="6993860" cy="381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00" b="1">
                <a:solidFill>
                  <a:srgbClr val="66FCF1"/>
                </a:solidFill>
                <a:latin typeface="Noto Sans CJK TC"/>
                <a:ea typeface="Noto Sans CJK TC"/>
              </a:rPr>
              <a:t>k6 Web Dashboard 分頁地圖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17023" y="2309812"/>
            <a:ext cx="1323162" cy="381000"/>
          </a:xfrm>
          <a:prstGeom prst="roundRect">
            <a:avLst>
              <a:gd name="adj" fmla="val 50000"/>
            </a:avLst>
          </a:prstGeom>
          <a:solidFill>
            <a:srgbClr val="0A1420"/>
          </a:solidFill>
          <a:ln w="12700">
            <a:solidFill>
              <a:srgbClr val="BB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BB86FC"/>
                </a:solidFill>
                <a:latin typeface="Noto Sans Mono CJK TC"/>
                <a:ea typeface="Noto Sans Mono CJK TC"/>
              </a:rPr>
              <a:t>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05581" y="2214562"/>
            <a:ext cx="5552558" cy="762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D7DEEB"/>
                </a:solidFill>
                <a:latin typeface="Noto Sans CJK TC"/>
                <a:ea typeface="Noto Sans CJK TC"/>
              </a:rPr>
              <a:t>HTTP Performance overview 把 RPS、P95、失敗率疊在同一張圖</a:t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Noto Sans CJK TC"/>
                <a:ea typeface="Noto Sans CJK TC"/>
              </a:rPr>
              <a:t>→ 在什麼負載下開始變慢或出錯？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17023" y="3119437"/>
            <a:ext cx="1323162" cy="381000"/>
          </a:xfrm>
          <a:prstGeom prst="roundRect">
            <a:avLst>
              <a:gd name="adj" fmla="val 50000"/>
            </a:avLst>
          </a:prstGeom>
          <a:solidFill>
            <a:srgbClr val="0A1420"/>
          </a:solidFill>
          <a:ln w="12700">
            <a:solidFill>
              <a:srgbClr val="BB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BB86FC"/>
                </a:solidFill>
                <a:latin typeface="Noto Sans Mono CJK TC"/>
                <a:ea typeface="Noto Sans Mono CJK TC"/>
              </a:rPr>
              <a:t>Timings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05581" y="3024187"/>
            <a:ext cx="5552558" cy="762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D7DEEB"/>
                </a:solidFill>
                <a:latin typeface="Noto Sans CJK TC"/>
                <a:ea typeface="Noto Sans CJK TC"/>
              </a:rPr>
              <a:t>http_req_duration 的 6 個細分指標各一張圖</a:t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Noto Sans CJK TC"/>
                <a:ea typeface="Noto Sans CJK TC"/>
              </a:rPr>
              <a:t>→ 變慢的是哪一段？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17023" y="3929062"/>
            <a:ext cx="1323162" cy="381000"/>
          </a:xfrm>
          <a:prstGeom prst="roundRect">
            <a:avLst>
              <a:gd name="adj" fmla="val 50000"/>
            </a:avLst>
          </a:prstGeom>
          <a:solidFill>
            <a:srgbClr val="0A1420"/>
          </a:solidFill>
          <a:ln w="12700">
            <a:solidFill>
              <a:srgbClr val="BB8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BB86FC"/>
                </a:solidFill>
                <a:latin typeface="Noto Sans Mono CJK TC"/>
                <a:ea typeface="Noto Sans Mono CJK TC"/>
              </a:rPr>
              <a:t>Summary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05581" y="3833812"/>
            <a:ext cx="5552558" cy="762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D7DEEB"/>
                </a:solidFill>
                <a:latin typeface="Noto Sans CJK TC"/>
                <a:ea typeface="Noto Sans CJK TC"/>
              </a:rPr>
              <a:t>所有指標的結尾統計表</a:t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Noto Sans CJK TC"/>
                <a:ea typeface="Noto Sans CJK TC"/>
              </a:rPr>
              <a:t>→ 等同終端機摘要，套用 5 步驟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744" y="4905375"/>
            <a:ext cx="7466418" cy="3476625"/>
          </a:xfrm>
          <a:prstGeom prst="roundRect">
            <a:avLst>
              <a:gd name="adj" fmla="val 5000"/>
            </a:avLst>
          </a:prstGeom>
          <a:solidFill>
            <a:srgbClr val="1A1626"/>
          </a:solidFill>
          <a:ln w="12700">
            <a:solidFill>
              <a:srgbClr val="5B4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17023" y="5048250"/>
            <a:ext cx="6993860" cy="381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AB00"/>
                </a:solidFill>
                <a:latin typeface="Noto Sans CJK TC"/>
                <a:ea typeface="Noto Sans CJK TC"/>
              </a:rPr>
              <a:t>⚠ 三個判讀陷阱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7023" y="5500687"/>
            <a:ext cx="7041116" cy="2809875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FFAB00"/>
                </a:solidFill>
                <a:latin typeface="Noto Sans CJK TC"/>
                <a:ea typeface="Noto Sans CJK TC"/>
              </a:rPr>
              <a:t>● </a:t>
            </a:r>
            <a:r>
              <a:rPr sz="1450" b="1">
                <a:solidFill>
                  <a:srgbClr val="FFFFFF"/>
                </a:solidFill>
                <a:latin typeface="Noto Sans CJK TC"/>
                <a:ea typeface="Noto Sans CJK TC"/>
              </a:rPr>
              <a:t>Overview 上排數字卡的 HTTP Request Duration 是 avg，不是 P95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D7DEEB"/>
                </a:solidFill>
                <a:latin typeface="Noto Sans CJK TC"/>
                <a:ea typeface="Noto Sans CJK TC"/>
              </a:rPr>
              <a:t>   延遲請看下方 P95 / P99 曲線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FFAB00"/>
                </a:solidFill>
                <a:latin typeface="Noto Sans CJK TC"/>
                <a:ea typeface="Noto Sans CJK TC"/>
              </a:rPr>
              <a:t>● </a:t>
            </a:r>
            <a:r>
              <a:rPr sz="1450" b="1">
                <a:solidFill>
                  <a:srgbClr val="FFFFFF"/>
                </a:solidFill>
                <a:latin typeface="Noto Sans CJK TC"/>
                <a:ea typeface="Noto Sans CJK TC"/>
              </a:rPr>
              <a:t>對 Trend Stats 推送的 k6_http_req_duration_p95 再取 avg()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D7DEEB"/>
                </a:solidFill>
                <a:latin typeface="Noto Sans CJK TC"/>
                <a:ea typeface="Noto Sans CJK TC"/>
              </a:rPr>
              <a:t>   百分位數不能平均！本專案改用 Native Histogram ＋ histogram_quantile()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FFAB00"/>
                </a:solidFill>
                <a:latin typeface="Noto Sans CJK TC"/>
                <a:ea typeface="Noto Sans CJK TC"/>
              </a:rPr>
              <a:t>● </a:t>
            </a:r>
            <a:r>
              <a:rPr sz="1450" b="1">
                <a:solidFill>
                  <a:srgbClr val="FFFFFF"/>
                </a:solidFill>
                <a:latin typeface="Noto Sans CJK TC"/>
                <a:ea typeface="Noto Sans CJK TC"/>
              </a:rPr>
              <a:t>RPS 走平，但後端 CPU 很閒、延遲也沒漲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D7DEEB"/>
                </a:solidFill>
                <a:latin typeface="Noto Sans CJK TC"/>
                <a:ea typeface="Noto Sans CJK TC"/>
              </a:rPr>
              <a:t>   瓶頸可能在壓測機本身：看 k6 主機的 CPU、網卡與 dropped_iterations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476250"/>
            <a:ext cx="14838325" cy="595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CJK TC"/>
                <a:ea typeface="Noto Sans CJK TC"/>
              </a:rPr>
              <a:t>隨堂練習指引 (Hands-on Practice)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8837" y="1047750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400" b="0">
                <a:solidFill>
                  <a:srgbClr val="66FCF1"/>
                </a:solidFill>
                <a:latin typeface="Noto Sans CJK TC"/>
                <a:ea typeface="Noto Sans CJK TC"/>
              </a:rPr>
              <a:t>依序完成四個實作，對應 Codelab 第 5 章「手把手實作演練」的實作 1～4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837" y="1571625"/>
            <a:ext cx="7312837" cy="3369468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5116" y="1714500"/>
            <a:ext cx="6840279" cy="381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50" b="1">
                <a:solidFill>
                  <a:srgbClr val="FFFFFF"/>
                </a:solidFill>
                <a:latin typeface="Noto Sans CJK TC"/>
                <a:ea typeface="Noto Sans CJK TC"/>
              </a:rPr>
              <a:t>任務一：原生 Web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5116" y="2190750"/>
            <a:ext cx="6840279" cy="1381125"/>
          </a:xfrm>
          <a:prstGeom prst="roundRect">
            <a:avLst>
              <a:gd name="adj" fmla="val 8000"/>
            </a:avLst>
          </a:prstGeom>
          <a:solidFill>
            <a:srgbClr val="0A1420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9023" tIns="0" rIns="141767" bIns="0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66FCF1"/>
                </a:solidFill>
                <a:latin typeface="Noto Sans Mono CJK TC"/>
                <a:ea typeface="Noto Sans Mono CJK TC"/>
              </a:rPr>
              <a:t>K6_WEB_DASHBOARD=true \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66FCF1"/>
                </a:solidFill>
                <a:latin typeface="Noto Sans Mono CJK TC"/>
                <a:ea typeface="Noto Sans Mono CJK TC"/>
              </a:rPr>
              <a:t>k6 run k6/demos/ch5_dashboard_and_html_summary.js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5116" y="3667125"/>
            <a:ext cx="6840279" cy="11668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AB00"/>
                </a:solidFill>
                <a:latin typeface="Noto Sans CJK TC"/>
                <a:ea typeface="Noto Sans CJK TC"/>
              </a:rPr>
              <a:t>✓ </a:t>
            </a:r>
            <a:r>
              <a:rPr sz="1500" b="0">
                <a:solidFill>
                  <a:srgbClr val="D7DEEB"/>
                </a:solidFill>
                <a:latin typeface="Noto Sans CJK TC"/>
                <a:ea typeface="Noto Sans CJK TC"/>
              </a:rPr>
              <a:t>打開 http://127.0.0.1:5665 看即時曲線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AB00"/>
                </a:solidFill>
                <a:latin typeface="Noto Sans CJK TC"/>
                <a:ea typeface="Noto Sans CJK TC"/>
              </a:rPr>
              <a:t>✓ </a:t>
            </a:r>
            <a:r>
              <a:rPr sz="1500" b="0">
                <a:solidFill>
                  <a:srgbClr val="D7DEEB"/>
                </a:solidFill>
                <a:latin typeface="Noto Sans CJK TC"/>
                <a:ea typeface="Noto Sans CJK TC"/>
              </a:rPr>
              <a:t>Overview 看 VUs 與 RPS 是否同步；Timings 找最大的一段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34325" y="1571625"/>
            <a:ext cx="7312837" cy="3369468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70604" y="1714500"/>
            <a:ext cx="6840279" cy="381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50" b="1">
                <a:solidFill>
                  <a:srgbClr val="FFFFFF"/>
                </a:solidFill>
                <a:latin typeface="Noto Sans CJK TC"/>
                <a:ea typeface="Noto Sans CJK TC"/>
              </a:rPr>
              <a:t>任務二：CI 用的靜態 HTML 報告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70604" y="2190750"/>
            <a:ext cx="6840279" cy="1381125"/>
          </a:xfrm>
          <a:prstGeom prst="roundRect">
            <a:avLst>
              <a:gd name="adj" fmla="val 8000"/>
            </a:avLst>
          </a:prstGeom>
          <a:solidFill>
            <a:srgbClr val="0A1420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9023" tIns="0" rIns="141767" bIns="0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66FCF1"/>
                </a:solidFill>
                <a:latin typeface="Noto Sans Mono CJK TC"/>
                <a:ea typeface="Noto Sans Mono CJK TC"/>
              </a:rPr>
              <a:t>K6_WEB_DASHBOARD=true K6_WEB_DASHBOARD_PORT=-1 \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66FCF1"/>
                </a:solidFill>
                <a:latin typeface="Noto Sans Mono CJK TC"/>
                <a:ea typeface="Noto Sans Mono CJK TC"/>
              </a:rPr>
              <a:t>K6_WEB_DASHBOARD_EXPORT=offline_report.html \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66FCF1"/>
                </a:solidFill>
                <a:latin typeface="Noto Sans Mono CJK TC"/>
                <a:ea typeface="Noto Sans Mono CJK TC"/>
              </a:rPr>
              <a:t>k6 run k6/demos/ch5_dashboard_and_html_summary.js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0604" y="3667125"/>
            <a:ext cx="6840279" cy="11668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AB00"/>
                </a:solidFill>
                <a:latin typeface="Noto Sans CJK TC"/>
                <a:ea typeface="Noto Sans CJK TC"/>
              </a:rPr>
              <a:t>✓ </a:t>
            </a:r>
            <a:r>
              <a:rPr sz="1500" b="0">
                <a:solidFill>
                  <a:srgbClr val="D7DEEB"/>
                </a:solidFill>
                <a:latin typeface="Noto Sans CJK TC"/>
                <a:ea typeface="Noto Sans CJK TC"/>
              </a:rPr>
              <a:t>Port=-1：不開伺服器，跑完自動退出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AB00"/>
                </a:solidFill>
                <a:latin typeface="Noto Sans CJK TC"/>
                <a:ea typeface="Noto Sans CJK TC"/>
              </a:rPr>
              <a:t>✓ </a:t>
            </a:r>
            <a:r>
              <a:rPr sz="1500" b="0">
                <a:solidFill>
                  <a:srgbClr val="D7DEEB"/>
                </a:solidFill>
                <a:latin typeface="Noto Sans CJK TC"/>
                <a:ea typeface="Noto Sans CJK TC"/>
              </a:rPr>
              <a:t>產出 offline_report.html、custom_report.html、summary.json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837" y="5131593"/>
            <a:ext cx="7312837" cy="3369468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5116" y="5274468"/>
            <a:ext cx="6840279" cy="381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50" b="1">
                <a:solidFill>
                  <a:srgbClr val="FFFFFF"/>
                </a:solidFill>
                <a:latin typeface="Noto Sans CJK TC"/>
                <a:ea typeface="Noto Sans CJK TC"/>
              </a:rPr>
              <a:t>任務三：xk6 Docker 確定性編譯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5116" y="5750718"/>
            <a:ext cx="6840279" cy="1381125"/>
          </a:xfrm>
          <a:prstGeom prst="roundRect">
            <a:avLst>
              <a:gd name="adj" fmla="val 8000"/>
            </a:avLst>
          </a:prstGeom>
          <a:solidFill>
            <a:srgbClr val="0A1420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9023" tIns="0" rIns="141767" bIns="0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66FCF1"/>
                </a:solidFill>
                <a:latin typeface="Noto Sans Mono CJK TC"/>
                <a:ea typeface="Noto Sans Mono CJK TC"/>
              </a:rPr>
              <a:t>./k6/demos/ch5_xk6_docker_build.sh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9AA0A6"/>
                </a:solidFill>
                <a:latin typeface="Noto Sans Mono CJK TC"/>
                <a:ea typeface="Noto Sans Mono CJK TC"/>
              </a:rPr>
              <a:t># docker run -u "$(id -u):$(id -g)" -v "$(pwd)/bin:/xk6" \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9AA0A6"/>
                </a:solidFill>
                <a:latin typeface="Noto Sans Mono CJK TC"/>
                <a:ea typeface="Noto Sans Mono CJK TC"/>
              </a:rPr>
              <a:t>#   grafana/xk6 build latest --with github.com/grafana/xk6-sql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5116" y="7227093"/>
            <a:ext cx="6840279" cy="11668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AB00"/>
                </a:solidFill>
                <a:latin typeface="Noto Sans CJK TC"/>
                <a:ea typeface="Noto Sans CJK TC"/>
              </a:rPr>
              <a:t>✓ </a:t>
            </a:r>
            <a:r>
              <a:rPr sz="1500" b="0">
                <a:solidFill>
                  <a:srgbClr val="D7DEEB"/>
                </a:solidFill>
                <a:latin typeface="Noto Sans CJK TC"/>
                <a:ea typeface="Noto Sans CJK TC"/>
              </a:rPr>
              <a:t>執行 bin/k6-custom version 確認已封裝 xk6-sql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AB00"/>
                </a:solidFill>
                <a:latin typeface="Noto Sans CJK TC"/>
                <a:ea typeface="Noto Sans CJK TC"/>
              </a:rPr>
              <a:t>✓ </a:t>
            </a:r>
            <a:r>
              <a:rPr sz="1500" b="0">
                <a:solidFill>
                  <a:srgbClr val="D7DEEB"/>
                </a:solidFill>
                <a:latin typeface="Noto Sans CJK TC"/>
                <a:ea typeface="Noto Sans CJK TC"/>
              </a:rPr>
              <a:t>第一次要下載 Go 相依套件，需要幾分鐘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34325" y="5131593"/>
            <a:ext cx="7312837" cy="3369468"/>
          </a:xfrm>
          <a:prstGeom prst="roundRect">
            <a:avLst>
              <a:gd name="adj" fmla="val 5000"/>
            </a:avLst>
          </a:prstGeom>
          <a:solidFill>
            <a:srgbClr val="12202E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0604" y="5274468"/>
            <a:ext cx="6840279" cy="381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50" b="1">
                <a:solidFill>
                  <a:srgbClr val="FFFFFF"/>
                </a:solidFill>
                <a:latin typeface="Noto Sans CJK TC"/>
                <a:ea typeface="Noto Sans CJK TC"/>
              </a:rPr>
              <a:t>任務四：Prometheus Remote Write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70604" y="5750718"/>
            <a:ext cx="6840279" cy="1381125"/>
          </a:xfrm>
          <a:prstGeom prst="roundRect">
            <a:avLst>
              <a:gd name="adj" fmla="val 8000"/>
            </a:avLst>
          </a:prstGeom>
          <a:solidFill>
            <a:srgbClr val="0A1420"/>
          </a:solidFill>
          <a:ln w="12700">
            <a:solidFill>
              <a:srgbClr val="32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9023" tIns="0" rIns="141767" bIns="0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66FCF1"/>
                </a:solidFill>
                <a:latin typeface="Noto Sans Mono CJK TC"/>
                <a:ea typeface="Noto Sans Mono CJK TC"/>
              </a:rPr>
              <a:t>docker compose up -d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66FCF1"/>
                </a:solidFill>
                <a:latin typeface="Noto Sans Mono CJK TC"/>
                <a:ea typeface="Noto Sans Mono CJK TC"/>
              </a:rPr>
              <a:t>./k6/demos/ch5_prometheus_remote_write.sh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0604" y="7227093"/>
            <a:ext cx="6840279" cy="11668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AB00"/>
                </a:solidFill>
                <a:latin typeface="Noto Sans CJK TC"/>
                <a:ea typeface="Noto Sans CJK TC"/>
              </a:rPr>
              <a:t>✓ </a:t>
            </a:r>
            <a:r>
              <a:rPr sz="1500" b="0">
                <a:solidFill>
                  <a:srgbClr val="D7DEEB"/>
                </a:solidFill>
                <a:latin typeface="Noto Sans CJK TC"/>
                <a:ea typeface="Noto Sans CJK TC"/>
              </a:rPr>
              <a:t>Grafana k6-live-metrics 右上角用 commit_id 篩選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AB00"/>
                </a:solidFill>
                <a:latin typeface="Noto Sans CJK TC"/>
                <a:ea typeface="Noto Sans CJK TC"/>
              </a:rPr>
              <a:t>✓ </a:t>
            </a:r>
            <a:r>
              <a:rPr sz="1500" b="0">
                <a:solidFill>
                  <a:srgbClr val="D7DEEB"/>
                </a:solidFill>
                <a:latin typeface="Noto Sans CJK TC"/>
                <a:ea typeface="Noto Sans CJK TC"/>
              </a:rPr>
              <a:t>P95 由 native histogram 計算；套用判讀 SOP 找拐點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