
<file path=[Content_Types].xml><?xml version="1.0" encoding="utf-8"?>
<Types xmlns="http://schemas.openxmlformats.org/package/2006/content-types">
  <Default ContentType="application/vnd.openxmlformats-officedocument.spreadsheetml.sheet" Extension="xlsx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drawingml.chart+xml" PartName="/ppt/charts/chart1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9144000" cx="16256000"/>
  <p:notesSz cx="6858000" cy="9144000"/>
  <p:embeddedFontLst>
    <p:embeddedFont>
      <p:font typeface="Noto Sans Mono"/>
      <p:regular r:id="rId20"/>
      <p:bold r:id="rId21"/>
    </p:embeddedFont>
    <p:embeddedFont>
      <p:font typeface="Noto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6" roundtripDataSignature="AMtx7miureyt9NWTgoaPsCJsouXA6MPM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NotoSansMono-regular.fntdata"/><Relationship Id="rId22" Type="http://schemas.openxmlformats.org/officeDocument/2006/relationships/font" Target="fonts/NotoSans-regular.fntdata"/><Relationship Id="rId21" Type="http://schemas.openxmlformats.org/officeDocument/2006/relationships/font" Target="fonts/NotoSansMono-bold.fntdata"/><Relationship Id="rId24" Type="http://schemas.openxmlformats.org/officeDocument/2006/relationships/font" Target="fonts/NotoSans-italic.fntdata"/><Relationship Id="rId23" Type="http://schemas.openxmlformats.org/officeDocument/2006/relationships/font" Target="fonts/NotoSans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customschemas.google.com/relationships/presentationmetadata" Target="metadata"/><Relationship Id="rId25" Type="http://schemas.openxmlformats.org/officeDocument/2006/relationships/font" Target="fonts/Noto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charts/_rels/chart1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P95</c:v>
                </c:pt>
              </c:strCache>
            </c:strRef>
          </c:tx>
          <c:spPr>
            <a:ln w="34925">
              <a:solidFill>
                <a:srgbClr val="FFAB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3.0</c:v>
                </c:pt>
                <c:pt idx="1">
                  <c:v>3.36</c:v>
                </c:pt>
                <c:pt idx="2">
                  <c:v>3.7199999999999998</c:v>
                </c:pt>
                <c:pt idx="3">
                  <c:v>4.08</c:v>
                </c:pt>
                <c:pt idx="4">
                  <c:v>4.4399999999999995</c:v>
                </c:pt>
                <c:pt idx="5">
                  <c:v>4.8</c:v>
                </c:pt>
                <c:pt idx="6">
                  <c:v>5.16</c:v>
                </c:pt>
                <c:pt idx="7">
                  <c:v>5.52</c:v>
                </c:pt>
                <c:pt idx="8">
                  <c:v>5.88</c:v>
                </c:pt>
                <c:pt idx="9">
                  <c:v>6.24</c:v>
                </c:pt>
                <c:pt idx="10">
                  <c:v>6.6</c:v>
                </c:pt>
                <c:pt idx="11">
                  <c:v>6.96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門檻 p(95)&lt;800</c:v>
                </c:pt>
              </c:strCache>
            </c:strRef>
          </c:tx>
          <c:spPr>
            <a:ln w="19050">
              <a:solidFill>
                <a:srgbClr val="FF5252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8.0</c:v>
                </c:pt>
                <c:pt idx="1">
                  <c:v>8.0</c:v>
                </c:pt>
                <c:pt idx="2">
                  <c:v>8.0</c:v>
                </c:pt>
                <c:pt idx="3">
                  <c:v>8.0</c:v>
                </c:pt>
                <c:pt idx="4">
                  <c:v>8.0</c:v>
                </c:pt>
                <c:pt idx="5">
                  <c:v>8.0</c:v>
                </c:pt>
                <c:pt idx="6">
                  <c:v>8.0</c:v>
                </c:pt>
                <c:pt idx="7">
                  <c:v>8.0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2" name="Google Shape;132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8 種型態：① 健康線性 ② 飽和平台（RPS 走平＋P95 爬升，拐點即容量）③ 崩潰懸崖（P95 與錯誤率同時暴衝、RPS 下降）④ 尾巴張開（只有 P99 發散）⑤ 緩慢爬坡（負載不變延遲上升，看 P50 是否一起爬）⑥ 週期鋸齒（排程、GC、TTL）⑦ 錯誤率階梯（有限資源耗盡）⑧ 吞吐下滑＋blocked 上升（連線建立層，先排除壓測機）。</a:t>
            </a:r>
            <a:endParaRPr/>
          </a:p>
        </p:txBody>
      </p:sp>
      <p:sp>
        <p:nvSpPr>
          <p:cNvPr id="133" name="Google Shape;133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4" name="Google Shape;144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Soak 看斜率不看紅綠燈；量化趨勢（5 分鐘一桶）、一定看恢復（歸零後 + Smoke）、守住窗口。k6 只有果：P95 緩升對 heap/GC，錯誤階梯對連線池/open files，RPS 下滑對連線數與壓測機。</a:t>
            </a:r>
            <a:endParaRPr/>
          </a:p>
        </p:txBody>
      </p:sp>
      <p:sp>
        <p:nvSpPr>
          <p:cNvPr id="145" name="Google Shape;145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6" name="Google Shape;186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判讀 4 步驟：確認壓力打出去 → 找拐點 → Timings 定位哪一段 → Grafana 十字準星對齊後端。陷阱：Overview 數字卡是 avg；P95 不能再取平均，要用 native histogram；RPS 走平但後端很閒要懷疑壓測機。</a:t>
            </a:r>
            <a:endParaRPr/>
          </a:p>
        </p:txBody>
      </p:sp>
      <p:sp>
        <p:nvSpPr>
          <p:cNvPr id="187" name="Google Shape;187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1" name="Google Shape;251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四個任務對應 Codelab 實作 1～4：Web Dashboard、Port=-1 靜態報告、xk6 Docker 編譯、Prometheus Remote Write。</a:t>
            </a:r>
            <a:endParaRPr/>
          </a:p>
        </p:txBody>
      </p:sp>
      <p:sp>
        <p:nvSpPr>
          <p:cNvPr id="252" name="Google Shape;252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7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9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0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0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1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1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1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1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hyperlink" Target="https://tedmax100.github.io/o11y_lab_for_dummies/k6-performance-testing/" TargetMode="External"/><Relationship Id="rId5" Type="http://schemas.openxmlformats.org/officeDocument/2006/relationships/hyperlink" Target="https://tedmax100.github.io/o11y_lab_for_dummies/k6-performance-testing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hyperlink" Target="https://tedmax100.github.io/o11y_lab_for_dummies/k6-performance-testing/" TargetMode="External"/><Relationship Id="rId5" Type="http://schemas.openxmlformats.org/officeDocument/2006/relationships/hyperlink" Target="https://tedmax100.github.io/o11y_lab_for_dummies/k6-performance-testing/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hyperlink" Target="https://tedmax100.github.io/o11y_lab_for_dummies/k6-performance-testing/" TargetMode="External"/><Relationship Id="rId5" Type="http://schemas.openxmlformats.org/officeDocument/2006/relationships/hyperlink" Target="https://tedmax100.github.io/o11y_lab_for_dummies/k6-performance-testing/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hyperlink" Target="https://ganhua.wang/grafana-xk6" TargetMode="External"/><Relationship Id="rId5" Type="http://schemas.openxmlformats.org/officeDocument/2006/relationships/hyperlink" Target="https://tedmax100.github.io/o11y_lab_for_dummies/k6-performance-testing/" TargetMode="External"/><Relationship Id="rId6" Type="http://schemas.openxmlformats.org/officeDocument/2006/relationships/hyperlink" Target="https://tedmax100.github.io/o11y_lab_for_dummies/k6-performance-testing/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s://tedmax100.github.io/o11y_lab_for_dummies/k6-performance-testing/" TargetMode="External"/><Relationship Id="rId5" Type="http://schemas.openxmlformats.org/officeDocument/2006/relationships/hyperlink" Target="https://tedmax100.github.io/o11y_lab_for_dummies/k6-performance-testing/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hyperlink" Target="https://tedmax100.github.io/o11y_lab_for_dummies/k6-performance-testing/" TargetMode="External"/><Relationship Id="rId5" Type="http://schemas.openxmlformats.org/officeDocument/2006/relationships/hyperlink" Target="https://tedmax100.github.io/o11y_lab_for_dummies/k6-performance-testing/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hyperlink" Target="https://tedmax100.github.io/o11y_lab_for_dummies/k6-performance-testing/" TargetMode="External"/><Relationship Id="rId5" Type="http://schemas.openxmlformats.org/officeDocument/2006/relationships/hyperlink" Target="https://tedmax100.github.io/o11y_lab_for_dummies/k6-performance-testin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1.png"/><Relationship Id="rId5" Type="http://schemas.openxmlformats.org/officeDocument/2006/relationships/hyperlink" Target="https://tedmax100.github.io/o11y_lab_for_dummies/k6-performance-testing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chart" Target="../charts/chart1.xml"/><Relationship Id="rId5" Type="http://schemas.openxmlformats.org/officeDocument/2006/relationships/hyperlink" Target="https://tedmax100.github.io/o11y_lab_for_dummies/k6-performance-testing/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hyperlink" Target="https://tedmax100.github.io/o11y_lab_for_dummies/k6-performance-testing/" TargetMode="External"/><Relationship Id="rId5" Type="http://schemas.openxmlformats.org/officeDocument/2006/relationships/hyperlink" Target="https://tedmax100.github.io/o11y_lab_for_dummies/k6-performance-testing/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hyperlink" Target="https://tedmax100.github.io/o11y_lab_for_dummies/k6-performance-testing/" TargetMode="External"/><Relationship Id="rId5" Type="http://schemas.openxmlformats.org/officeDocument/2006/relationships/hyperlink" Target="https://tedmax100.github.io/o11y_lab_for_dummies/k6-performance-testing/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Relationship Id="rId4" Type="http://schemas.openxmlformats.org/officeDocument/2006/relationships/hyperlink" Target="https://ganhua.wang/grafana-xk6" TargetMode="External"/><Relationship Id="rId5" Type="http://schemas.openxmlformats.org/officeDocument/2006/relationships/hyperlink" Target="https://ganhua.wang/grafana-k6-browser" TargetMode="External"/><Relationship Id="rId6" Type="http://schemas.openxmlformats.org/officeDocument/2006/relationships/hyperlink" Target="https://ganhua.wang/getting-started-with-grafana-k6-hands-on-practice" TargetMode="External"/><Relationship Id="rId7" Type="http://schemas.openxmlformats.org/officeDocument/2006/relationships/hyperlink" Target="https://tedmax100.github.io/o11y_lab_for_dummies/k6-performance-testing/" TargetMode="External"/><Relationship Id="rId8" Type="http://schemas.openxmlformats.org/officeDocument/2006/relationships/hyperlink" Target="https://tedmax100.github.io/o11y_lab_for_dummies/k6-performance-testing/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Relationship Id="rId4" Type="http://schemas.openxmlformats.org/officeDocument/2006/relationships/hyperlink" Target="https://tedmax100.github.io/o11y_lab_for_dummies/k6-performance-testin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1.png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>
            <a:hlinkClick r:id="rId4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>
              <a:gd fmla="val 16667" name="adj"/>
            </a:avLst>
          </a:prstGeom>
          <a:solidFill>
            <a:srgbClr val="0A1420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4500" spcFirstLastPara="1" rIns="945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66FCF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tedmax100.github.io/o11y_lab_for_dummies/k6-performance-testing/</a:t>
            </a:r>
            <a:endParaRPr/>
          </a:p>
        </p:txBody>
      </p:sp>
      <p:sp>
        <p:nvSpPr>
          <p:cNvPr id="86" name="Google Shape;86;p1">
            <a:hlinkClick r:id="rId5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6101E"/>
          </a:solidFill>
          <a:ln cap="flat" cmpd="sng" w="12700">
            <a:solidFill>
              <a:srgbClr val="0284C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BAE6FD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2.png" id="91" name="Google Shape;91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2">
            <a:hlinkClick r:id="rId4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>
              <a:gd fmla="val 16667" name="adj"/>
            </a:avLst>
          </a:prstGeom>
          <a:solidFill>
            <a:srgbClr val="0A1420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4500" spcFirstLastPara="1" rIns="945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66FCF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tedmax100.github.io/o11y_lab_for_dummies/k6-performance-testing/</a:t>
            </a:r>
            <a:endParaRPr/>
          </a:p>
        </p:txBody>
      </p:sp>
      <p:sp>
        <p:nvSpPr>
          <p:cNvPr id="93" name="Google Shape;93;p2">
            <a:hlinkClick r:id="rId5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6101E"/>
          </a:solidFill>
          <a:ln cap="flat" cmpd="sng" w="12700">
            <a:solidFill>
              <a:srgbClr val="0284C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BAE6FD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3.png" id="98" name="Google Shape;9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3">
            <a:hlinkClick r:id="rId4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>
              <a:gd fmla="val 16667" name="adj"/>
            </a:avLst>
          </a:prstGeom>
          <a:solidFill>
            <a:srgbClr val="0A1420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4500" spcFirstLastPara="1" rIns="945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66FCF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tedmax100.github.io/o11y_lab_for_dummies/k6-performance-testing/</a:t>
            </a:r>
            <a:endParaRPr/>
          </a:p>
        </p:txBody>
      </p:sp>
      <p:sp>
        <p:nvSpPr>
          <p:cNvPr id="100" name="Google Shape;100;p3">
            <a:hlinkClick r:id="rId5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6101E"/>
          </a:solidFill>
          <a:ln cap="flat" cmpd="sng" w="12700">
            <a:solidFill>
              <a:srgbClr val="0284C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BAE6FD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105" name="Google Shape;10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4">
            <a:hlinkClick r:id="rId4"/>
          </p:cNvPr>
          <p:cNvSpPr/>
          <p:nvPr/>
        </p:nvSpPr>
        <p:spPr>
          <a:xfrm>
            <a:off x="590697" y="5655468"/>
            <a:ext cx="3307906" cy="2559843"/>
          </a:xfrm>
          <a:prstGeom prst="roundRect">
            <a:avLst>
              <a:gd fmla="val 16667" name="adj"/>
            </a:avLst>
          </a:prstGeom>
          <a:solidFill>
            <a:srgbClr val="161A26"/>
          </a:solidFill>
          <a:ln cap="flat" cmpd="sng" w="19050">
            <a:solidFill>
              <a:srgbClr val="8C5A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t" bIns="142875" lIns="165375" spcFirstLastPara="1" rIns="165375" wrap="square" tIns="1428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BB86FC"/>
                </a:solidFill>
                <a:latin typeface="Noto Sans"/>
                <a:ea typeface="Noto Sans"/>
                <a:cs typeface="Noto Sans"/>
                <a:sym typeface="Noto Sans"/>
              </a:rPr>
              <a:t>▶ 講師深度實戰專欄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Grafana xk6: 手把手從開發到編譯出 k6 插件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C3C8D2"/>
                </a:solidFill>
                <a:latin typeface="Noto Sans"/>
                <a:ea typeface="Noto Sans"/>
                <a:cs typeface="Noto Sans"/>
                <a:sym typeface="Noto Sans"/>
              </a:rPr>
              <a:t>• Web3 OTP 動態金鑰簽名插件</a:t>
            </a:r>
            <a:br>
              <a:rPr b="0" i="0" lang="en-US" sz="950" u="none" cap="none" strike="noStrike">
                <a:solidFill>
                  <a:srgbClr val="C3C8D2"/>
                </a:solidFill>
                <a:latin typeface="Noto Sans"/>
                <a:ea typeface="Noto Sans"/>
                <a:cs typeface="Noto Sans"/>
                <a:sym typeface="Noto Sans"/>
              </a:rPr>
            </a:br>
            <a:r>
              <a:rPr b="0" i="0" lang="en-US" sz="950" u="none" cap="none" strike="noStrike">
                <a:solidFill>
                  <a:srgbClr val="C3C8D2"/>
                </a:solidFill>
                <a:latin typeface="Noto Sans"/>
                <a:ea typeface="Noto Sans"/>
                <a:cs typeface="Noto Sans"/>
                <a:sym typeface="Noto Sans"/>
              </a:rPr>
              <a:t>• RootModule / ModuleInstance 解密</a:t>
            </a:r>
            <a:br>
              <a:rPr b="0" i="0" lang="en-US" sz="950" u="none" cap="none" strike="noStrike">
                <a:solidFill>
                  <a:srgbClr val="C3C8D2"/>
                </a:solidFill>
                <a:latin typeface="Noto Sans"/>
                <a:ea typeface="Noto Sans"/>
                <a:cs typeface="Noto Sans"/>
                <a:sym typeface="Noto Sans"/>
              </a:rPr>
            </a:br>
            <a:r>
              <a:rPr b="0" i="0" lang="en-US" sz="950" u="none" cap="none" strike="noStrike">
                <a:solidFill>
                  <a:srgbClr val="C3C8D2"/>
                </a:solidFill>
                <a:latin typeface="Noto Sans"/>
                <a:ea typeface="Noto Sans"/>
                <a:cs typeface="Noto Sans"/>
                <a:sym typeface="Noto Sans"/>
              </a:rPr>
              <a:t>• 突破原生極限支援私有協定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66FCF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▶ 閱讀專欄：ganhua.wang/grafana-xk6</a:t>
            </a:r>
            <a:endParaRPr/>
          </a:p>
        </p:txBody>
      </p:sp>
      <p:sp>
        <p:nvSpPr>
          <p:cNvPr id="107" name="Google Shape;107;p4">
            <a:hlinkClick r:id="rId5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>
              <a:gd fmla="val 16667" name="adj"/>
            </a:avLst>
          </a:prstGeom>
          <a:solidFill>
            <a:srgbClr val="0A1420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4500" spcFirstLastPara="1" rIns="945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lang="en-US" sz="850">
                <a:solidFill>
                  <a:srgbClr val="66FCF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tedmax100.github.io/o11y_lab_for_dummies/k6-performance-testing/</a:t>
            </a:r>
            <a:endParaRPr/>
          </a:p>
        </p:txBody>
      </p:sp>
      <p:sp>
        <p:nvSpPr>
          <p:cNvPr id="108" name="Google Shape;108;p4">
            <a:hlinkClick r:id="rId6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6101E"/>
          </a:solidFill>
          <a:ln cap="flat" cmpd="sng" w="12700">
            <a:solidFill>
              <a:srgbClr val="0284C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BAE6FD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5.png" id="113" name="Google Shape;11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5">
            <a:hlinkClick r:id="rId4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>
              <a:gd fmla="val 16667" name="adj"/>
            </a:avLst>
          </a:prstGeom>
          <a:solidFill>
            <a:srgbClr val="0A1420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4500" spcFirstLastPara="1" rIns="945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lang="en-US" sz="850">
                <a:solidFill>
                  <a:srgbClr val="66FCF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tedmax100.github.io/o11y_lab_for_dummies/k6-performance-testing/</a:t>
            </a:r>
            <a:endParaRPr/>
          </a:p>
        </p:txBody>
      </p:sp>
      <p:sp>
        <p:nvSpPr>
          <p:cNvPr id="115" name="Google Shape;115;p5">
            <a:hlinkClick r:id="rId5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6101E"/>
          </a:solidFill>
          <a:ln cap="flat" cmpd="sng" w="12700">
            <a:solidFill>
              <a:srgbClr val="0284C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BAE6FD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6.png" id="120" name="Google Shape;12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6">
            <a:hlinkClick r:id="rId4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>
              <a:gd fmla="val 16667" name="adj"/>
            </a:avLst>
          </a:prstGeom>
          <a:solidFill>
            <a:srgbClr val="0A1420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4500" spcFirstLastPara="1" rIns="945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lang="en-US" sz="850">
                <a:solidFill>
                  <a:srgbClr val="66FCF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tedmax100.github.io/o11y_lab_for_dummies/k6-performance-testing/</a:t>
            </a:r>
            <a:endParaRPr/>
          </a:p>
        </p:txBody>
      </p:sp>
      <p:sp>
        <p:nvSpPr>
          <p:cNvPr id="122" name="Google Shape;122;p6">
            <a:hlinkClick r:id="rId5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6101E"/>
          </a:solidFill>
          <a:ln cap="flat" cmpd="sng" w="12700">
            <a:solidFill>
              <a:srgbClr val="0284C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BAE6FD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7.png" id="127" name="Google Shape;127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7">
            <a:hlinkClick r:id="rId4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>
              <a:gd fmla="val 16667" name="adj"/>
            </a:avLst>
          </a:prstGeom>
          <a:solidFill>
            <a:srgbClr val="0A1420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4500" spcFirstLastPara="1" rIns="945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lang="en-US" sz="850">
                <a:solidFill>
                  <a:srgbClr val="66FCF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tedmax100.github.io/o11y_lab_for_dummies/k6-performance-testing/</a:t>
            </a:r>
            <a:endParaRPr/>
          </a:p>
        </p:txBody>
      </p:sp>
      <p:sp>
        <p:nvSpPr>
          <p:cNvPr id="129" name="Google Shape;129;p7">
            <a:hlinkClick r:id="rId5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6101E"/>
          </a:solidFill>
          <a:ln cap="flat" cmpd="sng" w="12700">
            <a:solidFill>
              <a:srgbClr val="0284C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BAE6FD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5" name="Google Shape;13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8"/>
          <p:cNvSpPr txBox="1"/>
          <p:nvPr/>
        </p:nvSpPr>
        <p:spPr>
          <a:xfrm>
            <a:off x="708837" y="476250"/>
            <a:ext cx="14838325" cy="595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看懂儀表板：8 種經典曲線型態</a:t>
            </a:r>
            <a:endParaRPr/>
          </a:p>
        </p:txBody>
      </p:sp>
      <p:sp>
        <p:nvSpPr>
          <p:cNvPr id="137" name="Google Shape;137;p8"/>
          <p:cNvSpPr txBox="1"/>
          <p:nvPr/>
        </p:nvSpPr>
        <p:spPr>
          <a:xfrm>
            <a:off x="708837" y="1047750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6FCF1"/>
                </a:solidFill>
                <a:latin typeface="Noto Sans"/>
                <a:ea typeface="Noto Sans"/>
                <a:cs typeface="Noto Sans"/>
                <a:sym typeface="Noto Sans"/>
              </a:rPr>
              <a:t>虛線＝負載軸（VUs / RPS），實線＝反應軸（延遲、錯誤率）；找出第一個偏離平穩的拐點</a:t>
            </a:r>
            <a:endParaRPr/>
          </a:p>
        </p:txBody>
      </p:sp>
      <p:sp>
        <p:nvSpPr>
          <p:cNvPr id="138" name="Google Shape;138;p8"/>
          <p:cNvSpPr/>
          <p:nvPr/>
        </p:nvSpPr>
        <p:spPr>
          <a:xfrm>
            <a:off x="708837" y="1547812"/>
            <a:ext cx="14838325" cy="6977062"/>
          </a:xfrm>
          <a:prstGeom prst="roundRect">
            <a:avLst>
              <a:gd fmla="val 2500" name="adj"/>
            </a:avLst>
          </a:prstGeom>
          <a:solidFill>
            <a:srgbClr val="FCFCFB"/>
          </a:solidFill>
          <a:ln cap="flat" cmpd="sng" w="12700">
            <a:solidFill>
              <a:srgbClr val="3241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urve_patterns.png" id="139" name="Google Shape;139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86046" y="1752004"/>
            <a:ext cx="14483906" cy="6568678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8">
            <a:hlinkClick r:id="rId5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6101E"/>
          </a:solidFill>
          <a:ln cap="flat" cmpd="sng" w="12700">
            <a:solidFill>
              <a:srgbClr val="0284C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BAE6FD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  <p:sp>
        <p:nvSpPr>
          <p:cNvPr id="141" name="Google Shape;141;p8"/>
          <p:cNvSpPr txBox="1"/>
          <p:nvPr/>
        </p:nvSpPr>
        <p:spPr>
          <a:xfrm>
            <a:off x="0" y="0"/>
            <a:ext cx="1" cy="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7" name="Google Shape;147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9"/>
          <p:cNvSpPr txBox="1"/>
          <p:nvPr/>
        </p:nvSpPr>
        <p:spPr>
          <a:xfrm>
            <a:off x="708837" y="476250"/>
            <a:ext cx="14838325" cy="595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Soak 判讀：趨勢比門檻重要</a:t>
            </a:r>
            <a:endParaRPr/>
          </a:p>
        </p:txBody>
      </p:sp>
      <p:sp>
        <p:nvSpPr>
          <p:cNvPr id="149" name="Google Shape;149;p9"/>
          <p:cNvSpPr txBox="1"/>
          <p:nvPr/>
        </p:nvSpPr>
        <p:spPr>
          <a:xfrm>
            <a:off x="708837" y="1047750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6FCF1"/>
                </a:solidFill>
                <a:latin typeface="Noto Sans"/>
                <a:ea typeface="Noto Sans"/>
                <a:cs typeface="Noto Sans"/>
                <a:sym typeface="Noto Sans"/>
              </a:rPr>
              <a:t>負載固定時，時間是唯一的變數：看斜率、看恢復，再把 k6 端的「果」對齊後端的「因」</a:t>
            </a:r>
            <a:endParaRPr/>
          </a:p>
        </p:txBody>
      </p:sp>
      <p:sp>
        <p:nvSpPr>
          <p:cNvPr id="150" name="Google Shape;150;p9"/>
          <p:cNvSpPr/>
          <p:nvPr/>
        </p:nvSpPr>
        <p:spPr>
          <a:xfrm>
            <a:off x="708837" y="1595437"/>
            <a:ext cx="7088372" cy="3571875"/>
          </a:xfrm>
          <a:prstGeom prst="roundRect">
            <a:avLst>
              <a:gd fmla="val 5000" name="adj"/>
            </a:avLst>
          </a:prstGeom>
          <a:solidFill>
            <a:srgbClr val="12202E"/>
          </a:solidFill>
          <a:ln cap="flat" cmpd="sng" w="12700">
            <a:solidFill>
              <a:srgbClr val="3241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9"/>
          <p:cNvSpPr txBox="1"/>
          <p:nvPr/>
        </p:nvSpPr>
        <p:spPr>
          <a:xfrm>
            <a:off x="945116" y="1738312"/>
            <a:ext cx="6615813" cy="4048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全程綠燈，也可能是失敗的 Soak</a:t>
            </a:r>
            <a:endParaRPr/>
          </a:p>
        </p:txBody>
      </p:sp>
      <p:graphicFrame>
        <p:nvGraphicFramePr>
          <p:cNvPr id="152" name="Google Shape;152;p9"/>
          <p:cNvGraphicFramePr/>
          <p:nvPr/>
        </p:nvGraphicFramePr>
        <p:xfrm>
          <a:off x="850604" y="2190750"/>
          <a:ext cx="6804837" cy="2024062"/>
        </p:xfrm>
        <a:graphic>
          <a:graphicData uri="http://schemas.openxmlformats.org/drawingml/2006/chart">
            <c:chart r:id="rId4"/>
          </a:graphicData>
        </a:graphic>
      </p:graphicFrame>
      <p:sp>
        <p:nvSpPr>
          <p:cNvPr id="153" name="Google Shape;153;p9"/>
          <p:cNvSpPr txBox="1"/>
          <p:nvPr/>
        </p:nvSpPr>
        <p:spPr>
          <a:xfrm>
            <a:off x="945116" y="4286250"/>
            <a:ext cx="6615813" cy="7858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P95 從 300ms 爬到 700ms，門檻 800ms 沒破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FAB00"/>
                </a:solidFill>
                <a:latin typeface="Noto Sans"/>
                <a:ea typeface="Noto Sans"/>
                <a:cs typeface="Noto Sans"/>
                <a:sym typeface="Noto Sans"/>
              </a:rPr>
              <a:t>→ 照這個斜率，第八小時就會紅燈。Soak 要看斜率，不是紅綠燈</a:t>
            </a:r>
            <a:endParaRPr/>
          </a:p>
        </p:txBody>
      </p:sp>
      <p:sp>
        <p:nvSpPr>
          <p:cNvPr id="154" name="Google Shape;154;p9"/>
          <p:cNvSpPr/>
          <p:nvPr/>
        </p:nvSpPr>
        <p:spPr>
          <a:xfrm>
            <a:off x="708837" y="5357812"/>
            <a:ext cx="7088372" cy="3024187"/>
          </a:xfrm>
          <a:prstGeom prst="roundRect">
            <a:avLst>
              <a:gd fmla="val 5000" name="adj"/>
            </a:avLst>
          </a:prstGeom>
          <a:solidFill>
            <a:srgbClr val="12202E"/>
          </a:solidFill>
          <a:ln cap="flat" cmpd="sng" w="12700">
            <a:solidFill>
              <a:srgbClr val="3241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9"/>
          <p:cNvSpPr txBox="1"/>
          <p:nvPr/>
        </p:nvSpPr>
        <p:spPr>
          <a:xfrm>
            <a:off x="945116" y="5500687"/>
            <a:ext cx="6615813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66FCF1"/>
                </a:solidFill>
                <a:latin typeface="Noto Sans"/>
                <a:ea typeface="Noto Sans"/>
                <a:cs typeface="Noto Sans"/>
                <a:sym typeface="Noto Sans"/>
              </a:rPr>
              <a:t>三個判讀習慣</a:t>
            </a:r>
            <a:endParaRPr/>
          </a:p>
        </p:txBody>
      </p:sp>
      <p:sp>
        <p:nvSpPr>
          <p:cNvPr id="156" name="Google Shape;156;p9"/>
          <p:cNvSpPr txBox="1"/>
          <p:nvPr/>
        </p:nvSpPr>
        <p:spPr>
          <a:xfrm>
            <a:off x="945116" y="5953125"/>
            <a:ext cx="6663069" cy="2333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66FCF1"/>
                </a:solidFill>
                <a:latin typeface="Noto Sans"/>
                <a:ea typeface="Noto Sans"/>
                <a:cs typeface="Noto Sans"/>
                <a:sym typeface="Noto Sans"/>
              </a:rPr>
              <a:t>● </a:t>
            </a:r>
            <a:r>
              <a:rPr b="1" lang="en-US" sz="15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量化斜率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   只取固定負載段，5 分鐘一桶，算 P50 / P95 / 錯誤率 / RPS 的趨勢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66FCF1"/>
                </a:solidFill>
                <a:latin typeface="Noto Sans"/>
                <a:ea typeface="Noto Sans"/>
                <a:cs typeface="Noto Sans"/>
                <a:sym typeface="Noto Sans"/>
              </a:rPr>
              <a:t>● </a:t>
            </a:r>
            <a:r>
              <a:rPr b="1" lang="en-US" sz="15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一定看恢復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   負載歸零後有沒有回到基準？結束後再跑一次 Smoke，仍慢就是硬證據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66FCF1"/>
                </a:solidFill>
                <a:latin typeface="Noto Sans"/>
                <a:ea typeface="Noto Sans"/>
                <a:cs typeface="Noto Sans"/>
                <a:sym typeface="Noto Sans"/>
              </a:rPr>
              <a:t>● </a:t>
            </a:r>
            <a:r>
              <a:rPr b="1" lang="en-US" sz="15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守住窗口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   負載取撐得住的六到八成；期間不部署、不重啟、不跑批次</a:t>
            </a:r>
            <a:endParaRPr/>
          </a:p>
        </p:txBody>
      </p:sp>
      <p:sp>
        <p:nvSpPr>
          <p:cNvPr id="157" name="Google Shape;157;p9"/>
          <p:cNvSpPr/>
          <p:nvPr/>
        </p:nvSpPr>
        <p:spPr>
          <a:xfrm>
            <a:off x="8080744" y="1595437"/>
            <a:ext cx="7466418" cy="6786562"/>
          </a:xfrm>
          <a:prstGeom prst="roundRect">
            <a:avLst>
              <a:gd fmla="val 4000" name="adj"/>
            </a:avLst>
          </a:prstGeom>
          <a:solidFill>
            <a:srgbClr val="12202E"/>
          </a:solidFill>
          <a:ln cap="flat" cmpd="sng" w="12700">
            <a:solidFill>
              <a:srgbClr val="3241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9"/>
          <p:cNvSpPr txBox="1"/>
          <p:nvPr/>
        </p:nvSpPr>
        <p:spPr>
          <a:xfrm>
            <a:off x="8317023" y="1738312"/>
            <a:ext cx="699386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66FCF1"/>
                </a:solidFill>
                <a:latin typeface="Noto Sans"/>
                <a:ea typeface="Noto Sans"/>
                <a:cs typeface="Noto Sans"/>
                <a:sym typeface="Noto Sans"/>
              </a:rPr>
              <a:t>k6 端的「果」→ 後端的「因」</a:t>
            </a:r>
            <a:endParaRPr/>
          </a:p>
        </p:txBody>
      </p:sp>
      <p:sp>
        <p:nvSpPr>
          <p:cNvPr id="159" name="Google Shape;159;p9"/>
          <p:cNvSpPr txBox="1"/>
          <p:nvPr/>
        </p:nvSpPr>
        <p:spPr>
          <a:xfrm>
            <a:off x="8317023" y="2190750"/>
            <a:ext cx="1772093" cy="3095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AA0A6"/>
                </a:solidFill>
                <a:latin typeface="Noto Sans"/>
                <a:ea typeface="Noto Sans"/>
                <a:cs typeface="Noto Sans"/>
                <a:sym typeface="Noto Sans"/>
              </a:rPr>
              <a:t>k6 訊號</a:t>
            </a:r>
            <a:endParaRPr/>
          </a:p>
        </p:txBody>
      </p:sp>
      <p:sp>
        <p:nvSpPr>
          <p:cNvPr id="160" name="Google Shape;160;p9"/>
          <p:cNvSpPr txBox="1"/>
          <p:nvPr/>
        </p:nvSpPr>
        <p:spPr>
          <a:xfrm>
            <a:off x="10183627" y="2190750"/>
            <a:ext cx="2480930" cy="3095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AA0A6"/>
                </a:solidFill>
                <a:latin typeface="Noto Sans"/>
                <a:ea typeface="Noto Sans"/>
                <a:cs typeface="Noto Sans"/>
                <a:sym typeface="Noto Sans"/>
              </a:rPr>
              <a:t>對照的後端數據</a:t>
            </a:r>
            <a:endParaRPr/>
          </a:p>
        </p:txBody>
      </p:sp>
      <p:sp>
        <p:nvSpPr>
          <p:cNvPr id="161" name="Google Shape;161;p9"/>
          <p:cNvSpPr txBox="1"/>
          <p:nvPr/>
        </p:nvSpPr>
        <p:spPr>
          <a:xfrm>
            <a:off x="12759069" y="2190750"/>
            <a:ext cx="2599069" cy="3095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AA0A6"/>
                </a:solidFill>
                <a:latin typeface="Noto Sans"/>
                <a:ea typeface="Noto Sans"/>
                <a:cs typeface="Noto Sans"/>
                <a:sym typeface="Noto Sans"/>
              </a:rPr>
              <a:t>本 Lab 去哪看</a:t>
            </a:r>
            <a:endParaRPr/>
          </a:p>
        </p:txBody>
      </p:sp>
      <p:sp>
        <p:nvSpPr>
          <p:cNvPr id="162" name="Google Shape;162;p9"/>
          <p:cNvSpPr/>
          <p:nvPr/>
        </p:nvSpPr>
        <p:spPr>
          <a:xfrm>
            <a:off x="8269767" y="2571750"/>
            <a:ext cx="7088372" cy="1000125"/>
          </a:xfrm>
          <a:prstGeom prst="roundRect">
            <a:avLst>
              <a:gd fmla="val 10000" name="adj"/>
            </a:avLst>
          </a:prstGeom>
          <a:solidFill>
            <a:srgbClr val="0A1420"/>
          </a:solidFill>
          <a:ln cap="flat" cmpd="sng" w="12700">
            <a:solidFill>
              <a:srgbClr val="3241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9"/>
          <p:cNvSpPr txBox="1"/>
          <p:nvPr/>
        </p:nvSpPr>
        <p:spPr>
          <a:xfrm>
            <a:off x="8411534" y="2643187"/>
            <a:ext cx="1724837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FAB00"/>
                </a:solidFill>
                <a:latin typeface="Noto Sans"/>
                <a:ea typeface="Noto Sans"/>
                <a:cs typeface="Noto Sans"/>
                <a:sym typeface="Noto Sans"/>
              </a:rPr>
              <a:t>⑤ P95 緩慢爬升</a:t>
            </a:r>
            <a:endParaRPr/>
          </a:p>
        </p:txBody>
      </p:sp>
      <p:sp>
        <p:nvSpPr>
          <p:cNvPr id="164" name="Google Shape;164;p9"/>
          <p:cNvSpPr txBox="1"/>
          <p:nvPr/>
        </p:nvSpPr>
        <p:spPr>
          <a:xfrm>
            <a:off x="10183627" y="2643187"/>
            <a:ext cx="248093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記憶體 heap、GC 次數與暫停</a:t>
            </a:r>
            <a:endParaRPr/>
          </a:p>
        </p:txBody>
      </p:sp>
      <p:sp>
        <p:nvSpPr>
          <p:cNvPr id="165" name="Google Shape;165;p9"/>
          <p:cNvSpPr txBox="1"/>
          <p:nvPr/>
        </p:nvSpPr>
        <p:spPr>
          <a:xfrm>
            <a:off x="12759069" y="2643187"/>
            <a:ext cx="250455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docker stats 定時記錄容器記憶體</a:t>
            </a:r>
            <a:endParaRPr/>
          </a:p>
        </p:txBody>
      </p:sp>
      <p:sp>
        <p:nvSpPr>
          <p:cNvPr id="166" name="Google Shape;166;p9"/>
          <p:cNvSpPr/>
          <p:nvPr/>
        </p:nvSpPr>
        <p:spPr>
          <a:xfrm>
            <a:off x="8269767" y="3714750"/>
            <a:ext cx="7088372" cy="1000125"/>
          </a:xfrm>
          <a:prstGeom prst="roundRect">
            <a:avLst>
              <a:gd fmla="val 10000" name="adj"/>
            </a:avLst>
          </a:prstGeom>
          <a:solidFill>
            <a:srgbClr val="0A1420"/>
          </a:solidFill>
          <a:ln cap="flat" cmpd="sng" w="12700">
            <a:solidFill>
              <a:srgbClr val="3241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9"/>
          <p:cNvSpPr txBox="1"/>
          <p:nvPr/>
        </p:nvSpPr>
        <p:spPr>
          <a:xfrm>
            <a:off x="8411534" y="3786187"/>
            <a:ext cx="1724837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FAB00"/>
                </a:solidFill>
                <a:latin typeface="Noto Sans"/>
                <a:ea typeface="Noto Sans"/>
                <a:cs typeface="Noto Sans"/>
                <a:sym typeface="Noto Sans"/>
              </a:rPr>
              <a:t>⑤ 特定端點變慢</a:t>
            </a:r>
            <a:endParaRPr/>
          </a:p>
        </p:txBody>
      </p:sp>
      <p:sp>
        <p:nvSpPr>
          <p:cNvPr id="168" name="Google Shape;168;p9"/>
          <p:cNvSpPr txBox="1"/>
          <p:nvPr/>
        </p:nvSpPr>
        <p:spPr>
          <a:xfrm>
            <a:off x="10183627" y="3786187"/>
            <a:ext cx="248093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資料庫查詢延遲</a:t>
            </a:r>
            <a:endParaRPr/>
          </a:p>
        </p:txBody>
      </p:sp>
      <p:sp>
        <p:nvSpPr>
          <p:cNvPr id="169" name="Google Shape;169;p9"/>
          <p:cNvSpPr txBox="1"/>
          <p:nvPr/>
        </p:nvSpPr>
        <p:spPr>
          <a:xfrm>
            <a:off x="12759069" y="3786187"/>
            <a:ext cx="250455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4 Golden Signals：Database Query Latency</a:t>
            </a:r>
            <a:endParaRPr/>
          </a:p>
        </p:txBody>
      </p:sp>
      <p:sp>
        <p:nvSpPr>
          <p:cNvPr id="170" name="Google Shape;170;p9"/>
          <p:cNvSpPr/>
          <p:nvPr/>
        </p:nvSpPr>
        <p:spPr>
          <a:xfrm>
            <a:off x="8269767" y="4857750"/>
            <a:ext cx="7088372" cy="1000125"/>
          </a:xfrm>
          <a:prstGeom prst="roundRect">
            <a:avLst>
              <a:gd fmla="val 10000" name="adj"/>
            </a:avLst>
          </a:prstGeom>
          <a:solidFill>
            <a:srgbClr val="0A1420"/>
          </a:solidFill>
          <a:ln cap="flat" cmpd="sng" w="12700">
            <a:solidFill>
              <a:srgbClr val="3241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9"/>
          <p:cNvSpPr txBox="1"/>
          <p:nvPr/>
        </p:nvSpPr>
        <p:spPr>
          <a:xfrm>
            <a:off x="8411534" y="4929187"/>
            <a:ext cx="1724837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FAB00"/>
                </a:solidFill>
                <a:latin typeface="Noto Sans"/>
                <a:ea typeface="Noto Sans"/>
                <a:cs typeface="Noto Sans"/>
                <a:sym typeface="Noto Sans"/>
              </a:rPr>
              <a:t>⑦ 錯誤率階梯</a:t>
            </a:r>
            <a:endParaRPr/>
          </a:p>
        </p:txBody>
      </p:sp>
      <p:sp>
        <p:nvSpPr>
          <p:cNvPr id="172" name="Google Shape;172;p9"/>
          <p:cNvSpPr txBox="1"/>
          <p:nvPr/>
        </p:nvSpPr>
        <p:spPr>
          <a:xfrm>
            <a:off x="10183627" y="4929187"/>
            <a:ext cx="248093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DB 連線池使用中／上限、open files</a:t>
            </a:r>
            <a:endParaRPr/>
          </a:p>
        </p:txBody>
      </p:sp>
      <p:sp>
        <p:nvSpPr>
          <p:cNvPr id="173" name="Google Shape;173;p9"/>
          <p:cNvSpPr txBox="1"/>
          <p:nvPr/>
        </p:nvSpPr>
        <p:spPr>
          <a:xfrm>
            <a:off x="12759069" y="4929187"/>
            <a:ext cx="250455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pg_stat_activity 連線數、/proc/1/fd</a:t>
            </a:r>
            <a:endParaRPr/>
          </a:p>
        </p:txBody>
      </p:sp>
      <p:sp>
        <p:nvSpPr>
          <p:cNvPr id="174" name="Google Shape;174;p9"/>
          <p:cNvSpPr/>
          <p:nvPr/>
        </p:nvSpPr>
        <p:spPr>
          <a:xfrm>
            <a:off x="8269767" y="6000750"/>
            <a:ext cx="7088372" cy="1000125"/>
          </a:xfrm>
          <a:prstGeom prst="roundRect">
            <a:avLst>
              <a:gd fmla="val 10000" name="adj"/>
            </a:avLst>
          </a:prstGeom>
          <a:solidFill>
            <a:srgbClr val="0A1420"/>
          </a:solidFill>
          <a:ln cap="flat" cmpd="sng" w="12700">
            <a:solidFill>
              <a:srgbClr val="3241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9"/>
          <p:cNvSpPr txBox="1"/>
          <p:nvPr/>
        </p:nvSpPr>
        <p:spPr>
          <a:xfrm>
            <a:off x="8411534" y="6072187"/>
            <a:ext cx="1724837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FAB00"/>
                </a:solidFill>
                <a:latin typeface="Noto Sans"/>
                <a:ea typeface="Noto Sans"/>
                <a:cs typeface="Noto Sans"/>
                <a:sym typeface="Noto Sans"/>
              </a:rPr>
              <a:t>⑧ RPS 下滑</a:t>
            </a:r>
            <a:endParaRPr/>
          </a:p>
        </p:txBody>
      </p:sp>
      <p:sp>
        <p:nvSpPr>
          <p:cNvPr id="176" name="Google Shape;176;p9"/>
          <p:cNvSpPr txBox="1"/>
          <p:nvPr/>
        </p:nvSpPr>
        <p:spPr>
          <a:xfrm>
            <a:off x="10183627" y="6072187"/>
            <a:ext cx="248093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伺服器／LB 連線數、壓測機連線</a:t>
            </a:r>
            <a:endParaRPr/>
          </a:p>
        </p:txBody>
      </p:sp>
      <p:sp>
        <p:nvSpPr>
          <p:cNvPr id="177" name="Google Shape;177;p9"/>
          <p:cNvSpPr txBox="1"/>
          <p:nvPr/>
        </p:nvSpPr>
        <p:spPr>
          <a:xfrm>
            <a:off x="12759069" y="6072187"/>
            <a:ext cx="250455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壓測機 ss -s；Request Rate by Service</a:t>
            </a:r>
            <a:endParaRPr/>
          </a:p>
        </p:txBody>
      </p:sp>
      <p:sp>
        <p:nvSpPr>
          <p:cNvPr id="178" name="Google Shape;178;p9"/>
          <p:cNvSpPr/>
          <p:nvPr/>
        </p:nvSpPr>
        <p:spPr>
          <a:xfrm>
            <a:off x="8269767" y="7143750"/>
            <a:ext cx="7088372" cy="1000125"/>
          </a:xfrm>
          <a:prstGeom prst="roundRect">
            <a:avLst>
              <a:gd fmla="val 10000" name="adj"/>
            </a:avLst>
          </a:prstGeom>
          <a:solidFill>
            <a:srgbClr val="0A1420"/>
          </a:solidFill>
          <a:ln cap="flat" cmpd="sng" w="12700">
            <a:solidFill>
              <a:srgbClr val="3241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9"/>
          <p:cNvSpPr txBox="1"/>
          <p:nvPr/>
        </p:nvSpPr>
        <p:spPr>
          <a:xfrm>
            <a:off x="8411534" y="7215187"/>
            <a:ext cx="1724837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FAB00"/>
                </a:solidFill>
                <a:latin typeface="Noto Sans"/>
                <a:ea typeface="Noto Sans"/>
                <a:cs typeface="Noto Sans"/>
                <a:sym typeface="Noto Sans"/>
              </a:rPr>
              <a:t>所有訊號</a:t>
            </a:r>
            <a:endParaRPr/>
          </a:p>
        </p:txBody>
      </p:sp>
      <p:sp>
        <p:nvSpPr>
          <p:cNvPr id="180" name="Google Shape;180;p9"/>
          <p:cNvSpPr txBox="1"/>
          <p:nvPr/>
        </p:nvSpPr>
        <p:spPr>
          <a:xfrm>
            <a:off x="10183627" y="7215187"/>
            <a:ext cx="248093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部署／重啟／排程的時間紀錄</a:t>
            </a:r>
            <a:endParaRPr/>
          </a:p>
        </p:txBody>
      </p:sp>
      <p:sp>
        <p:nvSpPr>
          <p:cNvPr id="181" name="Google Shape;181;p9"/>
          <p:cNvSpPr txBox="1"/>
          <p:nvPr/>
        </p:nvSpPr>
        <p:spPr>
          <a:xfrm>
            <a:off x="12759069" y="7215187"/>
            <a:ext cx="250455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確認不是「有人動了它」</a:t>
            </a:r>
            <a:endParaRPr/>
          </a:p>
        </p:txBody>
      </p:sp>
      <p:sp>
        <p:nvSpPr>
          <p:cNvPr id="182" name="Google Shape;182;p9"/>
          <p:cNvSpPr txBox="1"/>
          <p:nvPr/>
        </p:nvSpPr>
        <p:spPr>
          <a:xfrm>
            <a:off x="8269767" y="8382000"/>
            <a:ext cx="7277395" cy="2619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9AA0A6"/>
                </a:solidFill>
                <a:latin typeface="Noto Sans"/>
                <a:ea typeface="Noto Sans"/>
                <a:cs typeface="Noto Sans"/>
                <a:sym typeface="Noto Sans"/>
              </a:rPr>
              <a:t>參考：iThome 鐵人賽〈Day 24｜Soak Test：從 k6 端數據推測伺服器在漏什麼〉</a:t>
            </a:r>
            <a:endParaRPr/>
          </a:p>
        </p:txBody>
      </p:sp>
      <p:sp>
        <p:nvSpPr>
          <p:cNvPr id="183" name="Google Shape;183;p9">
            <a:hlinkClick r:id="rId5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6101E"/>
          </a:solidFill>
          <a:ln cap="flat" cmpd="sng" w="12700">
            <a:solidFill>
              <a:srgbClr val="0284C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BAE6FD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9" name="Google Shape;189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0"/>
          <p:cNvSpPr txBox="1"/>
          <p:nvPr/>
        </p:nvSpPr>
        <p:spPr>
          <a:xfrm>
            <a:off x="708837" y="476250"/>
            <a:ext cx="14838325" cy="595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儀表板判讀 4 步驟 SOP</a:t>
            </a:r>
            <a:endParaRPr/>
          </a:p>
        </p:txBody>
      </p:sp>
      <p:sp>
        <p:nvSpPr>
          <p:cNvPr id="191" name="Google Shape;191;p10"/>
          <p:cNvSpPr txBox="1"/>
          <p:nvPr/>
        </p:nvSpPr>
        <p:spPr>
          <a:xfrm>
            <a:off x="708837" y="1047750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6FCF1"/>
                </a:solidFill>
                <a:latin typeface="Noto Sans"/>
                <a:ea typeface="Noto Sans"/>
                <a:cs typeface="Noto Sans"/>
                <a:sym typeface="Noto Sans"/>
              </a:rPr>
              <a:t>總結數字只告訴你「P95 = 812ms」，曲線才告訴你「第 35 秒、45 RPS 時開始抬頭」</a:t>
            </a:r>
            <a:endParaRPr/>
          </a:p>
        </p:txBody>
      </p:sp>
      <p:sp>
        <p:nvSpPr>
          <p:cNvPr id="192" name="Google Shape;192;p10"/>
          <p:cNvSpPr/>
          <p:nvPr/>
        </p:nvSpPr>
        <p:spPr>
          <a:xfrm>
            <a:off x="708837" y="1595437"/>
            <a:ext cx="7088372" cy="1571625"/>
          </a:xfrm>
          <a:prstGeom prst="roundRect">
            <a:avLst>
              <a:gd fmla="val 8000" name="adj"/>
            </a:avLst>
          </a:prstGeom>
          <a:solidFill>
            <a:srgbClr val="12202E"/>
          </a:solidFill>
          <a:ln cap="flat" cmpd="sng" w="12700">
            <a:solidFill>
              <a:srgbClr val="3241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0"/>
          <p:cNvSpPr txBox="1"/>
          <p:nvPr/>
        </p:nvSpPr>
        <p:spPr>
          <a:xfrm>
            <a:off x="945116" y="1785937"/>
            <a:ext cx="826976" cy="1190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66FCF1"/>
                </a:solidFill>
                <a:latin typeface="Noto Sans"/>
                <a:ea typeface="Noto Sans"/>
                <a:cs typeface="Noto Sans"/>
                <a:sym typeface="Noto Sans"/>
              </a:rPr>
              <a:t>1</a:t>
            </a:r>
            <a:endParaRPr/>
          </a:p>
        </p:txBody>
      </p:sp>
      <p:sp>
        <p:nvSpPr>
          <p:cNvPr id="194" name="Google Shape;194;p10"/>
          <p:cNvSpPr txBox="1"/>
          <p:nvPr/>
        </p:nvSpPr>
        <p:spPr>
          <a:xfrm>
            <a:off x="1890232" y="1762125"/>
            <a:ext cx="5717953" cy="1238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確認壓力真的打出去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VUs 與 RPS 符合腳本設計嗎？有沒有 dropped_iterations？流量配比對不對？</a:t>
            </a:r>
            <a:endParaRPr/>
          </a:p>
        </p:txBody>
      </p:sp>
      <p:sp>
        <p:nvSpPr>
          <p:cNvPr id="195" name="Google Shape;195;p10"/>
          <p:cNvSpPr/>
          <p:nvPr/>
        </p:nvSpPr>
        <p:spPr>
          <a:xfrm>
            <a:off x="708837" y="3333750"/>
            <a:ext cx="7088372" cy="1571625"/>
          </a:xfrm>
          <a:prstGeom prst="roundRect">
            <a:avLst>
              <a:gd fmla="val 8000" name="adj"/>
            </a:avLst>
          </a:prstGeom>
          <a:solidFill>
            <a:srgbClr val="12202E"/>
          </a:solidFill>
          <a:ln cap="flat" cmpd="sng" w="12700">
            <a:solidFill>
              <a:srgbClr val="3241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0"/>
          <p:cNvSpPr txBox="1"/>
          <p:nvPr/>
        </p:nvSpPr>
        <p:spPr>
          <a:xfrm>
            <a:off x="945116" y="3524250"/>
            <a:ext cx="826976" cy="1190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66FCF1"/>
                </a:solidFill>
                <a:latin typeface="Noto Sans"/>
                <a:ea typeface="Noto Sans"/>
                <a:cs typeface="Noto Sans"/>
                <a:sym typeface="Noto Sans"/>
              </a:rPr>
              <a:t>2</a:t>
            </a:r>
            <a:endParaRPr/>
          </a:p>
        </p:txBody>
      </p:sp>
      <p:sp>
        <p:nvSpPr>
          <p:cNvPr id="197" name="Google Shape;197;p10"/>
          <p:cNvSpPr txBox="1"/>
          <p:nvPr/>
        </p:nvSpPr>
        <p:spPr>
          <a:xfrm>
            <a:off x="1890232" y="3500437"/>
            <a:ext cx="5717953" cy="1238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找出拐點時間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延遲或錯誤率第一次偏離平穩的時間點，記下當下的 VUs 與 RPS</a:t>
            </a:r>
            <a:endParaRPr/>
          </a:p>
        </p:txBody>
      </p:sp>
      <p:sp>
        <p:nvSpPr>
          <p:cNvPr id="198" name="Google Shape;198;p10"/>
          <p:cNvSpPr/>
          <p:nvPr/>
        </p:nvSpPr>
        <p:spPr>
          <a:xfrm>
            <a:off x="708837" y="5072062"/>
            <a:ext cx="7088372" cy="1571625"/>
          </a:xfrm>
          <a:prstGeom prst="roundRect">
            <a:avLst>
              <a:gd fmla="val 8000" name="adj"/>
            </a:avLst>
          </a:prstGeom>
          <a:solidFill>
            <a:srgbClr val="12202E"/>
          </a:solidFill>
          <a:ln cap="flat" cmpd="sng" w="12700">
            <a:solidFill>
              <a:srgbClr val="3241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0"/>
          <p:cNvSpPr txBox="1"/>
          <p:nvPr/>
        </p:nvSpPr>
        <p:spPr>
          <a:xfrm>
            <a:off x="945116" y="5262562"/>
            <a:ext cx="826976" cy="1190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66FCF1"/>
                </a:solidFill>
                <a:latin typeface="Noto Sans"/>
                <a:ea typeface="Noto Sans"/>
                <a:cs typeface="Noto Sans"/>
                <a:sym typeface="Noto Sans"/>
              </a:rPr>
              <a:t>3</a:t>
            </a:r>
            <a:endParaRPr/>
          </a:p>
        </p:txBody>
      </p:sp>
      <p:sp>
        <p:nvSpPr>
          <p:cNvPr id="200" name="Google Shape;200;p10"/>
          <p:cNvSpPr txBox="1"/>
          <p:nvPr/>
        </p:nvSpPr>
        <p:spPr>
          <a:xfrm>
            <a:off x="1890232" y="5238750"/>
            <a:ext cx="5717953" cy="1238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定位是哪一段變慢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切到 Timings 分頁：Waiting＝後端運算、Blocked / Connecting＝連線層、Receiving＝Payload</a:t>
            </a:r>
            <a:endParaRPr/>
          </a:p>
        </p:txBody>
      </p:sp>
      <p:sp>
        <p:nvSpPr>
          <p:cNvPr id="201" name="Google Shape;201;p10"/>
          <p:cNvSpPr/>
          <p:nvPr/>
        </p:nvSpPr>
        <p:spPr>
          <a:xfrm>
            <a:off x="708837" y="6810375"/>
            <a:ext cx="7088372" cy="1571625"/>
          </a:xfrm>
          <a:prstGeom prst="roundRect">
            <a:avLst>
              <a:gd fmla="val 8000" name="adj"/>
            </a:avLst>
          </a:prstGeom>
          <a:solidFill>
            <a:srgbClr val="12202E"/>
          </a:solidFill>
          <a:ln cap="flat" cmpd="sng" w="12700">
            <a:solidFill>
              <a:srgbClr val="3241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0"/>
          <p:cNvSpPr txBox="1"/>
          <p:nvPr/>
        </p:nvSpPr>
        <p:spPr>
          <a:xfrm>
            <a:off x="945116" y="7000875"/>
            <a:ext cx="826976" cy="1190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66FCF1"/>
                </a:solidFill>
                <a:latin typeface="Noto Sans"/>
                <a:ea typeface="Noto Sans"/>
                <a:cs typeface="Noto Sans"/>
                <a:sym typeface="Noto Sans"/>
              </a:rPr>
              <a:t>4</a:t>
            </a:r>
            <a:endParaRPr/>
          </a:p>
        </p:txBody>
      </p:sp>
      <p:sp>
        <p:nvSpPr>
          <p:cNvPr id="203" name="Google Shape;203;p10"/>
          <p:cNvSpPr txBox="1"/>
          <p:nvPr/>
        </p:nvSpPr>
        <p:spPr>
          <a:xfrm>
            <a:off x="1890232" y="6977062"/>
            <a:ext cx="5717953" cy="1238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對齊後端指標找根因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把拐點時間帶進 Grafana，用共享十字準星對齊 CPU、記憶體、DB 連線池 → 下一頁破案</a:t>
            </a:r>
            <a:endParaRPr/>
          </a:p>
        </p:txBody>
      </p:sp>
      <p:sp>
        <p:nvSpPr>
          <p:cNvPr id="204" name="Google Shape;204;p10"/>
          <p:cNvSpPr/>
          <p:nvPr/>
        </p:nvSpPr>
        <p:spPr>
          <a:xfrm>
            <a:off x="8080744" y="1595437"/>
            <a:ext cx="7466418" cy="3119437"/>
          </a:xfrm>
          <a:prstGeom prst="roundRect">
            <a:avLst>
              <a:gd fmla="val 5000" name="adj"/>
            </a:avLst>
          </a:prstGeom>
          <a:solidFill>
            <a:srgbClr val="12202E"/>
          </a:solidFill>
          <a:ln cap="flat" cmpd="sng" w="12700">
            <a:solidFill>
              <a:srgbClr val="3241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0"/>
          <p:cNvSpPr txBox="1"/>
          <p:nvPr/>
        </p:nvSpPr>
        <p:spPr>
          <a:xfrm>
            <a:off x="8317023" y="1738312"/>
            <a:ext cx="699386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66FCF1"/>
                </a:solidFill>
                <a:latin typeface="Noto Sans"/>
                <a:ea typeface="Noto Sans"/>
                <a:cs typeface="Noto Sans"/>
                <a:sym typeface="Noto Sans"/>
              </a:rPr>
              <a:t>k6 Web Dashboard 分頁地圖</a:t>
            </a:r>
            <a:endParaRPr/>
          </a:p>
        </p:txBody>
      </p:sp>
      <p:sp>
        <p:nvSpPr>
          <p:cNvPr id="206" name="Google Shape;206;p10"/>
          <p:cNvSpPr/>
          <p:nvPr/>
        </p:nvSpPr>
        <p:spPr>
          <a:xfrm>
            <a:off x="8317023" y="2309812"/>
            <a:ext cx="1323162" cy="381000"/>
          </a:xfrm>
          <a:prstGeom prst="roundRect">
            <a:avLst>
              <a:gd fmla="val 50000" name="adj"/>
            </a:avLst>
          </a:prstGeom>
          <a:solidFill>
            <a:srgbClr val="0A1420"/>
          </a:solidFill>
          <a:ln cap="flat" cmpd="sng" w="12700">
            <a:solidFill>
              <a:srgbClr val="BB86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BB86F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Overview</a:t>
            </a:r>
            <a:endParaRPr/>
          </a:p>
        </p:txBody>
      </p:sp>
      <p:sp>
        <p:nvSpPr>
          <p:cNvPr id="207" name="Google Shape;207;p10"/>
          <p:cNvSpPr txBox="1"/>
          <p:nvPr/>
        </p:nvSpPr>
        <p:spPr>
          <a:xfrm>
            <a:off x="9805581" y="2214562"/>
            <a:ext cx="5552558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HTTP Performance overview 把 RPS、P95、失敗率疊在同一張圖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→ 在什麼負載下開始變慢或出錯？</a:t>
            </a:r>
            <a:endParaRPr/>
          </a:p>
        </p:txBody>
      </p:sp>
      <p:sp>
        <p:nvSpPr>
          <p:cNvPr id="208" name="Google Shape;208;p10"/>
          <p:cNvSpPr/>
          <p:nvPr/>
        </p:nvSpPr>
        <p:spPr>
          <a:xfrm>
            <a:off x="8317023" y="3119437"/>
            <a:ext cx="1323162" cy="381000"/>
          </a:xfrm>
          <a:prstGeom prst="roundRect">
            <a:avLst>
              <a:gd fmla="val 50000" name="adj"/>
            </a:avLst>
          </a:prstGeom>
          <a:solidFill>
            <a:srgbClr val="0A1420"/>
          </a:solidFill>
          <a:ln cap="flat" cmpd="sng" w="12700">
            <a:solidFill>
              <a:srgbClr val="BB86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BB86F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Timings</a:t>
            </a:r>
            <a:endParaRPr/>
          </a:p>
        </p:txBody>
      </p:sp>
      <p:sp>
        <p:nvSpPr>
          <p:cNvPr id="209" name="Google Shape;209;p10"/>
          <p:cNvSpPr txBox="1"/>
          <p:nvPr/>
        </p:nvSpPr>
        <p:spPr>
          <a:xfrm>
            <a:off x="9805581" y="3024187"/>
            <a:ext cx="5552558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http_req_duration 的 6 個細分指標各一張圖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→ 變慢的是哪一段？</a:t>
            </a:r>
            <a:endParaRPr/>
          </a:p>
        </p:txBody>
      </p:sp>
      <p:sp>
        <p:nvSpPr>
          <p:cNvPr id="210" name="Google Shape;210;p10"/>
          <p:cNvSpPr/>
          <p:nvPr/>
        </p:nvSpPr>
        <p:spPr>
          <a:xfrm>
            <a:off x="8317023" y="3929062"/>
            <a:ext cx="1323162" cy="381000"/>
          </a:xfrm>
          <a:prstGeom prst="roundRect">
            <a:avLst>
              <a:gd fmla="val 50000" name="adj"/>
            </a:avLst>
          </a:prstGeom>
          <a:solidFill>
            <a:srgbClr val="0A1420"/>
          </a:solidFill>
          <a:ln cap="flat" cmpd="sng" w="12700">
            <a:solidFill>
              <a:srgbClr val="BB86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BB86FC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Summary</a:t>
            </a:r>
            <a:endParaRPr/>
          </a:p>
        </p:txBody>
      </p:sp>
      <p:sp>
        <p:nvSpPr>
          <p:cNvPr id="211" name="Google Shape;211;p10"/>
          <p:cNvSpPr txBox="1"/>
          <p:nvPr/>
        </p:nvSpPr>
        <p:spPr>
          <a:xfrm>
            <a:off x="9805581" y="3833812"/>
            <a:ext cx="5552558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所有指標的結尾統計表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→ 等同終端機摘要，套用 5 步驟</a:t>
            </a:r>
            <a:endParaRPr/>
          </a:p>
        </p:txBody>
      </p:sp>
      <p:sp>
        <p:nvSpPr>
          <p:cNvPr id="212" name="Google Shape;212;p10"/>
          <p:cNvSpPr/>
          <p:nvPr/>
        </p:nvSpPr>
        <p:spPr>
          <a:xfrm>
            <a:off x="8080744" y="4905375"/>
            <a:ext cx="7466418" cy="3476625"/>
          </a:xfrm>
          <a:prstGeom prst="roundRect">
            <a:avLst>
              <a:gd fmla="val 5000" name="adj"/>
            </a:avLst>
          </a:prstGeom>
          <a:solidFill>
            <a:srgbClr val="1A1626"/>
          </a:solidFill>
          <a:ln cap="flat" cmpd="sng" w="12700">
            <a:solidFill>
              <a:srgbClr val="5B4A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0"/>
          <p:cNvSpPr txBox="1"/>
          <p:nvPr/>
        </p:nvSpPr>
        <p:spPr>
          <a:xfrm>
            <a:off x="8317023" y="5048250"/>
            <a:ext cx="699386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AB00"/>
                </a:solidFill>
                <a:latin typeface="Noto Sans"/>
                <a:ea typeface="Noto Sans"/>
                <a:cs typeface="Noto Sans"/>
                <a:sym typeface="Noto Sans"/>
              </a:rPr>
              <a:t>⚠ 三個判讀陷阱</a:t>
            </a:r>
            <a:endParaRPr/>
          </a:p>
        </p:txBody>
      </p:sp>
      <p:sp>
        <p:nvSpPr>
          <p:cNvPr id="214" name="Google Shape;214;p10"/>
          <p:cNvSpPr txBox="1"/>
          <p:nvPr/>
        </p:nvSpPr>
        <p:spPr>
          <a:xfrm>
            <a:off x="8317023" y="5500687"/>
            <a:ext cx="7041116" cy="2809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AB00"/>
                </a:solidFill>
                <a:latin typeface="Noto Sans"/>
                <a:ea typeface="Noto Sans"/>
                <a:cs typeface="Noto Sans"/>
                <a:sym typeface="Noto Sans"/>
              </a:rPr>
              <a:t>● </a:t>
            </a:r>
            <a:r>
              <a:rPr b="1" lang="en-US" sz="14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Overview 上排數字卡的 HTTP Request Duration 是 avg，不是 P95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   延遲請看下方 P95 / P99 曲線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AB00"/>
                </a:solidFill>
                <a:latin typeface="Noto Sans"/>
                <a:ea typeface="Noto Sans"/>
                <a:cs typeface="Noto Sans"/>
                <a:sym typeface="Noto Sans"/>
              </a:rPr>
              <a:t>● </a:t>
            </a:r>
            <a:r>
              <a:rPr b="1" lang="en-US" sz="14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對 Trend Stats 推送的 k6_http_req_duration_p95 再取 avg()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   百分位數不能平均！本專案改用 Native Histogram ＋ histogram_quantile()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AB00"/>
                </a:solidFill>
                <a:latin typeface="Noto Sans"/>
                <a:ea typeface="Noto Sans"/>
                <a:cs typeface="Noto Sans"/>
                <a:sym typeface="Noto Sans"/>
              </a:rPr>
              <a:t>● </a:t>
            </a:r>
            <a:r>
              <a:rPr b="1" lang="en-US" sz="14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RPS 走平，但後端 CPU 很閒、延遲也沒漲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   瓶頸可能在壓測機本身：看 k6 主機的 CPU、網卡與 dropped_iterations</a:t>
            </a:r>
            <a:endParaRPr/>
          </a:p>
        </p:txBody>
      </p:sp>
      <p:sp>
        <p:nvSpPr>
          <p:cNvPr id="215" name="Google Shape;215;p10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6101E"/>
          </a:solidFill>
          <a:ln cap="flat" cmpd="sng" w="12700">
            <a:solidFill>
              <a:srgbClr val="0284C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BAE6FD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8.png" id="220" name="Google Shape;22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11">
            <a:hlinkClick r:id="rId4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>
              <a:gd fmla="val 16667" name="adj"/>
            </a:avLst>
          </a:prstGeom>
          <a:solidFill>
            <a:srgbClr val="0A1420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4500" spcFirstLastPara="1" rIns="945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lang="en-US" sz="850">
                <a:solidFill>
                  <a:srgbClr val="66FCF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tedmax100.github.io/o11y_lab_for_dummies/k6-performance-testing/</a:t>
            </a:r>
            <a:endParaRPr/>
          </a:p>
        </p:txBody>
      </p:sp>
      <p:sp>
        <p:nvSpPr>
          <p:cNvPr id="222" name="Google Shape;222;p11">
            <a:hlinkClick r:id="rId5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6101E"/>
          </a:solidFill>
          <a:ln cap="flat" cmpd="sng" w="12700">
            <a:solidFill>
              <a:srgbClr val="0284C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BAE6FD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lean_tech_bg.png" id="227" name="Google Shape;22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12"/>
          <p:cNvSpPr txBox="1"/>
          <p:nvPr/>
        </p:nvSpPr>
        <p:spPr>
          <a:xfrm>
            <a:off x="708837" y="571500"/>
            <a:ext cx="12995348" cy="77390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企業導入實作 Checklist </a:t>
            </a:r>
            <a:r>
              <a:rPr lang="en-US" sz="1700">
                <a:solidFill>
                  <a:srgbClr val="66FCF1"/>
                </a:solidFill>
                <a:latin typeface="Noto Sans"/>
                <a:ea typeface="Noto Sans"/>
                <a:cs typeface="Noto Sans"/>
                <a:sym typeface="Noto Sans"/>
              </a:rPr>
              <a:t>(Takeaway)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9AA0A6"/>
                </a:solidFill>
                <a:latin typeface="Noto Sans"/>
                <a:ea typeface="Noto Sans"/>
                <a:cs typeface="Noto Sans"/>
                <a:sym typeface="Noto Sans"/>
              </a:rPr>
              <a:t>將 k6 測試代碼化、SLO 門禁自動化與全鏈路可觀測性深植於團隊日常研發流程</a:t>
            </a:r>
            <a:endParaRPr/>
          </a:p>
        </p:txBody>
      </p:sp>
      <p:sp>
        <p:nvSpPr>
          <p:cNvPr id="229" name="Google Shape;229;p12"/>
          <p:cNvSpPr/>
          <p:nvPr/>
        </p:nvSpPr>
        <p:spPr>
          <a:xfrm>
            <a:off x="708837" y="1488281"/>
            <a:ext cx="14826511" cy="1964531"/>
          </a:xfrm>
          <a:prstGeom prst="roundRect">
            <a:avLst>
              <a:gd fmla="val 16667" name="adj"/>
            </a:avLst>
          </a:prstGeom>
          <a:solidFill>
            <a:srgbClr val="12202E"/>
          </a:solidFill>
          <a:ln cap="flat" cmpd="sng" w="1905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t" bIns="166675" lIns="307150" spcFirstLastPara="1" rIns="307150" wrap="square" tIns="17857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66FCF1"/>
                </a:solidFill>
                <a:latin typeface="Noto Sans"/>
                <a:ea typeface="Noto Sans"/>
                <a:cs typeface="Noto Sans"/>
                <a:sym typeface="Noto Sans"/>
              </a:rPr>
              <a:t>▶ 本地開發與團隊協作</a:t>
            </a:r>
            <a:endParaRPr sz="1500"/>
          </a:p>
          <a:p>
            <a:pPr indent="0" lvl="0" marL="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66FCF1"/>
                </a:solidFill>
                <a:latin typeface="Noto Sans"/>
                <a:ea typeface="Noto Sans"/>
                <a:cs typeface="Noto Sans"/>
                <a:sym typeface="Noto Sans"/>
              </a:rPr>
              <a:t>●  </a:t>
            </a:r>
            <a:r>
              <a:rPr b="1" lang="en-US" sz="13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腳本即時調優： </a:t>
            </a:r>
            <a:r>
              <a:rPr lang="en-US" sz="125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壓測腳本開發與本地微調時，養成啟用 K6_WEB_DASHBOARD=true 即時觀測延遲與錯誤率變化的習慣。</a:t>
            </a:r>
            <a:endParaRPr sz="1500"/>
          </a:p>
          <a:p>
            <a:pPr indent="0" lvl="0" marL="0" marR="0" rtl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66FCF1"/>
                </a:solidFill>
                <a:latin typeface="Noto Sans"/>
                <a:ea typeface="Noto Sans"/>
                <a:cs typeface="Noto Sans"/>
                <a:sym typeface="Noto Sans"/>
              </a:rPr>
              <a:t>●  </a:t>
            </a:r>
            <a:r>
              <a:rPr b="1" lang="en-US" sz="13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跨部門溝通基準： </a:t>
            </a:r>
            <a:r>
              <a:rPr lang="en-US" sz="125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交付團隊評估效能時，統一匯出 HTML Report 獨立報表作為跨部門對齊的效能基準線 (Baseline)。</a:t>
            </a:r>
            <a:endParaRPr sz="1500"/>
          </a:p>
        </p:txBody>
      </p:sp>
      <p:sp>
        <p:nvSpPr>
          <p:cNvPr id="230" name="Google Shape;230;p12"/>
          <p:cNvSpPr/>
          <p:nvPr/>
        </p:nvSpPr>
        <p:spPr>
          <a:xfrm>
            <a:off x="708837" y="3631406"/>
            <a:ext cx="14826511" cy="1964531"/>
          </a:xfrm>
          <a:prstGeom prst="roundRect">
            <a:avLst>
              <a:gd fmla="val 16667" name="adj"/>
            </a:avLst>
          </a:prstGeom>
          <a:solidFill>
            <a:srgbClr val="241C14"/>
          </a:solidFill>
          <a:ln cap="flat" cmpd="sng" w="19050">
            <a:solidFill>
              <a:srgbClr val="FB8C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t" bIns="166675" lIns="307150" spcFirstLastPara="1" rIns="307150" wrap="square" tIns="17857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FFAB00"/>
                </a:solidFill>
                <a:latin typeface="Noto Sans"/>
                <a:ea typeface="Noto Sans"/>
                <a:cs typeface="Noto Sans"/>
                <a:sym typeface="Noto Sans"/>
              </a:rPr>
              <a:t>▶ CI/CD 流水線整合</a:t>
            </a:r>
            <a:endParaRPr sz="1500"/>
          </a:p>
          <a:p>
            <a:pPr indent="0" lvl="0" marL="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AB00"/>
                </a:solidFill>
                <a:latin typeface="Noto Sans"/>
                <a:ea typeface="Noto Sans"/>
                <a:cs typeface="Noto Sans"/>
                <a:sym typeface="Noto Sans"/>
              </a:rPr>
              <a:t>●  </a:t>
            </a:r>
            <a:r>
              <a:rPr b="1" lang="en-US" sz="13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無人值守乾淨退場： </a:t>
            </a:r>
            <a:r>
              <a:rPr lang="en-US" sz="125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於自動化 CI 流水線中，嚴格配置 K6_WEB_DASHBOARD_PORT=-1 確保容器產出報表後正常退出。</a:t>
            </a:r>
            <a:endParaRPr sz="1500"/>
          </a:p>
          <a:p>
            <a:pPr indent="0" lvl="0" marL="0" marR="0" rtl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AB00"/>
                </a:solidFill>
                <a:latin typeface="Noto Sans"/>
                <a:ea typeface="Noto Sans"/>
                <a:cs typeface="Noto Sans"/>
                <a:sym typeface="Noto Sans"/>
              </a:rPr>
              <a:t>●  </a:t>
            </a:r>
            <a:r>
              <a:rPr b="1" lang="en-US" sz="13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客製化 Runner 映像檔： </a:t>
            </a:r>
            <a:r>
              <a:rPr lang="en-US" sz="125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透過 xk6 搭配 Docker 確定性編譯，發布團隊專屬之 Custom k6 Runner 容器映像檔於 CI 倉庫。</a:t>
            </a:r>
            <a:endParaRPr sz="1500"/>
          </a:p>
        </p:txBody>
      </p:sp>
      <p:sp>
        <p:nvSpPr>
          <p:cNvPr id="231" name="Google Shape;231;p12"/>
          <p:cNvSpPr/>
          <p:nvPr/>
        </p:nvSpPr>
        <p:spPr>
          <a:xfrm>
            <a:off x="708837" y="5774531"/>
            <a:ext cx="14826511" cy="2381250"/>
          </a:xfrm>
          <a:prstGeom prst="roundRect">
            <a:avLst>
              <a:gd fmla="val 16667" name="adj"/>
            </a:avLst>
          </a:prstGeom>
          <a:solidFill>
            <a:srgbClr val="1A1626"/>
          </a:solidFill>
          <a:ln cap="flat" cmpd="sng" w="19050">
            <a:solidFill>
              <a:srgbClr val="BB86F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t" bIns="166675" lIns="307150" spcFirstLastPara="1" rIns="307150" wrap="square" tIns="17857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BB86FC"/>
                </a:solidFill>
                <a:latin typeface="Noto Sans"/>
                <a:ea typeface="Noto Sans"/>
                <a:cs typeface="Noto Sans"/>
                <a:sym typeface="Noto Sans"/>
              </a:rPr>
              <a:t>▶ 進階擴充與全域遙測</a:t>
            </a:r>
            <a:endParaRPr sz="1500"/>
          </a:p>
          <a:p>
            <a:pPr indent="0" lvl="0" marL="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BB86FC"/>
                </a:solidFill>
                <a:latin typeface="Noto Sans"/>
                <a:ea typeface="Noto Sans"/>
                <a:cs typeface="Noto Sans"/>
                <a:sym typeface="Noto Sans"/>
              </a:rPr>
              <a:t>●  </a:t>
            </a:r>
            <a:r>
              <a:rPr b="1" lang="en-US" sz="13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底層中間件協定擴充： </a:t>
            </a:r>
            <a:r>
              <a:rPr lang="en-US" sz="125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評估微服務架構需求，透過 xk6 掛載 xk6-kafka / xk6-redis / xk6-sql 等底層中間件原生連線。</a:t>
            </a:r>
            <a:endParaRPr sz="1500"/>
          </a:p>
          <a:p>
            <a:pPr indent="0" lvl="0" marL="0" marR="0" rtl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BB86FC"/>
                </a:solidFill>
                <a:latin typeface="Noto Sans"/>
                <a:ea typeface="Noto Sans"/>
                <a:cs typeface="Noto Sans"/>
                <a:sym typeface="Noto Sans"/>
              </a:rPr>
              <a:t>●  </a:t>
            </a:r>
            <a:r>
              <a:rPr b="1" lang="en-US" sz="13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時序數據串流對齊： </a:t>
            </a:r>
            <a:r>
              <a:rPr lang="en-US" sz="125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啟用 Prometheus Remote Write，將壓測指標帶上 Git Commit Tag 即時推入 Prometheus / InfluxDB。</a:t>
            </a:r>
            <a:endParaRPr sz="1500"/>
          </a:p>
          <a:p>
            <a:pPr indent="0" lvl="0" marL="0" marR="0" rtl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BB86FC"/>
                </a:solidFill>
                <a:latin typeface="Noto Sans"/>
                <a:ea typeface="Noto Sans"/>
                <a:cs typeface="Noto Sans"/>
                <a:sym typeface="Noto Sans"/>
              </a:rPr>
              <a:t>●  </a:t>
            </a:r>
            <a:r>
              <a:rPr b="1" lang="en-US" sz="13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雙十字準星秒級定位： </a:t>
            </a:r>
            <a:r>
              <a:rPr lang="en-US" sz="125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於 Grafana 建立共享十字準星儀表板，將 k6 延遲與 K8s Pod CPU 限流 (CFS Throttling) 精準上下對齊。</a:t>
            </a:r>
            <a:endParaRPr sz="1500"/>
          </a:p>
        </p:txBody>
      </p:sp>
      <p:sp>
        <p:nvSpPr>
          <p:cNvPr id="232" name="Google Shape;232;p12">
            <a:hlinkClick r:id="rId4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>
              <a:gd fmla="val 16667" name="adj"/>
            </a:avLst>
          </a:prstGeom>
          <a:solidFill>
            <a:srgbClr val="0A1420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4500" spcFirstLastPara="1" rIns="945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lang="en-US" sz="850">
                <a:solidFill>
                  <a:srgbClr val="66FCF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tedmax100.github.io/o11y_lab_for_dummies/k6-performance-testing/</a:t>
            </a:r>
            <a:endParaRPr/>
          </a:p>
        </p:txBody>
      </p:sp>
      <p:sp>
        <p:nvSpPr>
          <p:cNvPr id="233" name="Google Shape;233;p12">
            <a:hlinkClick r:id="rId5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6101E"/>
          </a:solidFill>
          <a:ln cap="flat" cmpd="sng" w="12700">
            <a:solidFill>
              <a:srgbClr val="0284C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BAE6FD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lean_tech_bg.png" id="238" name="Google Shape;23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13"/>
          <p:cNvSpPr txBox="1"/>
          <p:nvPr/>
        </p:nvSpPr>
        <p:spPr>
          <a:xfrm>
            <a:off x="708837" y="571500"/>
            <a:ext cx="12995348" cy="77390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推薦延伸閱讀 </a:t>
            </a:r>
            <a:r>
              <a:rPr lang="en-US" sz="1700">
                <a:solidFill>
                  <a:srgbClr val="66FCF1"/>
                </a:solidFill>
                <a:latin typeface="Noto Sans"/>
                <a:ea typeface="Noto Sans"/>
                <a:cs typeface="Noto Sans"/>
                <a:sym typeface="Noto Sans"/>
              </a:rPr>
              <a:t>(Author's Deep-Dive Articles)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9AA0A6"/>
                </a:solidFill>
                <a:latin typeface="Noto Sans"/>
                <a:ea typeface="Noto Sans"/>
                <a:cs typeface="Noto Sans"/>
                <a:sym typeface="Noto Sans"/>
              </a:rPr>
              <a:t>講師親撰之 k6 系列技術專欄 — 深入外掛生態系開發、前端真實體驗混合壓測與微服務全鏈路可觀測性閉環</a:t>
            </a:r>
            <a:endParaRPr/>
          </a:p>
        </p:txBody>
      </p:sp>
      <p:sp>
        <p:nvSpPr>
          <p:cNvPr id="240" name="Google Shape;240;p13"/>
          <p:cNvSpPr/>
          <p:nvPr/>
        </p:nvSpPr>
        <p:spPr>
          <a:xfrm>
            <a:off x="708837" y="1547812"/>
            <a:ext cx="4666511" cy="6012656"/>
          </a:xfrm>
          <a:prstGeom prst="roundRect">
            <a:avLst>
              <a:gd fmla="val 16667" name="adj"/>
            </a:avLst>
          </a:prstGeom>
          <a:solidFill>
            <a:srgbClr val="191626"/>
          </a:solidFill>
          <a:ln cap="flat" cmpd="sng" w="19050">
            <a:solidFill>
              <a:srgbClr val="7C4D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t" bIns="142875" lIns="189000" spcFirstLastPara="1" rIns="189000" wrap="square" tIns="16667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50">
                <a:solidFill>
                  <a:srgbClr val="BB86FC"/>
                </a:solidFill>
                <a:latin typeface="Noto Sans"/>
                <a:ea typeface="Noto Sans"/>
                <a:cs typeface="Noto Sans"/>
                <a:sym typeface="Noto Sans"/>
              </a:rPr>
              <a:t>● xk6 模組擴充 (Go Extension)</a:t>
            </a:r>
            <a:endParaRPr sz="1900"/>
          </a:p>
          <a:p>
            <a:pPr indent="0" lvl="0" marL="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US" sz="17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Grafana xk6: 手把手從開發到編譯插件</a:t>
            </a:r>
            <a:endParaRPr sz="1900"/>
          </a:p>
          <a:p>
            <a:pPr indent="0" lvl="0" marL="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0AAB9"/>
                </a:solidFill>
                <a:latin typeface="Noto Sans"/>
                <a:ea typeface="Noto Sans"/>
                <a:cs typeface="Noto Sans"/>
                <a:sym typeface="Noto Sans"/>
              </a:rPr>
              <a:t>核心：Go-to-JS Bridge 與動態密碼插件實戰</a:t>
            </a:r>
            <a:endParaRPr sz="1900"/>
          </a:p>
          <a:p>
            <a:pPr indent="0" lvl="0" marL="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  <a:t>• Go-to-JS Bridge 架構：</a:t>
            </a:r>
            <a:b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</a:br>
            <a: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  <a:t>  </a:t>
            </a:r>
            <a:r>
              <a:rPr lang="en-US">
                <a:solidFill>
                  <a:srgbClr val="B9BEC8"/>
                </a:solidFill>
                <a:latin typeface="Noto Sans"/>
                <a:ea typeface="Noto Sans"/>
                <a:cs typeface="Noto Sans"/>
                <a:sym typeface="Noto Sans"/>
              </a:rPr>
              <a:t>深度解析 RootModule、ModuleInstance 與 modules.Register 註冊機制，掌握 Go 結構體映射至 JS 類別的核心原理。</a:t>
            </a:r>
            <a:endParaRPr sz="1900"/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  <a:t>• Web3 OTP 實戰案例：</a:t>
            </a:r>
            <a:b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</a:br>
            <a: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  <a:t>  </a:t>
            </a:r>
            <a:r>
              <a:rPr lang="en-US">
                <a:solidFill>
                  <a:srgbClr val="B9BEC8"/>
                </a:solidFill>
                <a:latin typeface="Noto Sans"/>
                <a:ea typeface="Noto Sans"/>
                <a:cs typeface="Noto Sans"/>
                <a:sym typeface="Noto Sans"/>
              </a:rPr>
              <a:t>以動態身份驗證為例，親手實作 k6/x/otp 擴充套件，在百萬併發壓測中動態生成一次性金鑰密碼與簽名。</a:t>
            </a:r>
            <a:endParaRPr sz="1900"/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  <a:t>• Docker 確定性編譯：</a:t>
            </a:r>
            <a:b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</a:br>
            <a: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  <a:t>  </a:t>
            </a:r>
            <a:r>
              <a:rPr lang="en-US">
                <a:solidFill>
                  <a:srgbClr val="B9BEC8"/>
                </a:solidFill>
                <a:latin typeface="Noto Sans"/>
                <a:ea typeface="Noto Sans"/>
                <a:cs typeface="Noto Sans"/>
                <a:sym typeface="Noto Sans"/>
              </a:rPr>
              <a:t>使用 grafana/xk6 官方容器抹平各 OS 開發環境依賴，在零配置前提下一鍵編譯出團隊專屬客製化 k6 二進位檔。</a:t>
            </a:r>
            <a:endParaRPr sz="1900"/>
          </a:p>
        </p:txBody>
      </p:sp>
      <p:sp>
        <p:nvSpPr>
          <p:cNvPr id="241" name="Google Shape;241;p13">
            <a:hlinkClick r:id="rId4"/>
          </p:cNvPr>
          <p:cNvSpPr/>
          <p:nvPr/>
        </p:nvSpPr>
        <p:spPr>
          <a:xfrm>
            <a:off x="897860" y="6965156"/>
            <a:ext cx="4288465" cy="428625"/>
          </a:xfrm>
          <a:prstGeom prst="roundRect">
            <a:avLst>
              <a:gd fmla="val 16667" name="adj"/>
            </a:avLst>
          </a:prstGeom>
          <a:solidFill>
            <a:srgbClr val="202C3E"/>
          </a:solidFill>
          <a:ln cap="flat" cmpd="sng" w="19050">
            <a:solidFill>
              <a:srgbClr val="7C4D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66FCF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📖 閱讀文章 ➔ ganhua.wang/grafana-xk6</a:t>
            </a:r>
            <a:endParaRPr/>
          </a:p>
        </p:txBody>
      </p:sp>
      <p:sp>
        <p:nvSpPr>
          <p:cNvPr id="242" name="Google Shape;242;p13"/>
          <p:cNvSpPr/>
          <p:nvPr/>
        </p:nvSpPr>
        <p:spPr>
          <a:xfrm>
            <a:off x="5788837" y="1547812"/>
            <a:ext cx="4666511" cy="6012656"/>
          </a:xfrm>
          <a:prstGeom prst="roundRect">
            <a:avLst>
              <a:gd fmla="val 16667" name="adj"/>
            </a:avLst>
          </a:prstGeom>
          <a:solidFill>
            <a:srgbClr val="101C22"/>
          </a:solidFill>
          <a:ln cap="flat" cmpd="sng" w="1905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t" bIns="142875" lIns="189000" spcFirstLastPara="1" rIns="189000" wrap="square" tIns="16667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50">
                <a:solidFill>
                  <a:srgbClr val="00E676"/>
                </a:solidFill>
                <a:latin typeface="Noto Sans"/>
                <a:ea typeface="Noto Sans"/>
                <a:cs typeface="Noto Sans"/>
                <a:sym typeface="Noto Sans"/>
              </a:rPr>
              <a:t>● 前端混壓測試 (k6-browser)</a:t>
            </a:r>
            <a:endParaRPr sz="1900"/>
          </a:p>
          <a:p>
            <a:pPr indent="0" lvl="0" marL="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US" sz="17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Grafana k6 瀏覽器測試實戰</a:t>
            </a:r>
            <a:endParaRPr sz="1900"/>
          </a:p>
          <a:p>
            <a:pPr indent="0" lvl="0" marL="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0AAB9"/>
                </a:solidFill>
                <a:latin typeface="Noto Sans"/>
                <a:ea typeface="Noto Sans"/>
                <a:cs typeface="Noto Sans"/>
                <a:sym typeface="Noto Sans"/>
              </a:rPr>
              <a:t>核心：Playwright 相容與 Core Web Vitals</a:t>
            </a:r>
            <a:endParaRPr sz="1900"/>
          </a:p>
          <a:p>
            <a:pPr indent="0" lvl="0" marL="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  <a:t>• Playwright 相容生態：</a:t>
            </a:r>
            <a:b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</a:br>
            <a: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  <a:t>  </a:t>
            </a:r>
            <a:r>
              <a:rPr lang="en-US">
                <a:solidFill>
                  <a:srgbClr val="B9BEC8"/>
                </a:solidFill>
                <a:latin typeface="Noto Sans"/>
                <a:ea typeface="Noto Sans"/>
                <a:cs typeface="Noto Sans"/>
                <a:sym typeface="Noto Sans"/>
              </a:rPr>
              <a:t>全面採用 chromium.launch()、page.goto() 與語意化 Locator，前端工程師無需轉換思維即可上手。</a:t>
            </a:r>
            <a:endParaRPr sz="1900"/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  <a:t>• BrowserContext 隔離：</a:t>
            </a:r>
            <a:b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</a:br>
            <a: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  <a:t>  </a:t>
            </a:r>
            <a:r>
              <a:rPr lang="en-US">
                <a:solidFill>
                  <a:srgbClr val="B9BEC8"/>
                </a:solidFill>
                <a:latin typeface="Noto Sans"/>
                <a:ea typeface="Noto Sans"/>
                <a:cs typeface="Noto Sans"/>
                <a:sym typeface="Noto Sans"/>
              </a:rPr>
              <a:t>在單一瀏覽器處理程序中實現多用戶完全獨立的 Session、Cookie 與 LocalStorage，大幅降低記憶體開銷。</a:t>
            </a:r>
            <a:endParaRPr sz="1900"/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  <a:t>• 電商全流程自動化：</a:t>
            </a:r>
            <a:b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</a:br>
            <a: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  <a:t>  </a:t>
            </a:r>
            <a:r>
              <a:rPr lang="en-US">
                <a:solidFill>
                  <a:srgbClr val="B9BEC8"/>
                </a:solidFill>
                <a:latin typeface="Noto Sans"/>
                <a:ea typeface="Noto Sans"/>
                <a:cs typeface="Noto Sans"/>
                <a:sym typeface="Noto Sans"/>
              </a:rPr>
              <a:t>以 OpenTelemetry Demo 購物車為例，完整模擬加購物車與結帳，採集真實 Web Vitals 並自動截圖保存錯誤現場。</a:t>
            </a:r>
            <a:endParaRPr sz="1900"/>
          </a:p>
        </p:txBody>
      </p:sp>
      <p:sp>
        <p:nvSpPr>
          <p:cNvPr id="243" name="Google Shape;243;p13">
            <a:hlinkClick r:id="rId5"/>
          </p:cNvPr>
          <p:cNvSpPr/>
          <p:nvPr/>
        </p:nvSpPr>
        <p:spPr>
          <a:xfrm>
            <a:off x="5977860" y="6965156"/>
            <a:ext cx="4288465" cy="428625"/>
          </a:xfrm>
          <a:prstGeom prst="roundRect">
            <a:avLst>
              <a:gd fmla="val 16667" name="adj"/>
            </a:avLst>
          </a:prstGeom>
          <a:solidFill>
            <a:srgbClr val="202C3E"/>
          </a:solidFill>
          <a:ln cap="flat" cmpd="sng" w="1905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66FCF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📖 閱讀文章 ➔ ganhua.wang/grafana-k6-browser</a:t>
            </a:r>
            <a:endParaRPr/>
          </a:p>
        </p:txBody>
      </p:sp>
      <p:sp>
        <p:nvSpPr>
          <p:cNvPr id="244" name="Google Shape;244;p13"/>
          <p:cNvSpPr/>
          <p:nvPr/>
        </p:nvSpPr>
        <p:spPr>
          <a:xfrm>
            <a:off x="10868837" y="1547812"/>
            <a:ext cx="4666511" cy="6012656"/>
          </a:xfrm>
          <a:prstGeom prst="roundRect">
            <a:avLst>
              <a:gd fmla="val 16667" name="adj"/>
            </a:avLst>
          </a:prstGeom>
          <a:solidFill>
            <a:srgbClr val="201A12"/>
          </a:solidFill>
          <a:ln cap="flat" cmpd="sng" w="19050">
            <a:solidFill>
              <a:srgbClr val="FB8C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t" bIns="142875" lIns="189000" spcFirstLastPara="1" rIns="189000" wrap="square" tIns="16667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50">
                <a:solidFill>
                  <a:srgbClr val="FFAB00"/>
                </a:solidFill>
                <a:latin typeface="Noto Sans"/>
                <a:ea typeface="Noto Sans"/>
                <a:cs typeface="Noto Sans"/>
                <a:sym typeface="Noto Sans"/>
              </a:rPr>
              <a:t>● 全鏈路閉環 (Observability)</a:t>
            </a:r>
            <a:endParaRPr sz="1900"/>
          </a:p>
          <a:p>
            <a:pPr indent="0" lvl="0" marL="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US" sz="17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Getting Started with Grafana k6</a:t>
            </a:r>
            <a:endParaRPr sz="1900"/>
          </a:p>
          <a:p>
            <a:pPr indent="0" lvl="0" marL="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0AAB9"/>
                </a:solidFill>
                <a:latin typeface="Noto Sans"/>
                <a:ea typeface="Noto Sans"/>
                <a:cs typeface="Noto Sans"/>
                <a:sym typeface="Noto Sans"/>
              </a:rPr>
              <a:t>核心：OpenTelemetry 串流與 GitLab CI</a:t>
            </a:r>
            <a:endParaRPr sz="1900"/>
          </a:p>
          <a:p>
            <a:pPr indent="0" lvl="0" marL="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  <a:t>• 語意化測試組織：</a:t>
            </a:r>
            <a:b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</a:br>
            <a: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  <a:t>  </a:t>
            </a:r>
            <a:r>
              <a:rPr lang="en-US">
                <a:solidFill>
                  <a:srgbClr val="B9BEC8"/>
                </a:solidFill>
                <a:latin typeface="Noto Sans"/>
                <a:ea typeface="Noto Sans"/>
                <a:cs typeface="Noto Sans"/>
                <a:sym typeface="Noto Sans"/>
              </a:rPr>
              <a:t>運用 k6/http、check 與 group 模組化封裝業務邏輯，產出結構清晰且具備業務意義的階層化壓測報表。</a:t>
            </a:r>
            <a:endParaRPr sz="1900"/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  <a:t>• OTel 串流全面整合：</a:t>
            </a:r>
            <a:b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</a:br>
            <a: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  <a:t>  </a:t>
            </a:r>
            <a:r>
              <a:rPr lang="en-US">
                <a:solidFill>
                  <a:srgbClr val="B9BEC8"/>
                </a:solidFill>
                <a:latin typeface="Noto Sans"/>
                <a:ea typeface="Noto Sans"/>
                <a:cs typeface="Noto Sans"/>
                <a:sym typeface="Noto Sans"/>
              </a:rPr>
              <a:t>直連 OpenTelemetry Collector，將客戶端壓測指標與後端分散式 Traces、Logs 進行跨維度時間軸對齊。</a:t>
            </a:r>
            <a:endParaRPr sz="1900"/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  <a:t>• GitLab CI 自動化門禁：</a:t>
            </a:r>
            <a:b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</a:br>
            <a:r>
              <a:rPr b="1" lang="en-US" sz="1450">
                <a:solidFill>
                  <a:srgbClr val="F5F5FA"/>
                </a:solidFill>
                <a:latin typeface="Noto Sans"/>
                <a:ea typeface="Noto Sans"/>
                <a:cs typeface="Noto Sans"/>
                <a:sym typeface="Noto Sans"/>
              </a:rPr>
              <a:t>  </a:t>
            </a:r>
            <a:r>
              <a:rPr lang="en-US">
                <a:solidFill>
                  <a:srgbClr val="B9BEC8"/>
                </a:solidFill>
                <a:latin typeface="Noto Sans"/>
                <a:ea typeface="Noto Sans"/>
                <a:cs typeface="Noto Sans"/>
                <a:sym typeface="Noto Sans"/>
              </a:rPr>
              <a:t>將 k6 壓測無縫嵌入 CI/CD 流水線，以 Exit Code 99 自動攔截效能退化代碼，守護生產主幹穩定。</a:t>
            </a:r>
            <a:endParaRPr sz="1900"/>
          </a:p>
        </p:txBody>
      </p:sp>
      <p:sp>
        <p:nvSpPr>
          <p:cNvPr id="245" name="Google Shape;245;p13">
            <a:hlinkClick r:id="rId6"/>
          </p:cNvPr>
          <p:cNvSpPr/>
          <p:nvPr/>
        </p:nvSpPr>
        <p:spPr>
          <a:xfrm>
            <a:off x="11057860" y="6965156"/>
            <a:ext cx="4288465" cy="428625"/>
          </a:xfrm>
          <a:prstGeom prst="roundRect">
            <a:avLst>
              <a:gd fmla="val 16667" name="adj"/>
            </a:avLst>
          </a:prstGeom>
          <a:solidFill>
            <a:srgbClr val="202C3E"/>
          </a:solidFill>
          <a:ln cap="flat" cmpd="sng" w="19050">
            <a:solidFill>
              <a:srgbClr val="FB8C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66FCF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📖 閱讀文章 ➔ ganhua.wang/getting-started-with-grafana-k6</a:t>
            </a:r>
            <a:endParaRPr/>
          </a:p>
        </p:txBody>
      </p:sp>
      <p:sp>
        <p:nvSpPr>
          <p:cNvPr id="246" name="Google Shape;246;p13"/>
          <p:cNvSpPr/>
          <p:nvPr/>
        </p:nvSpPr>
        <p:spPr>
          <a:xfrm>
            <a:off x="708837" y="7715250"/>
            <a:ext cx="14826511" cy="571500"/>
          </a:xfrm>
          <a:prstGeom prst="roundRect">
            <a:avLst>
              <a:gd fmla="val 16667" name="adj"/>
            </a:avLst>
          </a:prstGeom>
          <a:solidFill>
            <a:srgbClr val="141C2A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165375" spcFirstLastPara="1" rIns="16537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D700"/>
                </a:solidFill>
                <a:latin typeface="Noto Sans"/>
                <a:ea typeface="Noto Sans"/>
                <a:cs typeface="Noto Sans"/>
                <a:sym typeface="Noto Sans"/>
              </a:rPr>
              <a:t>💡 學習價值： </a:t>
            </a:r>
            <a:r>
              <a:rPr lang="en-US" sz="950">
                <a:solidFill>
                  <a:srgbClr val="DCE1EB"/>
                </a:solidFill>
                <a:latin typeface="Noto Sans"/>
                <a:ea typeface="Noto Sans"/>
                <a:cs typeface="Noto Sans"/>
                <a:sym typeface="Noto Sans"/>
              </a:rPr>
              <a:t>本課程奠定企業級效能工程體系，專欄文章則引領大家攻克真實業務中的前沿自訂挑戰，推薦課後務必搭配精讀！</a:t>
            </a:r>
            <a:endParaRPr/>
          </a:p>
        </p:txBody>
      </p:sp>
      <p:sp>
        <p:nvSpPr>
          <p:cNvPr id="247" name="Google Shape;247;p13">
            <a:hlinkClick r:id="rId7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>
              <a:gd fmla="val 16667" name="adj"/>
            </a:avLst>
          </a:prstGeom>
          <a:solidFill>
            <a:srgbClr val="0A1420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4500" spcFirstLastPara="1" rIns="945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lang="en-US" sz="850">
                <a:solidFill>
                  <a:srgbClr val="66FCF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tedmax100.github.io/o11y_lab_for_dummies/k6-performance-testing/</a:t>
            </a:r>
            <a:endParaRPr/>
          </a:p>
        </p:txBody>
      </p:sp>
      <p:sp>
        <p:nvSpPr>
          <p:cNvPr id="248" name="Google Shape;248;p13">
            <a:hlinkClick r:id="rId8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6101E"/>
          </a:solidFill>
          <a:ln cap="flat" cmpd="sng" w="12700">
            <a:solidFill>
              <a:srgbClr val="0284C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BAE6FD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4" name="Google Shape;25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14"/>
          <p:cNvSpPr txBox="1"/>
          <p:nvPr/>
        </p:nvSpPr>
        <p:spPr>
          <a:xfrm>
            <a:off x="708837" y="476250"/>
            <a:ext cx="14838325" cy="595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隨堂練習指引 (Hands-on Practice)</a:t>
            </a:r>
            <a:endParaRPr/>
          </a:p>
        </p:txBody>
      </p:sp>
      <p:sp>
        <p:nvSpPr>
          <p:cNvPr id="256" name="Google Shape;256;p14"/>
          <p:cNvSpPr txBox="1"/>
          <p:nvPr/>
        </p:nvSpPr>
        <p:spPr>
          <a:xfrm>
            <a:off x="708837" y="1047750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6FCF1"/>
                </a:solidFill>
                <a:latin typeface="Noto Sans"/>
                <a:ea typeface="Noto Sans"/>
                <a:cs typeface="Noto Sans"/>
                <a:sym typeface="Noto Sans"/>
              </a:rPr>
              <a:t>依序完成四個實作，對應 Codelab 第 5 章「手把手實作演練」的實作 1～4</a:t>
            </a:r>
            <a:endParaRPr/>
          </a:p>
        </p:txBody>
      </p:sp>
      <p:sp>
        <p:nvSpPr>
          <p:cNvPr id="257" name="Google Shape;257;p14"/>
          <p:cNvSpPr/>
          <p:nvPr/>
        </p:nvSpPr>
        <p:spPr>
          <a:xfrm>
            <a:off x="708837" y="1571625"/>
            <a:ext cx="7312837" cy="3369468"/>
          </a:xfrm>
          <a:prstGeom prst="roundRect">
            <a:avLst>
              <a:gd fmla="val 5000" name="adj"/>
            </a:avLst>
          </a:prstGeom>
          <a:solidFill>
            <a:srgbClr val="12202E"/>
          </a:solidFill>
          <a:ln cap="flat" cmpd="sng" w="12700">
            <a:solidFill>
              <a:srgbClr val="3241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4"/>
          <p:cNvSpPr txBox="1"/>
          <p:nvPr/>
        </p:nvSpPr>
        <p:spPr>
          <a:xfrm>
            <a:off x="945116" y="1714500"/>
            <a:ext cx="6840279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任務一：原生 Web Dashboard</a:t>
            </a:r>
            <a:endParaRPr/>
          </a:p>
        </p:txBody>
      </p:sp>
      <p:sp>
        <p:nvSpPr>
          <p:cNvPr id="259" name="Google Shape;259;p14"/>
          <p:cNvSpPr/>
          <p:nvPr/>
        </p:nvSpPr>
        <p:spPr>
          <a:xfrm>
            <a:off x="945116" y="2190750"/>
            <a:ext cx="6840279" cy="1381125"/>
          </a:xfrm>
          <a:prstGeom prst="roundRect">
            <a:avLst>
              <a:gd fmla="val 8000" name="adj"/>
            </a:avLst>
          </a:prstGeom>
          <a:solidFill>
            <a:srgbClr val="0A1420"/>
          </a:solidFill>
          <a:ln cap="flat" cmpd="sng" w="12700">
            <a:solidFill>
              <a:srgbClr val="3241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4175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6FCF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K6_WEB_DASHBOARD=true \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6FCF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k6 run k6/demos/ch5_dashboard_and_html_summary.js</a:t>
            </a:r>
            <a:endParaRPr/>
          </a:p>
        </p:txBody>
      </p:sp>
      <p:sp>
        <p:nvSpPr>
          <p:cNvPr id="260" name="Google Shape;260;p14"/>
          <p:cNvSpPr txBox="1"/>
          <p:nvPr/>
        </p:nvSpPr>
        <p:spPr>
          <a:xfrm>
            <a:off x="945116" y="3667125"/>
            <a:ext cx="6840279" cy="11668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AB00"/>
                </a:solidFill>
                <a:latin typeface="Noto Sans"/>
                <a:ea typeface="Noto Sans"/>
                <a:cs typeface="Noto Sans"/>
                <a:sym typeface="Noto Sans"/>
              </a:rPr>
              <a:t>✓ </a:t>
            </a:r>
            <a:r>
              <a:rPr b="0" lang="en-US" sz="150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打開 http://127.0.0.1:5665 看即時曲線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AB00"/>
                </a:solidFill>
                <a:latin typeface="Noto Sans"/>
                <a:ea typeface="Noto Sans"/>
                <a:cs typeface="Noto Sans"/>
                <a:sym typeface="Noto Sans"/>
              </a:rPr>
              <a:t>✓ </a:t>
            </a:r>
            <a:r>
              <a:rPr b="0" lang="en-US" sz="150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Overview 看 VUs 與 RPS 是否同步；Timings 找最大的一段</a:t>
            </a:r>
            <a:endParaRPr/>
          </a:p>
        </p:txBody>
      </p:sp>
      <p:sp>
        <p:nvSpPr>
          <p:cNvPr id="261" name="Google Shape;261;p14"/>
          <p:cNvSpPr/>
          <p:nvPr/>
        </p:nvSpPr>
        <p:spPr>
          <a:xfrm>
            <a:off x="8234325" y="1571625"/>
            <a:ext cx="7312837" cy="3369468"/>
          </a:xfrm>
          <a:prstGeom prst="roundRect">
            <a:avLst>
              <a:gd fmla="val 5000" name="adj"/>
            </a:avLst>
          </a:prstGeom>
          <a:solidFill>
            <a:srgbClr val="12202E"/>
          </a:solidFill>
          <a:ln cap="flat" cmpd="sng" w="12700">
            <a:solidFill>
              <a:srgbClr val="3241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4"/>
          <p:cNvSpPr txBox="1"/>
          <p:nvPr/>
        </p:nvSpPr>
        <p:spPr>
          <a:xfrm>
            <a:off x="8470604" y="1714500"/>
            <a:ext cx="6840279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任務二：CI 用的靜態 HTML 報告</a:t>
            </a:r>
            <a:endParaRPr/>
          </a:p>
        </p:txBody>
      </p:sp>
      <p:sp>
        <p:nvSpPr>
          <p:cNvPr id="263" name="Google Shape;263;p14"/>
          <p:cNvSpPr/>
          <p:nvPr/>
        </p:nvSpPr>
        <p:spPr>
          <a:xfrm>
            <a:off x="8470604" y="2190750"/>
            <a:ext cx="6840279" cy="1381125"/>
          </a:xfrm>
          <a:prstGeom prst="roundRect">
            <a:avLst>
              <a:gd fmla="val 8000" name="adj"/>
            </a:avLst>
          </a:prstGeom>
          <a:solidFill>
            <a:srgbClr val="0A1420"/>
          </a:solidFill>
          <a:ln cap="flat" cmpd="sng" w="12700">
            <a:solidFill>
              <a:srgbClr val="3241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4175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6FCF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K6_WEB_DASHBOARD=true K6_WEB_DASHBOARD_PORT=-1 \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6FCF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K6_WEB_DASHBOARD_EXPORT=offline_report.html \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6FCF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k6 run k6/demos/ch5_dashboard_and_html_summary.js</a:t>
            </a:r>
            <a:endParaRPr/>
          </a:p>
        </p:txBody>
      </p:sp>
      <p:sp>
        <p:nvSpPr>
          <p:cNvPr id="264" name="Google Shape;264;p14"/>
          <p:cNvSpPr txBox="1"/>
          <p:nvPr/>
        </p:nvSpPr>
        <p:spPr>
          <a:xfrm>
            <a:off x="8470604" y="3667125"/>
            <a:ext cx="6840279" cy="11668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AB00"/>
                </a:solidFill>
                <a:latin typeface="Noto Sans"/>
                <a:ea typeface="Noto Sans"/>
                <a:cs typeface="Noto Sans"/>
                <a:sym typeface="Noto Sans"/>
              </a:rPr>
              <a:t>✓ </a:t>
            </a:r>
            <a:r>
              <a:rPr b="0" lang="en-US" sz="150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Port=-1：不開伺服器，跑完自動退出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AB00"/>
                </a:solidFill>
                <a:latin typeface="Noto Sans"/>
                <a:ea typeface="Noto Sans"/>
                <a:cs typeface="Noto Sans"/>
                <a:sym typeface="Noto Sans"/>
              </a:rPr>
              <a:t>✓ </a:t>
            </a:r>
            <a:r>
              <a:rPr b="0" lang="en-US" sz="150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產出 offline_report.html、custom_report.html、summary.json</a:t>
            </a:r>
            <a:endParaRPr/>
          </a:p>
        </p:txBody>
      </p:sp>
      <p:sp>
        <p:nvSpPr>
          <p:cNvPr id="265" name="Google Shape;265;p14"/>
          <p:cNvSpPr/>
          <p:nvPr/>
        </p:nvSpPr>
        <p:spPr>
          <a:xfrm>
            <a:off x="708837" y="5131593"/>
            <a:ext cx="7312837" cy="3369468"/>
          </a:xfrm>
          <a:prstGeom prst="roundRect">
            <a:avLst>
              <a:gd fmla="val 5000" name="adj"/>
            </a:avLst>
          </a:prstGeom>
          <a:solidFill>
            <a:srgbClr val="12202E"/>
          </a:solidFill>
          <a:ln cap="flat" cmpd="sng" w="12700">
            <a:solidFill>
              <a:srgbClr val="3241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4"/>
          <p:cNvSpPr txBox="1"/>
          <p:nvPr/>
        </p:nvSpPr>
        <p:spPr>
          <a:xfrm>
            <a:off x="945116" y="5274468"/>
            <a:ext cx="6840279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任務三：xk6 Docker 確定性編譯</a:t>
            </a:r>
            <a:endParaRPr/>
          </a:p>
        </p:txBody>
      </p:sp>
      <p:sp>
        <p:nvSpPr>
          <p:cNvPr id="267" name="Google Shape;267;p14"/>
          <p:cNvSpPr/>
          <p:nvPr/>
        </p:nvSpPr>
        <p:spPr>
          <a:xfrm>
            <a:off x="945116" y="5750718"/>
            <a:ext cx="6840279" cy="1381125"/>
          </a:xfrm>
          <a:prstGeom prst="roundRect">
            <a:avLst>
              <a:gd fmla="val 8000" name="adj"/>
            </a:avLst>
          </a:prstGeom>
          <a:solidFill>
            <a:srgbClr val="0A1420"/>
          </a:solidFill>
          <a:ln cap="flat" cmpd="sng" w="12700">
            <a:solidFill>
              <a:srgbClr val="3241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4175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6FCF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./k6/demos/ch5_xk6_docker_build.sh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AA0A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# docker run -u "$(id -u):$(id -g)" -v "$(pwd)/bin:/xk6" \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AA0A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#   grafana/xk6 build latest --with github.com/grafana/xk6-sql</a:t>
            </a:r>
            <a:endParaRPr/>
          </a:p>
        </p:txBody>
      </p:sp>
      <p:sp>
        <p:nvSpPr>
          <p:cNvPr id="268" name="Google Shape;268;p14"/>
          <p:cNvSpPr txBox="1"/>
          <p:nvPr/>
        </p:nvSpPr>
        <p:spPr>
          <a:xfrm>
            <a:off x="945116" y="7227093"/>
            <a:ext cx="6840279" cy="11668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AB00"/>
                </a:solidFill>
                <a:latin typeface="Noto Sans"/>
                <a:ea typeface="Noto Sans"/>
                <a:cs typeface="Noto Sans"/>
                <a:sym typeface="Noto Sans"/>
              </a:rPr>
              <a:t>✓ </a:t>
            </a:r>
            <a:r>
              <a:rPr b="0" lang="en-US" sz="150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執行 bin/k6-custom version 確認已封裝 xk6-sql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AB00"/>
                </a:solidFill>
                <a:latin typeface="Noto Sans"/>
                <a:ea typeface="Noto Sans"/>
                <a:cs typeface="Noto Sans"/>
                <a:sym typeface="Noto Sans"/>
              </a:rPr>
              <a:t>✓ </a:t>
            </a:r>
            <a:r>
              <a:rPr b="0" lang="en-US" sz="150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第一次要下載 Go 相依套件，需要幾分鐘</a:t>
            </a:r>
            <a:endParaRPr/>
          </a:p>
        </p:txBody>
      </p:sp>
      <p:sp>
        <p:nvSpPr>
          <p:cNvPr id="269" name="Google Shape;269;p14"/>
          <p:cNvSpPr/>
          <p:nvPr/>
        </p:nvSpPr>
        <p:spPr>
          <a:xfrm>
            <a:off x="8234325" y="5131593"/>
            <a:ext cx="7312837" cy="3369468"/>
          </a:xfrm>
          <a:prstGeom prst="roundRect">
            <a:avLst>
              <a:gd fmla="val 5000" name="adj"/>
            </a:avLst>
          </a:prstGeom>
          <a:solidFill>
            <a:srgbClr val="12202E"/>
          </a:solidFill>
          <a:ln cap="flat" cmpd="sng" w="12700">
            <a:solidFill>
              <a:srgbClr val="3241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4"/>
          <p:cNvSpPr txBox="1"/>
          <p:nvPr/>
        </p:nvSpPr>
        <p:spPr>
          <a:xfrm>
            <a:off x="8470604" y="5274468"/>
            <a:ext cx="6840279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任務四：Prometheus Remote Write</a:t>
            </a:r>
            <a:endParaRPr/>
          </a:p>
        </p:txBody>
      </p:sp>
      <p:sp>
        <p:nvSpPr>
          <p:cNvPr id="271" name="Google Shape;271;p14"/>
          <p:cNvSpPr/>
          <p:nvPr/>
        </p:nvSpPr>
        <p:spPr>
          <a:xfrm>
            <a:off x="8470604" y="5750718"/>
            <a:ext cx="6840279" cy="1381125"/>
          </a:xfrm>
          <a:prstGeom prst="roundRect">
            <a:avLst>
              <a:gd fmla="val 8000" name="adj"/>
            </a:avLst>
          </a:prstGeom>
          <a:solidFill>
            <a:srgbClr val="0A1420"/>
          </a:solidFill>
          <a:ln cap="flat" cmpd="sng" w="12700">
            <a:solidFill>
              <a:srgbClr val="3241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4175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6FCF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docker compose up -d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6FCF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./k6/demos/ch5_prometheus_remote_write.sh</a:t>
            </a:r>
            <a:endParaRPr/>
          </a:p>
        </p:txBody>
      </p:sp>
      <p:sp>
        <p:nvSpPr>
          <p:cNvPr id="272" name="Google Shape;272;p14"/>
          <p:cNvSpPr txBox="1"/>
          <p:nvPr/>
        </p:nvSpPr>
        <p:spPr>
          <a:xfrm>
            <a:off x="8470604" y="7227093"/>
            <a:ext cx="6840279" cy="11668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AB00"/>
                </a:solidFill>
                <a:latin typeface="Noto Sans"/>
                <a:ea typeface="Noto Sans"/>
                <a:cs typeface="Noto Sans"/>
                <a:sym typeface="Noto Sans"/>
              </a:rPr>
              <a:t>✓ </a:t>
            </a:r>
            <a:r>
              <a:rPr b="0" lang="en-US" sz="150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Grafana k6-live-metrics 右上角用 commit_id 篩選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AB00"/>
                </a:solidFill>
                <a:latin typeface="Noto Sans"/>
                <a:ea typeface="Noto Sans"/>
                <a:cs typeface="Noto Sans"/>
                <a:sym typeface="Noto Sans"/>
              </a:rPr>
              <a:t>✓ </a:t>
            </a:r>
            <a:r>
              <a:rPr b="0" lang="en-US" sz="1500">
                <a:solidFill>
                  <a:srgbClr val="D7DEEB"/>
                </a:solidFill>
                <a:latin typeface="Noto Sans"/>
                <a:ea typeface="Noto Sans"/>
                <a:cs typeface="Noto Sans"/>
                <a:sym typeface="Noto Sans"/>
              </a:rPr>
              <a:t>P95 由 native histogram 計算；套用判讀 SOP 找拐點</a:t>
            </a:r>
            <a:endParaRPr/>
          </a:p>
        </p:txBody>
      </p:sp>
      <p:sp>
        <p:nvSpPr>
          <p:cNvPr id="273" name="Google Shape;273;p14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06101E"/>
          </a:solidFill>
          <a:ln cap="flat" cmpd="sng" w="12700">
            <a:solidFill>
              <a:srgbClr val="0284C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BAE6FD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