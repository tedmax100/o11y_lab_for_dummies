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8" r:id="rId20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5.800000000000001</c:v>
                </c:pt>
                <c:pt idx="8">
                  <c:v>6.6000000000000005</c:v>
                </c:pt>
                <c:pt idx="9">
                  <c:v>7.4</c:v>
                </c:pt>
                <c:pt idx="10">
                  <c:v>8.2</c:v>
                </c:pt>
                <c:pt idx="11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</c:v>
                </c:pt>
                <c:pt idx="8">
                  <c:v>5.8</c:v>
                </c:pt>
                <c:pt idx="9">
                  <c:v>5.8</c:v>
                </c:pt>
                <c:pt idx="10">
                  <c:v>5.8</c:v>
                </c:pt>
                <c:pt idx="11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2.6</c:v>
                </c:pt>
                <c:pt idx="8">
                  <c:v>3.8</c:v>
                </c:pt>
                <c:pt idx="9">
                  <c:v>5.0</c:v>
                </c:pt>
                <c:pt idx="10">
                  <c:v>6.2</c:v>
                </c:pt>
                <c:pt idx="11">
                  <c:v>7.4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0.4</c:v>
                </c:pt>
                <c:pt idx="1">
                  <c:v>1.2000000000000002</c:v>
                </c:pt>
                <c:pt idx="2">
                  <c:v>2.0</c:v>
                </c:pt>
                <c:pt idx="3">
                  <c:v>2.8000000000000003</c:v>
                </c:pt>
                <c:pt idx="4">
                  <c:v>3.6</c:v>
                </c:pt>
                <c:pt idx="5">
                  <c:v>4.4</c:v>
                </c:pt>
                <c:pt idx="6">
                  <c:v>5.200000000000001</c:v>
                </c:pt>
                <c:pt idx="7">
                  <c:v>4.0</c:v>
                </c:pt>
                <c:pt idx="8">
                  <c:v>3.2</c:v>
                </c:pt>
                <c:pt idx="9">
                  <c:v>2.8</c:v>
                </c:pt>
                <c:pt idx="10">
                  <c:v>2.6</c:v>
                </c:pt>
                <c:pt idx="11">
                  <c:v>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8.5</c:v>
                </c:pt>
                <c:pt idx="8">
                  <c:v>9.4</c:v>
                </c:pt>
                <c:pt idx="9">
                  <c:v>9.6</c:v>
                </c:pt>
                <c:pt idx="10">
                  <c:v>9.7</c:v>
                </c:pt>
                <c:pt idx="11">
                  <c:v>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錯誤率</c:v>
                </c:pt>
              </c:strCache>
            </c:strRef>
          </c:tx>
          <c:spPr>
            <a:ln w="34925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  <c:pt idx="6">
                  <c:v>0.1</c:v>
                </c:pt>
                <c:pt idx="7">
                  <c:v>4.5</c:v>
                </c:pt>
                <c:pt idx="8">
                  <c:v>6.5</c:v>
                </c:pt>
                <c:pt idx="9">
                  <c:v>7.0</c:v>
                </c:pt>
                <c:pt idx="10">
                  <c:v>7.2</c:v>
                </c:pt>
                <c:pt idx="11">
                  <c:v>7.3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P90</c:v>
                </c:pt>
              </c:strCache>
            </c:strRef>
          </c:tx>
          <c:spPr>
            <a:ln w="25400">
              <a:solidFill>
                <a:srgbClr val="9AA0A6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1.8</c:v>
                </c:pt>
                <c:pt idx="1">
                  <c:v>1.8</c:v>
                </c:pt>
                <c:pt idx="2">
                  <c:v>1.8</c:v>
                </c:pt>
                <c:pt idx="3">
                  <c:v>1.8</c:v>
                </c:pt>
                <c:pt idx="4">
                  <c:v>1.8</c:v>
                </c:pt>
                <c:pt idx="5">
                  <c:v>1.8</c:v>
                </c:pt>
                <c:pt idx="6">
                  <c:v>1.8</c:v>
                </c:pt>
                <c:pt idx="7">
                  <c:v>1.8</c:v>
                </c:pt>
                <c:pt idx="8">
                  <c:v>1.8</c:v>
                </c:pt>
                <c:pt idx="9">
                  <c:v>1.8</c:v>
                </c:pt>
                <c:pt idx="10">
                  <c:v>1.8</c:v>
                </c:pt>
                <c:pt idx="11">
                  <c:v>1.8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2.6</c:v>
                </c:pt>
                <c:pt idx="1">
                  <c:v>2.65</c:v>
                </c:pt>
                <c:pt idx="2">
                  <c:v>2.7</c:v>
                </c:pt>
                <c:pt idx="3">
                  <c:v>2.75</c:v>
                </c:pt>
                <c:pt idx="4">
                  <c:v>2.8000000000000003</c:v>
                </c:pt>
                <c:pt idx="5">
                  <c:v>2.85</c:v>
                </c:pt>
                <c:pt idx="6">
                  <c:v>2.9000000000000004</c:v>
                </c:pt>
                <c:pt idx="7">
                  <c:v>2.95</c:v>
                </c:pt>
                <c:pt idx="8">
                  <c:v>3.0</c:v>
                </c:pt>
                <c:pt idx="9">
                  <c:v>3.0500000000000003</c:v>
                </c:pt>
                <c:pt idx="10">
                  <c:v>3.1</c:v>
                </c:pt>
                <c:pt idx="11">
                  <c:v>3.1500000000000004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P99</c:v>
                </c:pt>
              </c:strCache>
            </c:strRef>
          </c:tx>
          <c:spPr>
            <a:ln w="34925">
              <a:solidFill>
                <a:srgbClr val="FB8C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3.4</c:v>
                </c:pt>
                <c:pt idx="1">
                  <c:v>3.4</c:v>
                </c:pt>
                <c:pt idx="2">
                  <c:v>3.4</c:v>
                </c:pt>
                <c:pt idx="3">
                  <c:v>3.4</c:v>
                </c:pt>
                <c:pt idx="4">
                  <c:v>3.4</c:v>
                </c:pt>
                <c:pt idx="5">
                  <c:v>4.2</c:v>
                </c:pt>
                <c:pt idx="6">
                  <c:v>5.2</c:v>
                </c:pt>
                <c:pt idx="7">
                  <c:v>6.1</c:v>
                </c:pt>
                <c:pt idx="8">
                  <c:v>7.0</c:v>
                </c:pt>
                <c:pt idx="9">
                  <c:v>7.9</c:v>
                </c:pt>
                <c:pt idx="10">
                  <c:v>8.8</c:v>
                </c:pt>
                <c:pt idx="11">
                  <c:v>9.6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1.7</c:v>
                </c:pt>
                <c:pt idx="2">
                  <c:v>1.9</c:v>
                </c:pt>
                <c:pt idx="3">
                  <c:v>2.1</c:v>
                </c:pt>
                <c:pt idx="4">
                  <c:v>2.4</c:v>
                </c:pt>
                <c:pt idx="5">
                  <c:v>2.8</c:v>
                </c:pt>
                <c:pt idx="6">
                  <c:v>3.2</c:v>
                </c:pt>
                <c:pt idx="7">
                  <c:v>3.7</c:v>
                </c:pt>
                <c:pt idx="8">
                  <c:v>4.2</c:v>
                </c:pt>
                <c:pt idx="9">
                  <c:v>4.8</c:v>
                </c:pt>
                <c:pt idx="10">
                  <c:v>5.4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7.0</c:v>
                </c:pt>
                <c:pt idx="3">
                  <c:v>1.6</c:v>
                </c:pt>
                <c:pt idx="4">
                  <c:v>1.6</c:v>
                </c:pt>
                <c:pt idx="5">
                  <c:v>7.2</c:v>
                </c:pt>
                <c:pt idx="6">
                  <c:v>1.6</c:v>
                </c:pt>
                <c:pt idx="7">
                  <c:v>1.6</c:v>
                </c:pt>
                <c:pt idx="8">
                  <c:v>7.0</c:v>
                </c:pt>
                <c:pt idx="9">
                  <c:v>1.6</c:v>
                </c:pt>
                <c:pt idx="10">
                  <c:v>1.6</c:v>
                </c:pt>
                <c:pt idx="11">
                  <c:v>7.1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種型態：① 健康線性 ② 飽和平台（RPS 走平＋P95 爬升，拐點即容量）③ 崩潰懸崖（P95 與錯誤率同時暴衝、RPS 下降）④ 尾巴張開（只有 P99 發散）⑤ 緩慢爬坡（負載不變延遲上升＝洩漏）⑥ 週期鋸齒（排程、GC、TTL）。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判讀 4 步驟：確認壓力打出去 → 找拐點 → Timings 定位哪一段 → Grafana 十字準星對齊後端。陷阱：Overview 數字卡是 avg；Grafana P95 面板是 p95 的平均；RPS 走平但後端很閒要懷疑壓測機。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6.xml"/><Relationship Id="rId9" Type="http://schemas.openxmlformats.org/officeDocument/2006/relationships/hyperlink" Target="https://tedmax100.github.io/o11y_lab_for_dummies/k6-performance-testing/" TargetMode="External"/><Relationship Id="rId10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20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看懂儀表板：6 種經典曲線型態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永遠把「負載軸」（VUs / RPS）和「反應軸」（P95・P99 / 錯誤率）疊在一起看，找出第一個偏離平穩的拐點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7860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① 健康線性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6976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97860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和 RPS 同比例上升，P95 平穩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還有餘裕 → 繼續加壓找上限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41581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30604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② 飽和平台（拐點）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859720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30604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還在加，RPS 卻走平；同時 P95 開始爬升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容量上限：拐點當下的 RPS 就是系統容量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74325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63348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③ 崩潰懸崖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0892465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963348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P95 垂直暴衝、錯誤率同時竄升、RPS 反而下降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佇列溢出、逾時、連線池或執行緒池耗盡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837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7860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④ 尾巴張開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26976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97860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P90 / P95 平穩，P99 越拉越開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少數請求受害：GC 停頓、鎖競爭、快取失效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41581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30604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⑤ 緩慢爬坡（Soak）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5859720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930604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負載不變，延遲隨時間緩慢上升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資源洩漏：記憶體、連線、檔案描述符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74325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63348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⑥ 週期鋸齒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10892465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63348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固定間隔出現尖峰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排程任務、GC 週期、快取 TTL 同時到期、自動擴縮</a:t>
            </a:r>
          </a:p>
        </p:txBody>
      </p:sp>
      <p:sp>
        <p:nvSpPr>
          <p:cNvPr id="4" name="Codelabs_Link_Badge">
            <a:hlinkClick r:id="rId9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29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儀表板判讀 4 步驟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總結數字只告訴你「P95 = 812ms」，曲線才告訴你「第 35 秒、45 RPS 時開始抬頭」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確認壓力真的打出去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與 RPS 符合腳本設計嗎？有沒有 dropped_iterations？流量配比對不對？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找出拐點時間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延遲或錯誤率第一次偏離平穩的時間點，記下當下的 VUs 與 RPS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定位是哪一段變慢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切到 Timings 分頁：Waiting＝後端運算、Blocked / Connecting＝連線層、Receiving＝Payload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對齊後端指標找根因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把拐點時間帶進 Grafana，用共享十字準星對齊 CPU、記憶體、DB 連線池 → 下一頁破案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66FCF1"/>
                </a:solidFill>
                <a:latin typeface="Noto Sans CJK TC"/>
                <a:ea typeface="Noto Sans CJK TC"/>
              </a:rPr>
              <a:t>k6 Web Dashboard 分頁地圖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 Performance overview 把 RPS、P95、失敗率疊在同一張圖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在什麼負載下開始變慢或出錯？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Timings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http_req_duration 的 6 個細分指標各一張圖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變慢的是哪一段？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所有指標的結尾統計表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等同終端機摘要，套用 5 步驟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name="adj" fmla="val 5000"/>
            </a:avLst>
          </a:prstGeom>
          <a:solidFill>
            <a:srgbClr val="1A1626"/>
          </a:solidFill>
          <a:ln w="12700">
            <a:solidFill>
              <a:srgbClr val="5B4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AB00"/>
                </a:solidFill>
                <a:latin typeface="Noto Sans CJK TC"/>
                <a:ea typeface="Noto Sans CJK TC"/>
              </a:rPr>
              <a:t>⚠ 三個判讀陷阱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Overview 上排數字卡的 HTTP Request Duration 是 avg，不是 P95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延遲請看下方 P95 / P99 曲線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Grafana「P95 Request Duration」面板是 avg(k6_http_req_duration_p95)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百分位數不能平均，只是近似值；要精確請開 Native Histogram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RPS 走平，但後端 CPU 很閒、延遲也沒漲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瓶頸可能在壓測機本身：看 k6 主機的 CPU、網卡與 dropped_iterations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