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anhua.wang/grafana-xk6" TargetMode="External"/><Relationship Id="rId4" Type="http://schemas.openxmlformats.org/officeDocument/2006/relationships/hyperlink" Target="https://tedmax100.github.io/o11y_lab_for_dummies/k6-performance-testing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ganhua.wang/grafana-xk6" TargetMode="External"/><Relationship Id="rId4" Type="http://schemas.openxmlformats.org/officeDocument/2006/relationships/hyperlink" Target="https://ganhua.wang/grafana-k6-browser" TargetMode="External"/><Relationship Id="rId5" Type="http://schemas.openxmlformats.org/officeDocument/2006/relationships/hyperlink" Target="https://ganhua.wang/getting-started-with-grafana-k6-hands-on-practice" TargetMode="External"/><Relationship Id="rId6" Type="http://schemas.openxmlformats.org/officeDocument/2006/relationships/hyperlink" Target="https://tedmax100.github.io/o11y_lab_for_dummies/k6-performance-testing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tedmax100.github.io/o11y_lab_for_dummies/k6-performance-testing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590697" y="5655468"/>
            <a:ext cx="3307906" cy="2559843"/>
          </a:xfrm>
          <a:prstGeom prst="roundRect">
            <a:avLst/>
          </a:prstGeom>
          <a:solidFill>
            <a:srgbClr val="161A26"/>
          </a:solidFill>
          <a:ln w="19050">
            <a:solidFill>
              <a:srgbClr val="8C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395" rIns="165395" tIns="142875" bIns="142875"/>
          <a:lstStyle/>
          <a:p>
            <a:pPr algn="ctr">
              <a:spcAft>
                <a:spcPts val="500"/>
              </a:spcAft>
            </a:pPr>
            <a:r>
              <a:rPr sz="1050" b="1">
                <a:solidFill>
                  <a:srgbClr val="BB86FC"/>
                </a:solidFill>
                <a:latin typeface="Noto Sans CJK TC"/>
              </a:rPr>
              <a:t>▶ 講師深度實戰專欄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Noto Sans CJK TC"/>
              </a:rPr>
              <a:t>Grafana xk6: 手把手從開發到編譯出 k6 插件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C3C8D2"/>
                </a:solidFill>
                <a:latin typeface="Noto Sans CJK TC"/>
              </a:rPr>
              <a:t>• Web3 OTP 動態金鑰簽名插件
• RootModule / ModuleInstance 解密
• 突破原生極限支援私有協定</a:t>
            </a:r>
          </a:p>
          <a:p>
            <a:r>
              <a:rPr sz="950" b="1">
                <a:solidFill>
                  <a:srgbClr val="66FCF1"/>
                </a:solidFill>
                <a:latin typeface="Noto Sans Mono CJK TC"/>
              </a:rPr>
              <a:t>▶ 閱讀專欄：ganhua.wang/grafana-xk6</a:t>
            </a:r>
          </a:p>
        </p:txBody>
      </p:sp>
      <p:sp>
        <p:nvSpPr>
          <p:cNvPr id="4" name="Rounded Rectangle 3">
            <a:hlinkClick r:id="rId4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8837" y="571500"/>
            <a:ext cx="12995348" cy="773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TC"/>
              </a:rPr>
              <a:t>企業導入實作 Checklist </a:t>
            </a:r>
            <a:r>
              <a:rPr sz="1700">
                <a:solidFill>
                  <a:srgbClr val="66FCF1"/>
                </a:solidFill>
                <a:latin typeface="Noto Sans CJK TC"/>
              </a:rPr>
              <a:t>(Takeaway)</a:t>
            </a:r>
          </a:p>
          <a:p>
            <a:pPr algn="l"/>
            <a:r>
              <a:rPr sz="1100">
                <a:solidFill>
                  <a:srgbClr val="9AA0A6"/>
                </a:solidFill>
                <a:latin typeface="Noto Sans CJK TC"/>
              </a:rPr>
              <a:t>將 k6 測試代碼化、SLO 門禁自動化與全鏈路可觀測性深植於團隊日常研發流程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837" y="1488281"/>
            <a:ext cx="14826511" cy="1964531"/>
          </a:xfrm>
          <a:prstGeom prst="roundRect">
            <a:avLst/>
          </a:prstGeom>
          <a:solidFill>
            <a:srgbClr val="12202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07162" rIns="307162" tIns="178593" bIns="166687"/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66FCF1"/>
                </a:solidFill>
                <a:latin typeface="Noto Sans CJK TC"/>
              </a:rPr>
              <a:t>▶ 本地開發與團隊協作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66FCF1"/>
                </a:solidFill>
                <a:latin typeface="Noto Sans CJK TC"/>
              </a:rPr>
              <a:t>●  </a:t>
            </a:r>
            <a:r>
              <a:rPr sz="1250" b="1">
                <a:solidFill>
                  <a:srgbClr val="FFFFFF"/>
                </a:solidFill>
                <a:latin typeface="Noto Sans CJK TC"/>
              </a:rPr>
              <a:t>腳本即時調優： </a:t>
            </a:r>
            <a:r>
              <a:rPr sz="1150">
                <a:solidFill>
                  <a:srgbClr val="D7DEEB"/>
                </a:solidFill>
                <a:latin typeface="Noto Sans CJK TC"/>
              </a:rPr>
              <a:t>壓測腳本開發與本地微調時，養成啟用 K6_WEB_DASHBOARD=true 即時觀測延遲與錯誤率變化的習慣。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66FCF1"/>
                </a:solidFill>
                <a:latin typeface="Noto Sans CJK TC"/>
              </a:rPr>
              <a:t>●  </a:t>
            </a:r>
            <a:r>
              <a:rPr sz="1250" b="1">
                <a:solidFill>
                  <a:srgbClr val="FFFFFF"/>
                </a:solidFill>
                <a:latin typeface="Noto Sans CJK TC"/>
              </a:rPr>
              <a:t>跨部門溝通基準： </a:t>
            </a:r>
            <a:r>
              <a:rPr sz="1150">
                <a:solidFill>
                  <a:srgbClr val="D7DEEB"/>
                </a:solidFill>
                <a:latin typeface="Noto Sans CJK TC"/>
              </a:rPr>
              <a:t>交付團隊評估效能時，統一匯出 HTML Report 獨立報表作為跨部門對齊的效能基準線 (Baseline)。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837" y="3631406"/>
            <a:ext cx="14826511" cy="1964531"/>
          </a:xfrm>
          <a:prstGeom prst="roundRect">
            <a:avLst/>
          </a:prstGeom>
          <a:solidFill>
            <a:srgbClr val="241C14"/>
          </a:solidFill>
          <a:ln w="190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07162" rIns="307162" tIns="178593" bIns="166687"/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FFAB00"/>
                </a:solidFill>
                <a:latin typeface="Noto Sans CJK TC"/>
              </a:rPr>
              <a:t>▶ CI/CD 流水線整合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FFAB00"/>
                </a:solidFill>
                <a:latin typeface="Noto Sans CJK TC"/>
              </a:rPr>
              <a:t>●  </a:t>
            </a:r>
            <a:r>
              <a:rPr sz="1250" b="1">
                <a:solidFill>
                  <a:srgbClr val="FFFFFF"/>
                </a:solidFill>
                <a:latin typeface="Noto Sans CJK TC"/>
              </a:rPr>
              <a:t>無人值守乾淨退場： </a:t>
            </a:r>
            <a:r>
              <a:rPr sz="1150">
                <a:solidFill>
                  <a:srgbClr val="D7DEEB"/>
                </a:solidFill>
                <a:latin typeface="Noto Sans CJK TC"/>
              </a:rPr>
              <a:t>於自動化 CI 流水線中，嚴格配置 K6_WEB_DASHBOARD_PORT=-1 確保容器產出報表後正常退出。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FFAB00"/>
                </a:solidFill>
                <a:latin typeface="Noto Sans CJK TC"/>
              </a:rPr>
              <a:t>●  </a:t>
            </a:r>
            <a:r>
              <a:rPr sz="1250" b="1">
                <a:solidFill>
                  <a:srgbClr val="FFFFFF"/>
                </a:solidFill>
                <a:latin typeface="Noto Sans CJK TC"/>
              </a:rPr>
              <a:t>客製化 Runner 映像檔： </a:t>
            </a:r>
            <a:r>
              <a:rPr sz="1150">
                <a:solidFill>
                  <a:srgbClr val="D7DEEB"/>
                </a:solidFill>
                <a:latin typeface="Noto Sans CJK TC"/>
              </a:rPr>
              <a:t>透過 xk6 搭配 Docker 確定性編譯，發布團隊專屬之 Custom k6 Runner 容器映像檔於 CI 倉庫。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837" y="5774531"/>
            <a:ext cx="14826511" cy="2381250"/>
          </a:xfrm>
          <a:prstGeom prst="roundRect">
            <a:avLst/>
          </a:prstGeom>
          <a:solidFill>
            <a:srgbClr val="1A1626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07162" rIns="307162" tIns="178593" bIns="166687"/>
          <a:lstStyle/>
          <a:p>
            <a:pPr algn="l">
              <a:spcAft>
                <a:spcPts val="1000"/>
              </a:spcAft>
            </a:pPr>
            <a:r>
              <a:rPr sz="1550" b="1">
                <a:solidFill>
                  <a:srgbClr val="BB86FC"/>
                </a:solidFill>
                <a:latin typeface="Noto Sans CJK TC"/>
              </a:rPr>
              <a:t>▶ 進階擴充與全域遙測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BB86FC"/>
                </a:solidFill>
                <a:latin typeface="Noto Sans CJK TC"/>
              </a:rPr>
              <a:t>●  </a:t>
            </a:r>
            <a:r>
              <a:rPr sz="1250" b="1">
                <a:solidFill>
                  <a:srgbClr val="FFFFFF"/>
                </a:solidFill>
                <a:latin typeface="Noto Sans CJK TC"/>
              </a:rPr>
              <a:t>底層中間件協定擴充： </a:t>
            </a:r>
            <a:r>
              <a:rPr sz="1150">
                <a:solidFill>
                  <a:srgbClr val="D7DEEB"/>
                </a:solidFill>
                <a:latin typeface="Noto Sans CJK TC"/>
              </a:rPr>
              <a:t>評估微服務架構需求，透過 xk6 掛載 xk6-kafka / xk6-redis / xk6-sql 等底層中間件原生連線。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BB86FC"/>
                </a:solidFill>
                <a:latin typeface="Noto Sans CJK TC"/>
              </a:rPr>
              <a:t>●  </a:t>
            </a:r>
            <a:r>
              <a:rPr sz="1250" b="1">
                <a:solidFill>
                  <a:srgbClr val="FFFFFF"/>
                </a:solidFill>
                <a:latin typeface="Noto Sans CJK TC"/>
              </a:rPr>
              <a:t>時序數據串流對齊： </a:t>
            </a:r>
            <a:r>
              <a:rPr sz="1150">
                <a:solidFill>
                  <a:srgbClr val="D7DEEB"/>
                </a:solidFill>
                <a:latin typeface="Noto Sans CJK TC"/>
              </a:rPr>
              <a:t>啟用 Prometheus Remote Write，將壓測指標帶上 Git Commit Tag 即時推入 Prometheus / InfluxDB。</a:t>
            </a: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BB86FC"/>
                </a:solidFill>
                <a:latin typeface="Noto Sans CJK TC"/>
              </a:rPr>
              <a:t>●  </a:t>
            </a:r>
            <a:r>
              <a:rPr sz="1250" b="1">
                <a:solidFill>
                  <a:srgbClr val="FFFFFF"/>
                </a:solidFill>
                <a:latin typeface="Noto Sans CJK TC"/>
              </a:rPr>
              <a:t>雙十字準星秒級定位： </a:t>
            </a:r>
            <a:r>
              <a:rPr sz="1150">
                <a:solidFill>
                  <a:srgbClr val="D7DEEB"/>
                </a:solidFill>
                <a:latin typeface="Noto Sans CJK TC"/>
              </a:rPr>
              <a:t>於 Grafana 建立共享十字準星儀表板，將 k6 延遲與 K8s Pod CPU 限流 (CFS Throttling) 精準上下對齊。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8837" y="571500"/>
            <a:ext cx="12995348" cy="773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TC"/>
              </a:rPr>
              <a:t>推薦延伸閱讀 </a:t>
            </a:r>
            <a:r>
              <a:rPr sz="1700">
                <a:solidFill>
                  <a:srgbClr val="66FCF1"/>
                </a:solidFill>
                <a:latin typeface="Noto Sans CJK TC"/>
              </a:rPr>
              <a:t>(Author's Deep-Dive Articles)</a:t>
            </a:r>
          </a:p>
          <a:p>
            <a:pPr algn="l"/>
            <a:r>
              <a:rPr sz="1100">
                <a:solidFill>
                  <a:srgbClr val="9AA0A6"/>
                </a:solidFill>
                <a:latin typeface="Noto Sans CJK TC"/>
              </a:rPr>
              <a:t>講師親撰之 k6 系列技術專欄 — 深入外掛生態系開發、前端真實體驗混合壓測與微服務全鏈路可觀測性閉環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837" y="1547812"/>
            <a:ext cx="4666511" cy="6012656"/>
          </a:xfrm>
          <a:prstGeom prst="roundRect">
            <a:avLst/>
          </a:prstGeom>
          <a:solidFill>
            <a:srgbClr val="191626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9023" rIns="189023" tIns="166687" bIns="142875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B86FC"/>
                </a:solidFill>
                <a:latin typeface="Noto Sans CJK TC"/>
              </a:rPr>
              <a:t>● xk6 模組擴充 (Go Extension)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Grafana xk6: 手把手從開發到編譯插件</a:t>
            </a:r>
          </a:p>
          <a:p>
            <a:pPr algn="l">
              <a:spcAft>
                <a:spcPts val="1000"/>
              </a:spcAft>
            </a:pPr>
            <a:r>
              <a:rPr sz="900">
                <a:solidFill>
                  <a:srgbClr val="A0AAB9"/>
                </a:solidFill>
                <a:latin typeface="Noto Sans CJK TC"/>
              </a:rPr>
              <a:t>核心：Go-to-JS Bridge 與動態密碼插件實戰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Go-to-JS Bridge 架構：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深度解析 RootModule、ModuleInstance 與 modules.Register 註冊機制，掌握 Go 結構體映射至 JS 類別的核心原理。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Web3 OTP 實戰案例：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以動態身份驗證為例，親手實作 k6/x/otp 擴充套件，在百萬併發壓測中動態生成一次性金鑰密碼與簽名。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Docker 確定性編譯：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使用 grafana/xk6 官方容器抹平各 OS 開發環境依賴，在零配置前提下一鍵編譯出團隊專屬客製化 k6 二進位檔。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897860" y="6965156"/>
            <a:ext cx="4288465" cy="428625"/>
          </a:xfrm>
          <a:prstGeom prst="roundRect">
            <a:avLst/>
          </a:prstGeom>
          <a:solidFill>
            <a:srgbClr val="202C3E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66FCF1"/>
                </a:solidFill>
                <a:latin typeface="Noto Sans Mono CJK TC"/>
              </a:rPr>
              <a:t>📖 閱讀文章 ➔ ganhua.wang/grafana-xk6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88837" y="1547812"/>
            <a:ext cx="4666511" cy="6012656"/>
          </a:xfrm>
          <a:prstGeom prst="roundRect">
            <a:avLst/>
          </a:prstGeom>
          <a:solidFill>
            <a:srgbClr val="101C2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9023" rIns="189023" tIns="166687" bIns="142875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E676"/>
                </a:solidFill>
                <a:latin typeface="Noto Sans CJK TC"/>
              </a:rPr>
              <a:t>● 前端混壓測試 (k6-browser)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Grafana k6 瀏覽器測試實戰</a:t>
            </a:r>
          </a:p>
          <a:p>
            <a:pPr algn="l">
              <a:spcAft>
                <a:spcPts val="1000"/>
              </a:spcAft>
            </a:pPr>
            <a:r>
              <a:rPr sz="900">
                <a:solidFill>
                  <a:srgbClr val="A0AAB9"/>
                </a:solidFill>
                <a:latin typeface="Noto Sans CJK TC"/>
              </a:rPr>
              <a:t>核心：Playwright 相容與 Core Web Vitals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Playwright 相容生態：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全面採用 chromium.launch()、page.goto() 與語意化 Locator，前端工程師無需轉換思維即可上手。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BrowserContext 隔離：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在單一瀏覽器處理程序中實現多用戶完全獨立的 Session、Cookie 與 LocalStorage，大幅降低記憶體開銷。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電商全流程自動化：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以 OpenTelemetry Demo 購物車為例，完整模擬加購物車與結帳，採集真實 Web Vitals 並自動截圖保存錯誤現場。</a:t>
            </a:r>
          </a:p>
        </p:txBody>
      </p:sp>
      <p:sp>
        <p:nvSpPr>
          <p:cNvPr id="7" name="Rounded Rectangle 6">
            <a:hlinkClick r:id="rId4"/>
          </p:cNvPr>
          <p:cNvSpPr/>
          <p:nvPr/>
        </p:nvSpPr>
        <p:spPr>
          <a:xfrm>
            <a:off x="5977860" y="6965156"/>
            <a:ext cx="4288465" cy="428625"/>
          </a:xfrm>
          <a:prstGeom prst="roundRect">
            <a:avLst/>
          </a:prstGeom>
          <a:solidFill>
            <a:srgbClr val="202C3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66FCF1"/>
                </a:solidFill>
                <a:latin typeface="Noto Sans Mono CJK TC"/>
              </a:rPr>
              <a:t>📖 閱讀文章 ➔ ganhua.wang/grafana-k6-browser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8837" y="1547812"/>
            <a:ext cx="4666511" cy="6012656"/>
          </a:xfrm>
          <a:prstGeom prst="roundRect">
            <a:avLst/>
          </a:prstGeom>
          <a:solidFill>
            <a:srgbClr val="201A12"/>
          </a:solidFill>
          <a:ln w="190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9023" rIns="189023" tIns="166687" bIns="142875"/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AB00"/>
                </a:solidFill>
                <a:latin typeface="Noto Sans CJK TC"/>
              </a:rPr>
              <a:t>● 全鏈路閉環 (Observability)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Getting Started with Grafana k6</a:t>
            </a:r>
          </a:p>
          <a:p>
            <a:pPr algn="l">
              <a:spcAft>
                <a:spcPts val="1000"/>
              </a:spcAft>
            </a:pPr>
            <a:r>
              <a:rPr sz="900">
                <a:solidFill>
                  <a:srgbClr val="A0AAB9"/>
                </a:solidFill>
                <a:latin typeface="Noto Sans CJK TC"/>
              </a:rPr>
              <a:t>核心：OpenTelemetry 串流與 GitLab CI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語意化測試組織：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運用 k6/http、check 與 group 模組化封裝業務邏輯，產出結構清晰且具備業務意義的階層化壓測報表。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OTel 串流全面整合：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直連 OpenTelemetry Collector，將客戶端壓測指標與後端分散式 Traces、Logs 進行跨維度時間軸對齊。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F5F5FA"/>
                </a:solidFill>
                <a:latin typeface="Noto Sans CJK TC"/>
              </a:rPr>
              <a:t>• GitLab CI 自動化門禁：
  </a:t>
            </a:r>
            <a:r>
              <a:rPr sz="900">
                <a:solidFill>
                  <a:srgbClr val="B9BEC8"/>
                </a:solidFill>
                <a:latin typeface="Noto Sans CJK TC"/>
              </a:rPr>
              <a:t>將 k6 壓測無縫嵌入 CI/CD 流水線，以 Exit Code 99 自動攔截效能退化代碼，守護生產主幹穩定。</a:t>
            </a:r>
          </a:p>
        </p:txBody>
      </p:sp>
      <p:sp>
        <p:nvSpPr>
          <p:cNvPr id="9" name="Rounded Rectangle 8">
            <a:hlinkClick r:id="rId5"/>
          </p:cNvPr>
          <p:cNvSpPr/>
          <p:nvPr/>
        </p:nvSpPr>
        <p:spPr>
          <a:xfrm>
            <a:off x="11057860" y="6965156"/>
            <a:ext cx="4288465" cy="428625"/>
          </a:xfrm>
          <a:prstGeom prst="roundRect">
            <a:avLst/>
          </a:prstGeom>
          <a:solidFill>
            <a:srgbClr val="202C3E"/>
          </a:solidFill>
          <a:ln w="190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66FCF1"/>
                </a:solidFill>
                <a:latin typeface="Noto Sans Mono CJK TC"/>
              </a:rPr>
              <a:t>📖 閱讀文章 ➔ ganhua.wang/getting-started-with-grafana-k6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837" y="7715250"/>
            <a:ext cx="14826511" cy="571500"/>
          </a:xfrm>
          <a:prstGeom prst="roundRect">
            <a:avLst/>
          </a:prstGeom>
          <a:solidFill>
            <a:srgbClr val="141C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395" rIns="165395"/>
          <a:lstStyle/>
          <a:p>
            <a:pPr algn="l"/>
            <a:r>
              <a:rPr sz="1000" b="1">
                <a:solidFill>
                  <a:srgbClr val="FFD700"/>
                </a:solidFill>
                <a:latin typeface="Noto Sans CJK TC"/>
              </a:rPr>
              <a:t>💡 學習價值： </a:t>
            </a:r>
            <a:r>
              <a:rPr sz="950">
                <a:solidFill>
                  <a:srgbClr val="DCE1EB"/>
                </a:solidFill>
                <a:latin typeface="Noto Sans CJK TC"/>
              </a:rPr>
              <a:t>本課程奠定企業級效能工程體系，專欄文章則引領大家攻克真實業務中的前沿自訂挑戰，推薦課後務必搭配精讀！</a:t>
            </a:r>
          </a:p>
        </p:txBody>
      </p:sp>
      <p:sp>
        <p:nvSpPr>
          <p:cNvPr id="11" name="Rounded Rectangle 10">
            <a:hlinkClick r:id="rId6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te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8837" y="571500"/>
            <a:ext cx="12995348" cy="773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TC"/>
              </a:rPr>
              <a:t>隨堂練習指引 </a:t>
            </a:r>
            <a:r>
              <a:rPr sz="1700">
                <a:solidFill>
                  <a:srgbClr val="66FCF1"/>
                </a:solidFill>
                <a:latin typeface="Noto Sans CJK TC"/>
              </a:rPr>
              <a:t>(Hands-on Practice)</a:t>
            </a:r>
          </a:p>
          <a:p>
            <a:pPr algn="l"/>
            <a:r>
              <a:rPr sz="1100">
                <a:solidFill>
                  <a:srgbClr val="9AA0A6"/>
                </a:solidFill>
                <a:latin typeface="Noto Sans CJK TC"/>
              </a:rPr>
              <a:t>請依序完成三大實戰任務，體驗原生儀表板、CI/CD 離線報告匯出與 Docker 確定性編譯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837" y="1488281"/>
            <a:ext cx="4666511" cy="6727031"/>
          </a:xfrm>
          <a:prstGeom prst="roundRect">
            <a:avLst/>
          </a:prstGeom>
          <a:solidFill>
            <a:srgbClr val="101C26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4232" y="1643062"/>
            <a:ext cx="4335720" cy="65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6FCF1"/>
                </a:solidFill>
                <a:latin typeface="Noto Sans CJK TC"/>
              </a:rPr>
              <a:t>任務一：啟動原生 Dashboard</a:t>
            </a:r>
          </a:p>
          <a:p>
            <a:pPr algn="l"/>
            <a:r>
              <a:rPr sz="1050" b="1">
                <a:solidFill>
                  <a:srgbClr val="F0F0F5"/>
                </a:solidFill>
                <a:latin typeface="Noto Sans CJK TC"/>
              </a:rPr>
              <a:t>▶ 執行指令 (Command)：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4232" y="2381250"/>
            <a:ext cx="4335720" cy="1369218"/>
          </a:xfrm>
          <a:prstGeom prst="roundRect">
            <a:avLst/>
          </a:prstGeom>
          <a:solidFill>
            <a:srgbClr val="0A0F16"/>
          </a:solidFill>
          <a:ln w="12700">
            <a:solidFill>
              <a:srgbClr val="32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67" rIns="141767"/>
          <a:lstStyle/>
          <a:p>
            <a:pPr algn="l"/>
            <a:r>
              <a:rPr sz="950" b="1">
                <a:solidFill>
                  <a:srgbClr val="00E676"/>
                </a:solidFill>
                <a:latin typeface="Noto Sans Mono CJK TC"/>
              </a:rPr>
              <a:t>K6_WEB_DASHBOARD=true \
k6 run script.js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232" y="3869531"/>
            <a:ext cx="4335720" cy="273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FFFFFF"/>
                </a:solidFill>
                <a:latin typeface="Noto Sans CJK TC"/>
              </a:rPr>
              <a:t>▶ 驗證結果 (Verification)：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66FCF1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瀏覽器即時訪問：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打開瀏覽器訪問 http://127.0.0.1:5665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66FCF1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動態曲線觀察：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觀察測試期間即時動態折線圖與 VUs 變化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66FCF1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細部耗時拆解：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檢視各 HTTP 階段細部耗時曲線與門檻進度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4232" y="7500937"/>
            <a:ext cx="4335720" cy="357187"/>
          </a:xfrm>
          <a:prstGeom prst="roundRect">
            <a:avLst/>
          </a:prstGeom>
          <a:solidFill>
            <a:srgbClr val="141E2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6FCF1"/>
                </a:solidFill>
                <a:latin typeface="Noto Sans CJK TC"/>
              </a:rPr>
              <a:t>▶ 配套演示腳本收錄於 k6/demos/ 目錄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8837" y="1488281"/>
            <a:ext cx="4666511" cy="6727031"/>
          </a:xfrm>
          <a:prstGeom prst="roundRect">
            <a:avLst/>
          </a:prstGeom>
          <a:solidFill>
            <a:srgbClr val="1A1626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54232" y="1643062"/>
            <a:ext cx="4335720" cy="65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B86FC"/>
                </a:solidFill>
                <a:latin typeface="Noto Sans CJK TC"/>
              </a:rPr>
              <a:t>任務二：產出靜態 HTML 報告</a:t>
            </a:r>
          </a:p>
          <a:p>
            <a:pPr algn="l"/>
            <a:r>
              <a:rPr sz="1050" b="1">
                <a:solidFill>
                  <a:srgbClr val="F0F0F5"/>
                </a:solidFill>
                <a:latin typeface="Noto Sans CJK TC"/>
              </a:rPr>
              <a:t>▶ 執行指令 (Command)：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4232" y="2381250"/>
            <a:ext cx="4335720" cy="1369218"/>
          </a:xfrm>
          <a:prstGeom prst="roundRect">
            <a:avLst/>
          </a:prstGeom>
          <a:solidFill>
            <a:srgbClr val="0A0F16"/>
          </a:solidFill>
          <a:ln w="12700">
            <a:solidFill>
              <a:srgbClr val="32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67" rIns="141767"/>
          <a:lstStyle/>
          <a:p>
            <a:pPr algn="l"/>
            <a:r>
              <a:rPr sz="950" b="1">
                <a:solidFill>
                  <a:srgbClr val="00E676"/>
                </a:solidFill>
                <a:latin typeface="Noto Sans Mono CJK TC"/>
              </a:rPr>
              <a:t>K6_WEB_DASHBOARD=true \
K6_WEB_DASHBOARD_PORT=-1 \
K6_WEB_DASHBOARD_EXPORT=report.html \
k6 run script.js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4232" y="3869531"/>
            <a:ext cx="4335720" cy="273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FFFFFF"/>
                </a:solidFill>
                <a:latin typeface="Noto Sans CJK TC"/>
              </a:rPr>
              <a:t>▶ 驗證結果 (Verification)：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BB86FC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無人值守退出：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Port=-1 確保測試完成後 k6 行程自動乾淨退出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BB86FC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產出靜態資產：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當前目錄自動生成單一檔案 report.html 報表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BB86FC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跨團隊共享：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雙擊檔案即可離線檢視完整互動儀表板與數據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54232" y="7500937"/>
            <a:ext cx="4335720" cy="357187"/>
          </a:xfrm>
          <a:prstGeom prst="roundRect">
            <a:avLst/>
          </a:prstGeom>
          <a:solidFill>
            <a:srgbClr val="141E2C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6FCF1"/>
                </a:solidFill>
                <a:latin typeface="Noto Sans CJK TC"/>
              </a:rPr>
              <a:t>▶ 配套演示腳本收錄於 k6/demos/ 目錄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68837" y="1488281"/>
            <a:ext cx="4666511" cy="6727031"/>
          </a:xfrm>
          <a:prstGeom prst="roundRect">
            <a:avLst/>
          </a:prstGeom>
          <a:solidFill>
            <a:srgbClr val="221A12"/>
          </a:solidFill>
          <a:ln w="190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34232" y="1643062"/>
            <a:ext cx="4335720" cy="65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AB00"/>
                </a:solidFill>
                <a:latin typeface="Noto Sans CJK TC"/>
              </a:rPr>
              <a:t>任務三：初探 xk6 確定性編譯</a:t>
            </a:r>
          </a:p>
          <a:p>
            <a:pPr algn="l"/>
            <a:r>
              <a:rPr sz="1050" b="1">
                <a:solidFill>
                  <a:srgbClr val="F0F0F5"/>
                </a:solidFill>
                <a:latin typeface="Noto Sans CJK TC"/>
              </a:rPr>
              <a:t>▶ 執行指令 (Command)：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34232" y="2381250"/>
            <a:ext cx="4335720" cy="1369218"/>
          </a:xfrm>
          <a:prstGeom prst="roundRect">
            <a:avLst/>
          </a:prstGeom>
          <a:solidFill>
            <a:srgbClr val="0A0F16"/>
          </a:solidFill>
          <a:ln w="12700">
            <a:solidFill>
              <a:srgbClr val="32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1767" rIns="141767"/>
          <a:lstStyle/>
          <a:p>
            <a:pPr algn="l"/>
            <a:r>
              <a:rPr sz="950" b="1">
                <a:solidFill>
                  <a:srgbClr val="00E676"/>
                </a:solidFill>
                <a:latin typeface="Noto Sans Mono CJK TC"/>
              </a:rPr>
              <a:t>docker run --rm -u $(id -u):$(id -g) \
  -v $(pwd):/xk6 grafana/xk6 build latest \
  --with github.com/grafana/xk6-sql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34232" y="3869531"/>
            <a:ext cx="4335720" cy="273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1">
                <a:solidFill>
                  <a:srgbClr val="FFFFFF"/>
                </a:solidFill>
                <a:latin typeface="Noto Sans CJK TC"/>
              </a:rPr>
              <a:t>▶ 驗證結果 (Verification)：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FAB00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抹平環境差異：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利用 Docker 官方映像消除本地 Go 開發環境依賴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FAB00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產出自訂引擎：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成功編譯整合 xk6-sql 模組之客製化 k6 執行檔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FFAB00"/>
                </a:solidFill>
                <a:latin typeface="Noto Sans CJK TC"/>
              </a:rPr>
              <a:t>● </a:t>
            </a:r>
            <a:r>
              <a:rPr sz="1000" b="1">
                <a:solidFill>
                  <a:srgbClr val="FFFFFF"/>
                </a:solidFill>
                <a:latin typeface="Noto Sans CJK TC"/>
              </a:rPr>
              <a:t>版本功能驗證： </a:t>
            </a:r>
            <a:r>
              <a:rPr sz="950">
                <a:solidFill>
                  <a:srgbClr val="BEC3CD"/>
                </a:solidFill>
                <a:latin typeface="Noto Sans CJK TC"/>
              </a:rPr>
              <a:t>執行 ./k6 version 確認已成功封裝目標協定模組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34232" y="7500937"/>
            <a:ext cx="4335720" cy="357187"/>
          </a:xfrm>
          <a:prstGeom prst="roundRect">
            <a:avLst/>
          </a:prstGeom>
          <a:solidFill>
            <a:srgbClr val="141E2C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6FCF1"/>
                </a:solidFill>
                <a:latin typeface="Noto Sans CJK TC"/>
              </a:rPr>
              <a:t>▶ 配套演示腳本收錄於 k6/demos/ 目錄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472558" y="8751093"/>
            <a:ext cx="6025116" cy="28575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94511" rIns="94511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Noto Sans CJK TC"/>
              </a:rPr>
              <a:t>▶ 課程實戰 Codelabs：</a:t>
            </a:r>
            <a:r>
              <a:rPr sz="850">
                <a:solidFill>
                  <a:srgbClr val="66FCF1"/>
                </a:solidFill>
                <a:latin typeface="Noto Sans Mono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