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7" r:id="rId18"/>
    <p:sldId id="268" r:id="rId20"/>
    <p:sldId id="263" r:id="rId14"/>
    <p:sldId id="264" r:id="rId15"/>
    <p:sldId id="265" r:id="rId16"/>
    <p:sldId id="266" r:id="rId17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25400">
              <a:solidFill>
                <a:srgbClr val="66FCF1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0.5</c:v>
                </c:pt>
                <c:pt idx="1">
                  <c:v>1.3</c:v>
                </c:pt>
                <c:pt idx="2">
                  <c:v>2.1</c:v>
                </c:pt>
                <c:pt idx="3">
                  <c:v>2.9000000000000004</c:v>
                </c:pt>
                <c:pt idx="4">
                  <c:v>3.7</c:v>
                </c:pt>
                <c:pt idx="5">
                  <c:v>4.5</c:v>
                </c:pt>
                <c:pt idx="6">
                  <c:v>5.300000000000001</c:v>
                </c:pt>
                <c:pt idx="7">
                  <c:v>6.1000000000000005</c:v>
                </c:pt>
                <c:pt idx="8">
                  <c:v>6.9</c:v>
                </c:pt>
                <c:pt idx="9">
                  <c:v>7.7</c:v>
                </c:pt>
                <c:pt idx="10">
                  <c:v>8.5</c:v>
                </c:pt>
                <c:pt idx="11">
                  <c:v>9.3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RPS</c:v>
                </c:pt>
              </c:strCache>
            </c:strRef>
          </c:tx>
          <c:spPr>
            <a:ln w="25400">
              <a:solidFill>
                <a:srgbClr val="BB86FC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0.2</c:v>
                </c:pt>
                <c:pt idx="1">
                  <c:v>1.0</c:v>
                </c:pt>
                <c:pt idx="2">
                  <c:v>1.8</c:v>
                </c:pt>
                <c:pt idx="3">
                  <c:v>2.6000000000000005</c:v>
                </c:pt>
                <c:pt idx="4">
                  <c:v>3.4000000000000004</c:v>
                </c:pt>
                <c:pt idx="5">
                  <c:v>4.2</c:v>
                </c:pt>
                <c:pt idx="6">
                  <c:v>5.000000000000001</c:v>
                </c:pt>
                <c:pt idx="7">
                  <c:v>5.800000000000001</c:v>
                </c:pt>
                <c:pt idx="8">
                  <c:v>6.6000000000000005</c:v>
                </c:pt>
                <c:pt idx="9">
                  <c:v>7.4</c:v>
                </c:pt>
                <c:pt idx="10">
                  <c:v>8.2</c:v>
                </c:pt>
                <c:pt idx="11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1.6</c:v>
                </c:pt>
                <c:pt idx="1">
                  <c:v>1.6</c:v>
                </c:pt>
                <c:pt idx="2">
                  <c:v>1.6</c:v>
                </c:pt>
                <c:pt idx="3">
                  <c:v>1.6</c:v>
                </c:pt>
                <c:pt idx="4">
                  <c:v>1.6</c:v>
                </c:pt>
                <c:pt idx="5">
                  <c:v>1.6</c:v>
                </c:pt>
                <c:pt idx="6">
                  <c:v>1.6</c:v>
                </c:pt>
                <c:pt idx="7">
                  <c:v>1.6</c:v>
                </c:pt>
                <c:pt idx="8">
                  <c:v>1.6</c:v>
                </c:pt>
                <c:pt idx="9">
                  <c:v>1.6</c:v>
                </c:pt>
                <c:pt idx="10">
                  <c:v>1.6</c:v>
                </c:pt>
                <c:pt idx="11">
                  <c:v>1.6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25400">
              <a:solidFill>
                <a:srgbClr val="66FCF1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0.5</c:v>
                </c:pt>
                <c:pt idx="1">
                  <c:v>1.3</c:v>
                </c:pt>
                <c:pt idx="2">
                  <c:v>2.1</c:v>
                </c:pt>
                <c:pt idx="3">
                  <c:v>2.9000000000000004</c:v>
                </c:pt>
                <c:pt idx="4">
                  <c:v>3.7</c:v>
                </c:pt>
                <c:pt idx="5">
                  <c:v>4.5</c:v>
                </c:pt>
                <c:pt idx="6">
                  <c:v>5.300000000000001</c:v>
                </c:pt>
                <c:pt idx="7">
                  <c:v>6.1000000000000005</c:v>
                </c:pt>
                <c:pt idx="8">
                  <c:v>6.9</c:v>
                </c:pt>
                <c:pt idx="9">
                  <c:v>7.7</c:v>
                </c:pt>
                <c:pt idx="10">
                  <c:v>8.5</c:v>
                </c:pt>
                <c:pt idx="11">
                  <c:v>9.3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RPS</c:v>
                </c:pt>
              </c:strCache>
            </c:strRef>
          </c:tx>
          <c:spPr>
            <a:ln w="25400">
              <a:solidFill>
                <a:srgbClr val="BB86FC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0.2</c:v>
                </c:pt>
                <c:pt idx="1">
                  <c:v>1.0</c:v>
                </c:pt>
                <c:pt idx="2">
                  <c:v>1.8</c:v>
                </c:pt>
                <c:pt idx="3">
                  <c:v>2.6000000000000005</c:v>
                </c:pt>
                <c:pt idx="4">
                  <c:v>3.4000000000000004</c:v>
                </c:pt>
                <c:pt idx="5">
                  <c:v>4.2</c:v>
                </c:pt>
                <c:pt idx="6">
                  <c:v>5.000000000000001</c:v>
                </c:pt>
                <c:pt idx="7">
                  <c:v>5.8</c:v>
                </c:pt>
                <c:pt idx="8">
                  <c:v>5.8</c:v>
                </c:pt>
                <c:pt idx="9">
                  <c:v>5.8</c:v>
                </c:pt>
                <c:pt idx="10">
                  <c:v>5.8</c:v>
                </c:pt>
                <c:pt idx="11">
                  <c:v>5.8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1.6</c:v>
                </c:pt>
                <c:pt idx="1">
                  <c:v>1.6</c:v>
                </c:pt>
                <c:pt idx="2">
                  <c:v>1.6</c:v>
                </c:pt>
                <c:pt idx="3">
                  <c:v>1.6</c:v>
                </c:pt>
                <c:pt idx="4">
                  <c:v>1.6</c:v>
                </c:pt>
                <c:pt idx="5">
                  <c:v>1.6</c:v>
                </c:pt>
                <c:pt idx="6">
                  <c:v>1.6</c:v>
                </c:pt>
                <c:pt idx="7">
                  <c:v>2.6</c:v>
                </c:pt>
                <c:pt idx="8">
                  <c:v>3.8</c:v>
                </c:pt>
                <c:pt idx="9">
                  <c:v>5.0</c:v>
                </c:pt>
                <c:pt idx="10">
                  <c:v>6.2</c:v>
                </c:pt>
                <c:pt idx="11">
                  <c:v>7.4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RPS</c:v>
                </c:pt>
              </c:strCache>
            </c:strRef>
          </c:tx>
          <c:spPr>
            <a:ln w="25400">
              <a:solidFill>
                <a:srgbClr val="BB86FC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0.4</c:v>
                </c:pt>
                <c:pt idx="1">
                  <c:v>1.2000000000000002</c:v>
                </c:pt>
                <c:pt idx="2">
                  <c:v>2.0</c:v>
                </c:pt>
                <c:pt idx="3">
                  <c:v>2.8000000000000003</c:v>
                </c:pt>
                <c:pt idx="4">
                  <c:v>3.6</c:v>
                </c:pt>
                <c:pt idx="5">
                  <c:v>4.4</c:v>
                </c:pt>
                <c:pt idx="6">
                  <c:v>5.200000000000001</c:v>
                </c:pt>
                <c:pt idx="7">
                  <c:v>4.0</c:v>
                </c:pt>
                <c:pt idx="8">
                  <c:v>3.2</c:v>
                </c:pt>
                <c:pt idx="9">
                  <c:v>2.8</c:v>
                </c:pt>
                <c:pt idx="10">
                  <c:v>2.6</c:v>
                </c:pt>
                <c:pt idx="11">
                  <c:v>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1.6</c:v>
                </c:pt>
                <c:pt idx="1">
                  <c:v>1.6</c:v>
                </c:pt>
                <c:pt idx="2">
                  <c:v>1.6</c:v>
                </c:pt>
                <c:pt idx="3">
                  <c:v>1.6</c:v>
                </c:pt>
                <c:pt idx="4">
                  <c:v>1.6</c:v>
                </c:pt>
                <c:pt idx="5">
                  <c:v>1.6</c:v>
                </c:pt>
                <c:pt idx="6">
                  <c:v>1.6</c:v>
                </c:pt>
                <c:pt idx="7">
                  <c:v>8.5</c:v>
                </c:pt>
                <c:pt idx="8">
                  <c:v>9.4</c:v>
                </c:pt>
                <c:pt idx="9">
                  <c:v>9.6</c:v>
                </c:pt>
                <c:pt idx="10">
                  <c:v>9.7</c:v>
                </c:pt>
                <c:pt idx="11">
                  <c:v>9.7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錯誤率</c:v>
                </c:pt>
              </c:strCache>
            </c:strRef>
          </c:tx>
          <c:spPr>
            <a:ln w="34925">
              <a:solidFill>
                <a:srgbClr val="FF5252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0.1</c:v>
                </c:pt>
                <c:pt idx="6">
                  <c:v>0.1</c:v>
                </c:pt>
                <c:pt idx="7">
                  <c:v>4.5</c:v>
                </c:pt>
                <c:pt idx="8">
                  <c:v>6.5</c:v>
                </c:pt>
                <c:pt idx="9">
                  <c:v>7.0</c:v>
                </c:pt>
                <c:pt idx="10">
                  <c:v>7.2</c:v>
                </c:pt>
                <c:pt idx="11">
                  <c:v>7.3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P90</c:v>
                </c:pt>
              </c:strCache>
            </c:strRef>
          </c:tx>
          <c:spPr>
            <a:ln w="25400">
              <a:solidFill>
                <a:srgbClr val="9AA0A6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1.8</c:v>
                </c:pt>
                <c:pt idx="1">
                  <c:v>1.8</c:v>
                </c:pt>
                <c:pt idx="2">
                  <c:v>1.8</c:v>
                </c:pt>
                <c:pt idx="3">
                  <c:v>1.8</c:v>
                </c:pt>
                <c:pt idx="4">
                  <c:v>1.8</c:v>
                </c:pt>
                <c:pt idx="5">
                  <c:v>1.8</c:v>
                </c:pt>
                <c:pt idx="6">
                  <c:v>1.8</c:v>
                </c:pt>
                <c:pt idx="7">
                  <c:v>1.8</c:v>
                </c:pt>
                <c:pt idx="8">
                  <c:v>1.8</c:v>
                </c:pt>
                <c:pt idx="9">
                  <c:v>1.8</c:v>
                </c:pt>
                <c:pt idx="10">
                  <c:v>1.8</c:v>
                </c:pt>
                <c:pt idx="11">
                  <c:v>1.8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2.6</c:v>
                </c:pt>
                <c:pt idx="1">
                  <c:v>2.65</c:v>
                </c:pt>
                <c:pt idx="2">
                  <c:v>2.7</c:v>
                </c:pt>
                <c:pt idx="3">
                  <c:v>2.75</c:v>
                </c:pt>
                <c:pt idx="4">
                  <c:v>2.8000000000000003</c:v>
                </c:pt>
                <c:pt idx="5">
                  <c:v>2.85</c:v>
                </c:pt>
                <c:pt idx="6">
                  <c:v>2.9000000000000004</c:v>
                </c:pt>
                <c:pt idx="7">
                  <c:v>2.95</c:v>
                </c:pt>
                <c:pt idx="8">
                  <c:v>3.0</c:v>
                </c:pt>
                <c:pt idx="9">
                  <c:v>3.0500000000000003</c:v>
                </c:pt>
                <c:pt idx="10">
                  <c:v>3.1</c:v>
                </c:pt>
                <c:pt idx="11">
                  <c:v>3.1500000000000004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P99</c:v>
                </c:pt>
              </c:strCache>
            </c:strRef>
          </c:tx>
          <c:spPr>
            <a:ln w="34925">
              <a:solidFill>
                <a:srgbClr val="FB8C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3.4</c:v>
                </c:pt>
                <c:pt idx="1">
                  <c:v>3.4</c:v>
                </c:pt>
                <c:pt idx="2">
                  <c:v>3.4</c:v>
                </c:pt>
                <c:pt idx="3">
                  <c:v>3.4</c:v>
                </c:pt>
                <c:pt idx="4">
                  <c:v>3.4</c:v>
                </c:pt>
                <c:pt idx="5">
                  <c:v>4.2</c:v>
                </c:pt>
                <c:pt idx="6">
                  <c:v>5.2</c:v>
                </c:pt>
                <c:pt idx="7">
                  <c:v>6.1</c:v>
                </c:pt>
                <c:pt idx="8">
                  <c:v>7.0</c:v>
                </c:pt>
                <c:pt idx="9">
                  <c:v>7.9</c:v>
                </c:pt>
                <c:pt idx="10">
                  <c:v>8.8</c:v>
                </c:pt>
                <c:pt idx="11">
                  <c:v>9.6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25400">
              <a:solidFill>
                <a:srgbClr val="66FCF1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6.0</c:v>
                </c:pt>
                <c:pt idx="1">
                  <c:v>6.0</c:v>
                </c:pt>
                <c:pt idx="2">
                  <c:v>6.0</c:v>
                </c:pt>
                <c:pt idx="3">
                  <c:v>6.0</c:v>
                </c:pt>
                <c:pt idx="4">
                  <c:v>6.0</c:v>
                </c:pt>
                <c:pt idx="5">
                  <c:v>6.0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6.0</c:v>
                </c:pt>
                <c:pt idx="10">
                  <c:v>6.0</c:v>
                </c:pt>
                <c:pt idx="11">
                  <c:v>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1.6</c:v>
                </c:pt>
                <c:pt idx="1">
                  <c:v>1.7</c:v>
                </c:pt>
                <c:pt idx="2">
                  <c:v>1.9</c:v>
                </c:pt>
                <c:pt idx="3">
                  <c:v>2.1</c:v>
                </c:pt>
                <c:pt idx="4">
                  <c:v>2.4</c:v>
                </c:pt>
                <c:pt idx="5">
                  <c:v>2.8</c:v>
                </c:pt>
                <c:pt idx="6">
                  <c:v>3.2</c:v>
                </c:pt>
                <c:pt idx="7">
                  <c:v>3.7</c:v>
                </c:pt>
                <c:pt idx="8">
                  <c:v>4.2</c:v>
                </c:pt>
                <c:pt idx="9">
                  <c:v>4.8</c:v>
                </c:pt>
                <c:pt idx="10">
                  <c:v>5.4</c:v>
                </c:pt>
                <c:pt idx="11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25400">
              <a:solidFill>
                <a:srgbClr val="66FCF1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6.0</c:v>
                </c:pt>
                <c:pt idx="1">
                  <c:v>6.0</c:v>
                </c:pt>
                <c:pt idx="2">
                  <c:v>6.0</c:v>
                </c:pt>
                <c:pt idx="3">
                  <c:v>6.0</c:v>
                </c:pt>
                <c:pt idx="4">
                  <c:v>6.0</c:v>
                </c:pt>
                <c:pt idx="5">
                  <c:v>6.0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6.0</c:v>
                </c:pt>
                <c:pt idx="10">
                  <c:v>6.0</c:v>
                </c:pt>
                <c:pt idx="11">
                  <c:v>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1.6</c:v>
                </c:pt>
                <c:pt idx="1">
                  <c:v>1.6</c:v>
                </c:pt>
                <c:pt idx="2">
                  <c:v>7.0</c:v>
                </c:pt>
                <c:pt idx="3">
                  <c:v>1.6</c:v>
                </c:pt>
                <c:pt idx="4">
                  <c:v>1.6</c:v>
                </c:pt>
                <c:pt idx="5">
                  <c:v>7.2</c:v>
                </c:pt>
                <c:pt idx="6">
                  <c:v>1.6</c:v>
                </c:pt>
                <c:pt idx="7">
                  <c:v>1.6</c:v>
                </c:pt>
                <c:pt idx="8">
                  <c:v>7.0</c:v>
                </c:pt>
                <c:pt idx="9">
                  <c:v>1.6</c:v>
                </c:pt>
                <c:pt idx="10">
                  <c:v>1.6</c:v>
                </c:pt>
                <c:pt idx="11">
                  <c:v>7.1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種型態：① 健康線性 ② 飽和平台（RPS 走平＋P95 爬升，拐點即容量）③ 崩潰懸崖（P95 與錯誤率同時暴衝、RPS 下降）④ 尾巴張開（只有 P99 發散）⑤ 緩慢爬坡（負載不變延遲上升＝洩漏）⑥ 週期鋸齒（排程、GC、TTL）。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判讀 4 步驟：確認壓力打出去 → 找拐點 → Timings 定位哪一段 → Grafana 十字準星對齊後端。陷阱：Overview 數字卡是 avg；P95 不能再取平均，要用 native histogram；RPS 走平但後端很閒要懷疑壓測機。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anhua.wang/grafana-xk6" TargetMode="External"/><Relationship Id="rId4" Type="http://schemas.openxmlformats.org/officeDocument/2006/relationships/hyperlink" Target="https://tedmax100.github.io/o11y_lab_for_dummies/k6-performance-testin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anhua.wang/grafana-xk6" TargetMode="External"/><Relationship Id="rId4" Type="http://schemas.openxmlformats.org/officeDocument/2006/relationships/hyperlink" Target="https://ganhua.wang/grafana-k6-browser" TargetMode="External"/><Relationship Id="rId5" Type="http://schemas.openxmlformats.org/officeDocument/2006/relationships/hyperlink" Target="https://ganhua.wang/getting-started-with-grafana-k6-hands-on-practice" TargetMode="External"/><Relationship Id="rId6" Type="http://schemas.openxmlformats.org/officeDocument/2006/relationships/hyperlink" Target="https://tedmax100.github.io/o11y_lab_for_dummies/k6-performance-testing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tedmax100/o11y_lab_for_dummies/tree/main/k6/demos" TargetMode="External"/><Relationship Id="rId4" Type="http://schemas.openxmlformats.org/officeDocument/2006/relationships/hyperlink" Target="https://tedmax100.github.io/o11y_lab_for_dummies/k6-performance-testing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Relationship Id="rId6" Type="http://schemas.openxmlformats.org/officeDocument/2006/relationships/chart" Target="../charts/chart4.xml"/><Relationship Id="rId7" Type="http://schemas.openxmlformats.org/officeDocument/2006/relationships/chart" Target="../charts/chart5.xml"/><Relationship Id="rId8" Type="http://schemas.openxmlformats.org/officeDocument/2006/relationships/chart" Target="../charts/chart6.xml"/><Relationship Id="rId9" Type="http://schemas.openxmlformats.org/officeDocument/2006/relationships/hyperlink" Target="https://tedmax100.github.io/o11y_lab_for_dummies/k6-performance-testing/" TargetMode="External"/><Relationship Id="rId10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590697" y="5655468"/>
            <a:ext cx="3307906" cy="2559843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8C5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5395" rIns="165395" tIns="142875" bIns="142875"/>
          <a:lstStyle/>
          <a:p>
            <a:pPr algn="ctr">
              <a:spcAft>
                <a:spcPts val="500"/>
              </a:spcAft>
            </a:pPr>
            <a:r>
              <a:rPr sz="1050" b="1">
                <a:solidFill>
                  <a:srgbClr val="BB86FC"/>
                </a:solidFill>
                <a:latin typeface="Noto Sans CJK TC"/>
              </a:rPr>
              <a:t>▶ 講師深度實戰專欄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Noto Sans CJK TC"/>
              </a:rPr>
              <a:t>Grafana xk6: 手把手從開發到編譯出 k6 插件</a:t>
            </a:r>
          </a:p>
          <a:p>
            <a:pPr>
              <a:spcAft>
                <a:spcPts val="800"/>
              </a:spcAft>
            </a:pPr>
            <a:r>
              <a:rPr sz="950">
                <a:solidFill>
                  <a:srgbClr val="C3C8D2"/>
                </a:solidFill>
                <a:latin typeface="Noto Sans CJK TC"/>
              </a:rPr>
              <a:t>• Web3 OTP 動態金鑰簽名插件
• RootModule / ModuleInstance 解密
• 突破原生極限支援私有協定</a:t>
            </a:r>
          </a:p>
          <a:p>
            <a:r>
              <a:rPr sz="950" b="1">
                <a:solidFill>
                  <a:srgbClr val="66FCF1"/>
                </a:solidFill>
                <a:latin typeface="Noto Sans Mono CJK TC"/>
              </a:rPr>
              <a:t>▶ 閱讀專欄：ganhua.wang/grafana-xk6</a:t>
            </a:r>
          </a:p>
        </p:txBody>
      </p:sp>
      <p:sp>
        <p:nvSpPr>
          <p:cNvPr id="4" name="Rounded Rectangle 3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5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企業導入實作 Checklist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(Takeaway)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將 k6 測試代碼化、SLO 門禁自動化與全鏈路可觀測性深植於團隊日常研發流程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488281"/>
            <a:ext cx="14826511" cy="1964531"/>
          </a:xfrm>
          <a:prstGeom prst="roundRect">
            <a:avLst/>
          </a:prstGeom>
          <a:solidFill>
            <a:srgbClr val="12202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66FCF1"/>
                </a:solidFill>
                <a:latin typeface="Noto Sans CJK TC"/>
              </a:rPr>
              <a:t>▶ 本地開發與團隊協作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腳本即時調優：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壓測腳本開發與本地微調時，養成啟用 K6_WEB_DASHBOARD=true 即時觀測延遲與錯誤率變化的習慣。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跨部門溝通基準：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交付團隊評估效能時，統一匯出 HTML Report 獨立報表作為跨部門對齊的效能基準線 (Baseline)。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3631406"/>
            <a:ext cx="14826511" cy="1964531"/>
          </a:xfrm>
          <a:prstGeom prst="roundRect">
            <a:avLst/>
          </a:prstGeom>
          <a:solidFill>
            <a:srgbClr val="241C14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FFAB00"/>
                </a:solidFill>
                <a:latin typeface="Noto Sans CJK TC"/>
              </a:rPr>
              <a:t>▶ CI/CD 流水線整合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無人值守乾淨退場：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於自動化 CI 流水線中，嚴格配置 K6_WEB_DASHBOARD_PORT=-1 確保容器產出報表後正常退出。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客製化 Runner 映像檔：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透過 xk6 搭配 Docker 確定性編譯，發布團隊專屬之 Custom k6 Runner 容器映像檔於 CI 倉庫。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8837" y="5774531"/>
            <a:ext cx="14826511" cy="2381250"/>
          </a:xfrm>
          <a:prstGeom prst="roundRect">
            <a:avLst/>
          </a:prstGeom>
          <a:solidFill>
            <a:srgbClr val="1A1626"/>
          </a:solidFill>
          <a:ln w="1905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BB86FC"/>
                </a:solidFill>
                <a:latin typeface="Noto Sans CJK TC"/>
              </a:rPr>
              <a:t>▶ 進階擴充與全域遙測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底層中間件協定擴充：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評估微服務架構需求，透過 xk6 掛載 xk6-kafka / xk6-redis / xk6-sql 等底層中間件原生連線。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時序數據串流對齊：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啟用 Prometheus Remote Write，將壓測指標帶上 Git Commit Tag 即時推入 Prometheus / InfluxDB。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雙十字準星秒級定位：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於 Grafana 建立共享十字準星儀表板，將 k6 延遲與 K8s Pod CPU 限流 (CFS Throttling) 精準上下對齊。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8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推薦延伸閱讀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(Author's Deep-Dive Articles)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講師親撰之 k6 系列技術專欄 — 深入外掛生態系開發、前端真實體驗混合壓測與微服務全鏈路可觀測性閉環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547812"/>
            <a:ext cx="4666511" cy="6012656"/>
          </a:xfrm>
          <a:prstGeom prst="roundRect">
            <a:avLst/>
          </a:prstGeom>
          <a:solidFill>
            <a:srgbClr val="191626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B86FC"/>
                </a:solidFill>
                <a:latin typeface="Noto Sans CJK TC"/>
              </a:rPr>
              <a:t>● xk6 模組擴充 (Go Extension)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Grafana xk6: 手把手從開發到編譯插件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核心：Go-to-JS Bridge 與動態密碼插件實戰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Go-to-JS Bridge 架構：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深度解析 RootModule、ModuleInstance 與 modules.Register 註冊機制，掌握 Go 結構體映射至 JS 類別的核心原理。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Web3 OTP 實戰案例：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以動態身份驗證為例，親手實作 k6/x/otp 擴充套件，在百萬併發壓測中動態生成一次性金鑰密碼與簽名。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Docker 確定性編譯：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使用 grafana/xk6 官方容器抹平各 OS 開發環境依賴，在零配置前提下一鍵編譯出團隊專屬客製化 k6 二進位檔。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89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ganhua.wang/grafana-xk6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88837" y="1547812"/>
            <a:ext cx="4666511" cy="6012656"/>
          </a:xfrm>
          <a:prstGeom prst="roundRect">
            <a:avLst/>
          </a:prstGeom>
          <a:solidFill>
            <a:srgbClr val="101C2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0E676"/>
                </a:solidFill>
                <a:latin typeface="Noto Sans CJK TC"/>
              </a:rPr>
              <a:t>● 前端混壓測試 (k6-browser)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Grafana k6 瀏覽器測試實戰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核心：Playwright 相容與 Core Web Vitals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Playwright 相容生態：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全面採用 chromium.launch()、page.goto() 與語意化 Locator，前端工程師無需轉換思維即可上手。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BrowserContext 隔離：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在單一瀏覽器處理程序中實現多用戶完全獨立的 Session、Cookie 與 LocalStorage，大幅降低記憶體開銷。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電商全流程自動化：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以 OpenTelemetry Demo 購物車為例，完整模擬加購物車與結帳，採集真實 Web Vitals 並自動截圖保存錯誤現場。</a:t>
            </a:r>
          </a:p>
        </p:txBody>
      </p:sp>
      <p:sp>
        <p:nvSpPr>
          <p:cNvPr id="7" name="Rounded Rectangle 6">
            <a:hlinkClick r:id="rId4"/>
          </p:cNvPr>
          <p:cNvSpPr/>
          <p:nvPr/>
        </p:nvSpPr>
        <p:spPr>
          <a:xfrm>
            <a:off x="597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ganhua.wang/grafana-k6-browser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8837" y="1547812"/>
            <a:ext cx="4666511" cy="6012656"/>
          </a:xfrm>
          <a:prstGeom prst="roundRect">
            <a:avLst/>
          </a:prstGeom>
          <a:solidFill>
            <a:srgbClr val="201A12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AB00"/>
                </a:solidFill>
                <a:latin typeface="Noto Sans CJK TC"/>
              </a:rPr>
              <a:t>● 全鏈路閉環 (Observability)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Getting Started with Grafana k6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核心：OpenTelemetry 串流與 GitLab CI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語意化測試組織：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運用 k6/http、check 與 group 模組化封裝業務邏輯，產出結構清晰且具備業務意義的階層化壓測報表。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OTel 串流全面整合：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直連 OpenTelemetry Collector，將客戶端壓測指標與後端分散式 Traces、Logs 進行跨維度時間軸對齊。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GitLab CI 自動化門禁：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將 k6 壓測無縫嵌入 CI/CD 流水線，以 Exit Code 99 自動攔截效能退化代碼，守護生產主幹穩定。</a:t>
            </a:r>
          </a:p>
        </p:txBody>
      </p:sp>
      <p:sp>
        <p:nvSpPr>
          <p:cNvPr id="9" name="Rounded Rectangle 8">
            <a:hlinkClick r:id="rId5"/>
          </p:cNvPr>
          <p:cNvSpPr/>
          <p:nvPr/>
        </p:nvSpPr>
        <p:spPr>
          <a:xfrm>
            <a:off x="1105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ganhua.wang/getting-started-with-grafana-k6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837" y="7715250"/>
            <a:ext cx="14826511" cy="571500"/>
          </a:xfrm>
          <a:prstGeom prst="roundRect">
            <a:avLst/>
          </a:prstGeom>
          <a:solidFill>
            <a:srgbClr val="141C2A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5395" rIns="165395"/>
          <a:lstStyle/>
          <a:p>
            <a:pPr algn="l"/>
            <a:r>
              <a:rPr sz="1000" b="1">
                <a:solidFill>
                  <a:srgbClr val="FFD700"/>
                </a:solidFill>
                <a:latin typeface="Noto Sans CJK TC"/>
              </a:rPr>
              <a:t>💡 學習價值： </a:t>
            </a:r>
            <a:r>
              <a:rPr sz="950">
                <a:solidFill>
                  <a:srgbClr val="DCE1EB"/>
                </a:solidFill>
                <a:latin typeface="Noto Sans CJK TC"/>
              </a:rPr>
              <a:t>本課程奠定企業級效能工程體系，專欄文章則引領大家攻克真實業務中的前沿自訂挑戰，推薦課後務必搭配精讀！</a:t>
            </a:r>
          </a:p>
        </p:txBody>
      </p:sp>
      <p:sp>
        <p:nvSpPr>
          <p:cNvPr id="11" name="Rounded Rectangle 10">
            <a:hlinkClick r:id="rId6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12" name="Codelabs_Link_Badge">
            <a:hlinkClick r:id="rId6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隨堂練習指引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(Hands-on Practice)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請依序完成三大實戰任務，體驗原生儀表板、CI/CD 離線報告匯出與 Docker 確定性編譯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488281"/>
            <a:ext cx="4666511" cy="6727031"/>
          </a:xfrm>
          <a:prstGeom prst="roundRect">
            <a:avLst/>
          </a:prstGeom>
          <a:solidFill>
            <a:srgbClr val="101C26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4232" y="1643062"/>
            <a:ext cx="4335720" cy="654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6FCF1"/>
                </a:solidFill>
                <a:latin typeface="Noto Sans CJK TC"/>
              </a:rPr>
              <a:t>任務一：啟動原生 Dashboard</a:t>
            </a:r>
          </a:p>
          <a:p>
            <a:pPr algn="l"/>
            <a:r>
              <a:rPr sz="1050" b="1">
                <a:solidFill>
                  <a:srgbClr val="F0F0F5"/>
                </a:solidFill>
                <a:latin typeface="Noto Sans CJK TC"/>
              </a:rPr>
              <a:t>▶ 執行指令 (Command)：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4232" y="2381250"/>
            <a:ext cx="4335720" cy="1369218"/>
          </a:xfrm>
          <a:prstGeom prst="roundRect">
            <a:avLst/>
          </a:prstGeom>
          <a:solidFill>
            <a:srgbClr val="0A0F16"/>
          </a:solidFill>
          <a:ln w="12700">
            <a:solidFill>
              <a:srgbClr val="32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67" rIns="141767"/>
          <a:lstStyle/>
          <a:p>
            <a:pPr algn="l"/>
            <a:r>
              <a:rPr sz="950" b="1">
                <a:solidFill>
                  <a:srgbClr val="00E676"/>
                </a:solidFill>
                <a:latin typeface="Noto Sans Mono CJK TC"/>
              </a:rPr>
              <a:t>K6_WEB_DASHBOARD=true \
k6 run script.js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232" y="3869531"/>
            <a:ext cx="4335720" cy="273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  <a:latin typeface="Noto Sans CJK TC"/>
              </a:rPr>
              <a:t>▶ 驗證結果 (Verification)：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瀏覽器即時訪問：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打開瀏覽器訪問 http://127.0.0.1:5665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動態曲線觀察：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觀察測試期間即時動態折線圖與 VUs 變化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細部耗時拆解：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檢視各 HTTP 階段細部耗時曲線與門檻進度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874232" y="7500937"/>
            <a:ext cx="4335720" cy="357187"/>
          </a:xfrm>
          <a:prstGeom prst="roundRect">
            <a:avLst/>
          </a:prstGeom>
          <a:solidFill>
            <a:srgbClr val="141E2C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66FCF1"/>
                </a:solidFill>
                <a:latin typeface="Noto Sans CJK TC"/>
              </a:rPr>
              <a:t>▶ 配套演示腳本收錄於 k6/demos/ 目錄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88837" y="1488281"/>
            <a:ext cx="4666511" cy="6727031"/>
          </a:xfrm>
          <a:prstGeom prst="roundRect">
            <a:avLst/>
          </a:prstGeom>
          <a:solidFill>
            <a:srgbClr val="1A1626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54232" y="1643062"/>
            <a:ext cx="4335720" cy="654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B86FC"/>
                </a:solidFill>
                <a:latin typeface="Noto Sans CJK TC"/>
              </a:rPr>
              <a:t>任務二：產出靜態 HTML 報告</a:t>
            </a:r>
          </a:p>
          <a:p>
            <a:pPr algn="l"/>
            <a:r>
              <a:rPr sz="1050" b="1">
                <a:solidFill>
                  <a:srgbClr val="F0F0F5"/>
                </a:solidFill>
                <a:latin typeface="Noto Sans CJK TC"/>
              </a:rPr>
              <a:t>▶ 執行指令 (Command)：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54232" y="2381250"/>
            <a:ext cx="4335720" cy="1369218"/>
          </a:xfrm>
          <a:prstGeom prst="roundRect">
            <a:avLst/>
          </a:prstGeom>
          <a:solidFill>
            <a:srgbClr val="0A0F16"/>
          </a:solidFill>
          <a:ln w="12700">
            <a:solidFill>
              <a:srgbClr val="32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67" rIns="141767"/>
          <a:lstStyle/>
          <a:p>
            <a:pPr algn="l"/>
            <a:r>
              <a:rPr sz="950" b="1">
                <a:solidFill>
                  <a:srgbClr val="00E676"/>
                </a:solidFill>
                <a:latin typeface="Noto Sans Mono CJK TC"/>
              </a:rPr>
              <a:t>K6_WEB_DASHBOARD=true \
K6_WEB_DASHBOARD_PORT=-1 \
K6_WEB_DASHBOARD_EXPORT=report.html \
k6 run script.js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54232" y="3869531"/>
            <a:ext cx="4335720" cy="273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  <a:latin typeface="Noto Sans CJK TC"/>
              </a:rPr>
              <a:t>▶ 驗證結果 (Verification)：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無人值守退出：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Port=-1 確保測試完成後 k6 行程自動乾淨退出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產出靜態資產：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當前目錄自動生成單一檔案 report.html 報表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跨團隊共享：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雙擊檔案即可離線檢視完整互動儀表板與數據</a:t>
            </a:r>
          </a:p>
        </p:txBody>
      </p:sp>
      <p:sp>
        <p:nvSpPr>
          <p:cNvPr id="13" name="Rounded Rectangle 12">
            <a:hlinkClick r:id="rId3"/>
          </p:cNvPr>
          <p:cNvSpPr/>
          <p:nvPr/>
        </p:nvSpPr>
        <p:spPr>
          <a:xfrm>
            <a:off x="5954232" y="7500937"/>
            <a:ext cx="4335720" cy="357187"/>
          </a:xfrm>
          <a:prstGeom prst="roundRect">
            <a:avLst/>
          </a:prstGeom>
          <a:solidFill>
            <a:srgbClr val="141E2C"/>
          </a:solidFill>
          <a:ln w="1270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66FCF1"/>
                </a:solidFill>
                <a:latin typeface="Noto Sans CJK TC"/>
              </a:rPr>
              <a:t>▶ 配套演示腳本收錄於 k6/demos/ 目錄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68837" y="1488281"/>
            <a:ext cx="4666511" cy="6727031"/>
          </a:xfrm>
          <a:prstGeom prst="roundRect">
            <a:avLst/>
          </a:prstGeom>
          <a:solidFill>
            <a:srgbClr val="221A12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34232" y="1643062"/>
            <a:ext cx="4335720" cy="654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AB00"/>
                </a:solidFill>
                <a:latin typeface="Noto Sans CJK TC"/>
              </a:rPr>
              <a:t>任務三：初探 xk6 確定性編譯</a:t>
            </a:r>
          </a:p>
          <a:p>
            <a:pPr algn="l"/>
            <a:r>
              <a:rPr sz="1050" b="1">
                <a:solidFill>
                  <a:srgbClr val="F0F0F5"/>
                </a:solidFill>
                <a:latin typeface="Noto Sans CJK TC"/>
              </a:rPr>
              <a:t>▶ 執行指令 (Command)：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34232" y="2381250"/>
            <a:ext cx="4335720" cy="1369218"/>
          </a:xfrm>
          <a:prstGeom prst="roundRect">
            <a:avLst/>
          </a:prstGeom>
          <a:solidFill>
            <a:srgbClr val="0A0F16"/>
          </a:solidFill>
          <a:ln w="12700">
            <a:solidFill>
              <a:srgbClr val="32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67" rIns="141767"/>
          <a:lstStyle/>
          <a:p>
            <a:pPr algn="l"/>
            <a:r>
              <a:rPr sz="950" b="1">
                <a:solidFill>
                  <a:srgbClr val="00E676"/>
                </a:solidFill>
                <a:latin typeface="Noto Sans Mono CJK TC"/>
              </a:rPr>
              <a:t>docker run --rm -u $(id -u):$(id -g) \
  -v $(pwd):/xk6 grafana/xk6 build latest \
  --with github.com/grafana/xk6-sql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34232" y="3869531"/>
            <a:ext cx="4335720" cy="273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  <a:latin typeface="Noto Sans CJK TC"/>
              </a:rPr>
              <a:t>▶ 驗證結果 (Verification)：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抹平環境差異：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利用 Docker 官方映像消除本地 Go 開發環境依賴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產出自訂引擎：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成功編譯整合 xk6-sql 模組之客製化 k6 執行檔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版本功能驗證：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執行 ./k6 version 確認已成功封裝目標協定模組</a:t>
            </a:r>
          </a:p>
        </p:txBody>
      </p:sp>
      <p:sp>
        <p:nvSpPr>
          <p:cNvPr id="18" name="Rounded Rectangle 17">
            <a:hlinkClick r:id="rId3"/>
          </p:cNvPr>
          <p:cNvSpPr/>
          <p:nvPr/>
        </p:nvSpPr>
        <p:spPr>
          <a:xfrm>
            <a:off x="11034232" y="7500937"/>
            <a:ext cx="4335720" cy="357187"/>
          </a:xfrm>
          <a:prstGeom prst="roundRect">
            <a:avLst/>
          </a:prstGeom>
          <a:solidFill>
            <a:srgbClr val="141E2C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66FCF1"/>
                </a:solidFill>
                <a:latin typeface="Noto Sans CJK TC"/>
              </a:rPr>
              <a:t>▶ 配套演示腳本收錄於 k6/demos/ 目錄</a:t>
            </a:r>
          </a:p>
        </p:txBody>
      </p:sp>
      <p:sp>
        <p:nvSpPr>
          <p:cNvPr id="19" name="Rounded Rectangle 18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20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476250"/>
            <a:ext cx="14838325" cy="595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CJK TC"/>
                <a:ea typeface="Noto Sans CJK TC"/>
              </a:rPr>
              <a:t>看懂儀表板：6 種經典曲線型態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837" y="1047750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400" b="0">
                <a:solidFill>
                  <a:srgbClr val="66FCF1"/>
                </a:solidFill>
                <a:latin typeface="Noto Sans CJK TC"/>
                <a:ea typeface="Noto Sans CJK TC"/>
              </a:rPr>
              <a:t>永遠把「負載軸」（VUs / RPS）和「反應軸」（P95・P99 / 錯誤率）疊在一起看，找出第一個偏離平穩的拐點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1547812"/>
            <a:ext cx="4772837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7860" y="1666875"/>
            <a:ext cx="4394790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</a:rPr>
              <a:t>① 健康線性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26976" y="2024062"/>
          <a:ext cx="4536558" cy="1785937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97860" y="3881437"/>
            <a:ext cx="4394790" cy="104775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VUs 和 RPS 同比例上升，P95 平穩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400" b="1">
                <a:solidFill>
                  <a:srgbClr val="FFFFFF"/>
                </a:solidFill>
                <a:latin typeface="Noto Sans CJK TC"/>
                <a:ea typeface="Noto Sans CJK TC"/>
              </a:rPr>
              <a:t>還有餘裕 → 繼續加壓找上限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41581" y="1547812"/>
            <a:ext cx="4772837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30604" y="1666875"/>
            <a:ext cx="4394790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</a:rPr>
              <a:t>② 飽和平台（拐點）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859720" y="2024062"/>
          <a:ext cx="4536558" cy="1785937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930604" y="3881437"/>
            <a:ext cx="4394790" cy="104775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VUs 還在加，RPS 卻走平；同時 P95 開始爬升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400" b="1">
                <a:solidFill>
                  <a:srgbClr val="FFFFFF"/>
                </a:solidFill>
                <a:latin typeface="Noto Sans CJK TC"/>
                <a:ea typeface="Noto Sans CJK TC"/>
              </a:rPr>
              <a:t>容量上限：拐點當下的 RPS 就是系統容量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774325" y="1547812"/>
            <a:ext cx="4772837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63348" y="1666875"/>
            <a:ext cx="4394790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</a:rPr>
              <a:t>③ 崩潰懸崖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10892465" y="2024062"/>
          <a:ext cx="4536558" cy="1785937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963348" y="3881437"/>
            <a:ext cx="4394790" cy="104775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P95 垂直暴衝、錯誤率同時竄升、RPS 反而下降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400" b="1">
                <a:solidFill>
                  <a:srgbClr val="FFFFFF"/>
                </a:solidFill>
                <a:latin typeface="Noto Sans CJK TC"/>
                <a:ea typeface="Noto Sans CJK TC"/>
              </a:rPr>
              <a:t>佇列溢出、逾時、連線池或執行緒池耗盡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8837" y="5191125"/>
            <a:ext cx="4772837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7860" y="5310187"/>
            <a:ext cx="4394790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</a:rPr>
              <a:t>④ 尾巴張開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826976" y="5667375"/>
          <a:ext cx="4536558" cy="1785937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897860" y="7524750"/>
            <a:ext cx="4394790" cy="104775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P90 / P95 平穩，P99 越拉越開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400" b="1">
                <a:solidFill>
                  <a:srgbClr val="FFFFFF"/>
                </a:solidFill>
                <a:latin typeface="Noto Sans CJK TC"/>
                <a:ea typeface="Noto Sans CJK TC"/>
              </a:rPr>
              <a:t>少數請求受害：GC 停頓、鎖競爭、快取失效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41581" y="5191125"/>
            <a:ext cx="4772837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30604" y="5310187"/>
            <a:ext cx="4394790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</a:rPr>
              <a:t>⑤ 緩慢爬坡（Soak）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5859720" y="5667375"/>
          <a:ext cx="4536558" cy="1785937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5930604" y="7524750"/>
            <a:ext cx="4394790" cy="104775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負載不變，延遲隨時間緩慢上升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400" b="1">
                <a:solidFill>
                  <a:srgbClr val="FFFFFF"/>
                </a:solidFill>
                <a:latin typeface="Noto Sans CJK TC"/>
                <a:ea typeface="Noto Sans CJK TC"/>
              </a:rPr>
              <a:t>資源洩漏：記憶體、連線、檔案描述符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774325" y="5191125"/>
            <a:ext cx="4772837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63348" y="5310187"/>
            <a:ext cx="4394790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</a:rPr>
              <a:t>⑥ 週期鋸齒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10892465" y="5667375"/>
          <a:ext cx="4536558" cy="1785937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0963348" y="7524750"/>
            <a:ext cx="4394790" cy="104775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固定間隔出現尖峰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400" b="1">
                <a:solidFill>
                  <a:srgbClr val="FFFFFF"/>
                </a:solidFill>
                <a:latin typeface="Noto Sans CJK TC"/>
                <a:ea typeface="Noto Sans CJK TC"/>
              </a:rPr>
              <a:t>排程任務、GC 週期、快取 TTL 同時到期、自動擴縮</a:t>
            </a:r>
          </a:p>
        </p:txBody>
      </p:sp>
      <p:sp>
        <p:nvSpPr>
          <p:cNvPr id="4" name="Codelabs_Link_Badge">
            <a:hlinkClick r:id="rId9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  <p:sp>
        <p:nvSpPr>
          <p:cNvPr id="29" name="MetricReading_Marker"/>
          <p:cNvSpPr txBox="1"/>
          <p:nvPr/>
        </p:nvSpPr>
        <p:spPr>
          <a:xfrm>
            <a:off x="0" y="0"/>
            <a:ext cx="1" cy="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476250"/>
            <a:ext cx="14838325" cy="595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CJK TC"/>
                <a:ea typeface="Noto Sans CJK TC"/>
              </a:rPr>
              <a:t>儀表板判讀 4 步驟 SOP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837" y="1047750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400" b="0">
                <a:solidFill>
                  <a:srgbClr val="66FCF1"/>
                </a:solidFill>
                <a:latin typeface="Noto Sans CJK TC"/>
                <a:ea typeface="Noto Sans CJK TC"/>
              </a:rPr>
              <a:t>總結數字只告訴你「P95 = 812ms」，曲線才告訴你「第 35 秒、45 RPS 時開始抬頭」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1595437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5116" y="1785937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0232" y="1762125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確認壓力真的打出去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VUs 與 RPS 符合腳本設計嗎？有沒有 dropped_iterations？流量配比對不對？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837" y="3333750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5116" y="3524250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0232" y="3500437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找出拐點時間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延遲或錯誤率第一次偏離平穩的時間點，記下當下的 VUs 與 RPS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837" y="5072062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5116" y="5262562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0232" y="5238750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定位是哪一段變慢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切到 Timings 分頁：Waiting＝後端運算、Blocked / Connecting＝連線層、Receiving＝Payload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837" y="6810375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5116" y="7000875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90232" y="6977062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對齊後端指標找根因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把拐點時間帶進 Grafana，用共享十字準星對齊 CPU、記憶體、DB 連線池 → 下一頁破案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744" y="1595437"/>
            <a:ext cx="7466418" cy="3119437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7023" y="1738312"/>
            <a:ext cx="6993860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66FCF1"/>
                </a:solidFill>
                <a:latin typeface="Noto Sans CJK TC"/>
                <a:ea typeface="Noto Sans CJK TC"/>
              </a:rPr>
              <a:t>k6 Web Dashboard 分頁地圖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17023" y="2309812"/>
            <a:ext cx="1323162" cy="381000"/>
          </a:xfrm>
          <a:prstGeom prst="roundRect">
            <a:avLst>
              <a:gd name="adj" fmla="val 50000"/>
            </a:avLst>
          </a:prstGeom>
          <a:solidFill>
            <a:srgbClr val="0A1420"/>
          </a:solidFill>
          <a:ln w="1270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BB86FC"/>
                </a:solidFill>
                <a:latin typeface="Noto Sans Mono CJK TC"/>
                <a:ea typeface="Noto Sans Mono CJK TC"/>
              </a:rPr>
              <a:t>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05581" y="2214562"/>
            <a:ext cx="5552558" cy="762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HTTP Performance overview 把 RPS、P95、失敗率疊在同一張圖</a:t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Noto Sans CJK TC"/>
                <a:ea typeface="Noto Sans CJK TC"/>
              </a:rPr>
              <a:t>→ 在什麼負載下開始變慢或出錯？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17023" y="3119437"/>
            <a:ext cx="1323162" cy="381000"/>
          </a:xfrm>
          <a:prstGeom prst="roundRect">
            <a:avLst>
              <a:gd name="adj" fmla="val 50000"/>
            </a:avLst>
          </a:prstGeom>
          <a:solidFill>
            <a:srgbClr val="0A1420"/>
          </a:solidFill>
          <a:ln w="1270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BB86FC"/>
                </a:solidFill>
                <a:latin typeface="Noto Sans Mono CJK TC"/>
                <a:ea typeface="Noto Sans Mono CJK TC"/>
              </a:rPr>
              <a:t>Timings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5581" y="3024187"/>
            <a:ext cx="5552558" cy="762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http_req_duration 的 6 個細分指標各一張圖</a:t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Noto Sans CJK TC"/>
                <a:ea typeface="Noto Sans CJK TC"/>
              </a:rPr>
              <a:t>→ 變慢的是哪一段？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17023" y="3929062"/>
            <a:ext cx="1323162" cy="381000"/>
          </a:xfrm>
          <a:prstGeom prst="roundRect">
            <a:avLst>
              <a:gd name="adj" fmla="val 50000"/>
            </a:avLst>
          </a:prstGeom>
          <a:solidFill>
            <a:srgbClr val="0A1420"/>
          </a:solidFill>
          <a:ln w="1270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BB86FC"/>
                </a:solidFill>
                <a:latin typeface="Noto Sans Mono CJK TC"/>
                <a:ea typeface="Noto Sans Mono CJK TC"/>
              </a:rPr>
              <a:t>Summary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05581" y="3833812"/>
            <a:ext cx="5552558" cy="762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所有指標的結尾統計表</a:t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Noto Sans CJK TC"/>
                <a:ea typeface="Noto Sans CJK TC"/>
              </a:rPr>
              <a:t>→ 等同終端機摘要，套用 5 步驟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744" y="4905375"/>
            <a:ext cx="7466418" cy="3476625"/>
          </a:xfrm>
          <a:prstGeom prst="roundRect">
            <a:avLst>
              <a:gd name="adj" fmla="val 5000"/>
            </a:avLst>
          </a:prstGeom>
          <a:solidFill>
            <a:srgbClr val="1A1626"/>
          </a:solidFill>
          <a:ln w="12700">
            <a:solidFill>
              <a:srgbClr val="5B4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17023" y="5048250"/>
            <a:ext cx="6993860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AB00"/>
                </a:solidFill>
                <a:latin typeface="Noto Sans CJK TC"/>
                <a:ea typeface="Noto Sans CJK TC"/>
              </a:rPr>
              <a:t>⚠ 三個判讀陷阱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7023" y="5500687"/>
            <a:ext cx="7041116" cy="280987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FFAB00"/>
                </a:solidFill>
                <a:latin typeface="Noto Sans CJK TC"/>
                <a:ea typeface="Noto Sans CJK TC"/>
              </a:rPr>
              <a:t>● </a:t>
            </a:r>
            <a:r>
              <a:rPr sz="1450" b="1">
                <a:solidFill>
                  <a:srgbClr val="FFFFFF"/>
                </a:solidFill>
                <a:latin typeface="Noto Sans CJK TC"/>
                <a:ea typeface="Noto Sans CJK TC"/>
              </a:rPr>
              <a:t>Overview 上排數字卡的 HTTP Request Duration 是 avg，不是 P95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D7DEEB"/>
                </a:solidFill>
                <a:latin typeface="Noto Sans CJK TC"/>
                <a:ea typeface="Noto Sans CJK TC"/>
              </a:rPr>
              <a:t>   延遲請看下方 P95 / P99 曲線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FFAB00"/>
                </a:solidFill>
                <a:latin typeface="Noto Sans CJK TC"/>
                <a:ea typeface="Noto Sans CJK TC"/>
              </a:rPr>
              <a:t>● </a:t>
            </a:r>
            <a:r>
              <a:rPr sz="1450" b="1">
                <a:solidFill>
                  <a:srgbClr val="FFFFFF"/>
                </a:solidFill>
                <a:latin typeface="Noto Sans CJK TC"/>
                <a:ea typeface="Noto Sans CJK TC"/>
              </a:rPr>
              <a:t>對 Trend Stats 推送的 k6_http_req_duration_p95 再取 avg()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D7DEEB"/>
                </a:solidFill>
                <a:latin typeface="Noto Sans CJK TC"/>
                <a:ea typeface="Noto Sans CJK TC"/>
              </a:rPr>
              <a:t>   百分位數不能平均！本專案改用 Native Histogram ＋ histogram_quantile()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FFAB00"/>
                </a:solidFill>
                <a:latin typeface="Noto Sans CJK TC"/>
                <a:ea typeface="Noto Sans CJK TC"/>
              </a:rPr>
              <a:t>● </a:t>
            </a:r>
            <a:r>
              <a:rPr sz="1450" b="1">
                <a:solidFill>
                  <a:srgbClr val="FFFFFF"/>
                </a:solidFill>
                <a:latin typeface="Noto Sans CJK TC"/>
                <a:ea typeface="Noto Sans CJK TC"/>
              </a:rPr>
              <a:t>RPS 走平，但後端 CPU 很閒、延遲也沒漲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D7DEEB"/>
                </a:solidFill>
                <a:latin typeface="Noto Sans CJK TC"/>
                <a:ea typeface="Noto Sans CJK TC"/>
              </a:rPr>
              <a:t>   瓶頸可能在壓測機本身：看 k6 主機的 CPU、網卡與 dropped_iterations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